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Lst>
  <p:sldSz cx="12192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1" Type="http://schemas.openxmlformats.org/officeDocument/2006/relationships/oleObject" Target=""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1"/>
        <c:ser>
          <c:idx val="0"/>
          <c:order val="0"/>
          <c:tx>
            <c:strRef>
              <c:f>人均消费金额</c:f>
              <c:strCache>
                <c:ptCount val="1"/>
                <c:pt idx="0">
                  <c:v>人均消费金额</c:v>
                </c:pt>
              </c:strCache>
            </c:strRef>
          </c:tx>
          <c:spPr>
            <a:solidFill>
              <a:srgbClr val="00A6A6"/>
            </a:solidFill>
          </c:spPr>
          <c:invertIfNegative val="0"/>
          <c:dPt>
            <c:idx val="0"/>
            <c:invertIfNegative val="0"/>
            <c:bubble3D val="0"/>
            <c:spPr>
              <a:solidFill>
                <a:srgbClr val="6B7B88"/>
              </a:solidFill>
            </c:spPr>
          </c:dPt>
          <c:dPt>
            <c:idx val="1"/>
            <c:invertIfNegative val="0"/>
            <c:bubble3D val="0"/>
            <c:spPr>
              <a:solidFill>
                <a:srgbClr val="00A6A6"/>
              </a:solidFill>
            </c:spPr>
          </c:dPt>
          <c:dPt>
            <c:idx val="2"/>
            <c:invertIfNegative val="0"/>
            <c:bubble3D val="0"/>
            <c:spPr>
              <a:solidFill>
                <a:srgbClr val="173A5E"/>
              </a:solidFill>
            </c:spPr>
          </c:dPt>
          <c:dLbls>
            <c:numFmt formatCode="General" sourceLinked="1"/>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{"不发邮件","男装邮件","女装邮件"}</c:f>
              <c:strCache>
                <c:ptCount val="3"/>
                <c:pt idx="0">
                  <c:v>不发邮件</c:v>
                </c:pt>
                <c:pt idx="1">
                  <c:v>男装邮件</c:v>
                </c:pt>
                <c:pt idx="2">
                  <c:v>女装邮件</c:v>
                </c:pt>
              </c:strCache>
            </c:strRef>
          </c:cat>
          <c:val>
            <c:numRef>
              <c:f>{0.6527893551,1.422616511,1.077201571}</c:f>
              <c:numCache>
                <c:formatCode>0.000</c:formatCode>
                <c:ptCount val="3"/>
                <c:pt idx="0">
                  <c:v>0.6527893551</c:v>
                </c:pt>
                <c:pt idx="1">
                  <c:v>1.422616511</c:v>
                </c:pt>
                <c:pt idx="2">
                  <c:v>1.077201571</c:v>
                </c:pt>
              </c:numCache>
            </c:numRef>
          </c:val>
        </c:ser>
        <c:dLbls>
          <c:showLegendKey val="0"/>
          <c:showVal val="1"/>
          <c:showCatName val="0"/>
          <c:showSerName val="0"/>
          <c:showPercent val="0"/>
          <c:showBubbleSize val="0"/>
        </c:dLbls>
        <c:gapWidth val="58"/>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E6ECEF"/>
            </a:solidFill>
            <a:prstDash val="solid"/>
            <a:round/>
          </a:ln>
        </c:spPr>
        <c:txPr>
          <a:bodyPr rot="-60000000" spcFirstLastPara="0" vertOverflow="ellipsis" vert="horz" wrap="square" anchor="ctr" anchorCtr="1"/>
          <a:lstStyle/>
          <a:p>
            <a:pPr>
              <a:defRPr lang="zh-CN" sz="1050" b="0" i="0" u="none" strike="noStrike" kern="1200" baseline="0">
                <a:solidFill>
                  <a:srgbClr val="314252"/>
                </a:solidFill>
                <a:latin typeface="+mn-lt"/>
                <a:ea typeface="+mn-ea"/>
                <a:cs typeface="+mn-cs"/>
              </a:defRPr>
            </a:pPr>
          </a:p>
        </c:txPr>
        <c:crossAx val="48672768"/>
        <c:crosses val="autoZero"/>
        <c:auto val="1"/>
        <c:lblAlgn val="ctr"/>
        <c:lblOffset val="100"/>
        <c:noMultiLvlLbl val="0"/>
      </c:catAx>
      <c:valAx>
        <c:axId val="48672768"/>
        <c:scaling>
          <c:orientation val="minMax"/>
          <c:max val="1.6"/>
          <c:min val="0"/>
        </c:scaling>
        <c:delete val="0"/>
        <c:axPos val="l"/>
        <c:majorGridlines>
          <c:spPr>
            <a:ln w="9525">
              <a:solidFill>
                <a:srgbClr val="E6ECEF"/>
              </a:solidFill>
              <a:prstDash val="solid"/>
              <a:round/>
            </a:ln>
          </c:spPr>
        </c:majorGridlines>
        <c:numFmt formatCode="0.000" sourceLinked="1"/>
        <c:majorTickMark val="none"/>
        <c:minorTickMark val="none"/>
        <c:tickLblPos val="nextTo"/>
        <c:spPr>
          <a:ln w="9525">
            <a:solidFill>
              <a:srgbClr val="E6ECEF"/>
            </a:solidFill>
            <a:prstDash val="solid"/>
            <a:round/>
          </a:ln>
        </c:spPr>
        <c:txPr>
          <a:bodyPr rot="-60000000" spcFirstLastPara="0" vertOverflow="ellipsis" vert="horz" wrap="square" anchor="ctr" anchorCtr="1"/>
          <a:lstStyle/>
          <a:p>
            <a:pPr>
              <a:defRPr lang="zh-CN" sz="900" b="0" i="0" u="none" strike="noStrike" kern="1200" baseline="0">
                <a:solidFill>
                  <a:srgbClr val="6B7B88"/>
                </a:solidFill>
                <a:latin typeface="+mn-lt"/>
                <a:ea typeface="+mn-ea"/>
                <a:cs typeface="+mn-cs"/>
              </a:defRPr>
            </a:pPr>
          </a:p>
        </c:txPr>
        <c:crossAx val="48650112"/>
        <c:crosses val="autoZero"/>
        <c:crossBetween val="between"/>
        <c:majorUnit val="0.4"/>
      </c:valAx>
      <c:spPr>
        <a:solidFill>
          <a:srgbClr val="FFFFFF"/>
        </a:solidFill>
        <a:ln w="0">
          <a:noFill/>
          <a:prstDash val="solid"/>
        </a:ln>
      </c:spPr>
    </c:plotArea>
    <c:plotVisOnly val="1"/>
    <c:dispBlanksAs val="gap"/>
    <c:showDLblsOverMax val="0"/>
    <c:extLst>
      <c:ext uri="{0b15fc19-7d7d-44ad-8c2d-2c3a37ce22c3}">
        <chartProps xmlns="https://web.wps.cn/et/2018/main" chartId="{8363ce7c-1859-4257-81bd-89fd6192cfa7}"/>
      </c:ext>
    </c:extLst>
  </c:chart>
  <c:spPr>
    <a:solidFill>
      <a:srgbClr val="FFFFFF"/>
    </a:solidFill>
    <a:ln w="0">
      <a:noFill/>
      <a:prstDash val="solid"/>
    </a:ln>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1"/>
        <c:ser>
          <c:idx val="0"/>
          <c:order val="0"/>
          <c:tx>
            <c:strRef>
              <c:f>增广逆概率加权策略价值</c:f>
              <c:strCache>
                <c:ptCount val="1"/>
                <c:pt idx="0">
                  <c:v>增广逆概率加权策略价值</c:v>
                </c:pt>
              </c:strCache>
            </c:strRef>
          </c:tx>
          <c:spPr>
            <a:solidFill>
              <a:srgbClr val="00A6A6"/>
            </a:solidFill>
          </c:spPr>
          <c:invertIfNegative val="0"/>
          <c:dPt>
            <c:idx val="0"/>
            <c:invertIfNegative val="0"/>
            <c:bubble3D val="0"/>
            <c:spPr>
              <a:solidFill>
                <a:srgbClr val="6B7B88"/>
              </a:solidFill>
            </c:spPr>
          </c:dPt>
          <c:dPt>
            <c:idx val="1"/>
            <c:invertIfNegative val="0"/>
            <c:bubble3D val="0"/>
            <c:spPr>
              <a:solidFill>
                <a:srgbClr val="00A6A6"/>
              </a:solidFill>
            </c:spPr>
          </c:dPt>
          <c:dPt>
            <c:idx val="2"/>
            <c:invertIfNegative val="0"/>
            <c:bubble3D val="0"/>
            <c:spPr>
              <a:solidFill>
                <a:srgbClr val="173A5E"/>
              </a:solidFill>
            </c:spPr>
          </c:dPt>
          <c:dPt>
            <c:idx val="3"/>
            <c:invertIfNegative val="0"/>
            <c:bubble3D val="0"/>
            <c:spPr>
              <a:solidFill>
                <a:srgbClr val="EF6A5B"/>
              </a:solidFill>
            </c:spPr>
          </c:dPt>
          <c:dLbls>
            <c:numFmt formatCode="General" sourceLinked="1"/>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{"全量不发邮件","全量男装邮件","全量女装邮件","个性化双重稳健策略"}</c:f>
              <c:strCache>
                <c:ptCount val="4"/>
                <c:pt idx="0">
                  <c:v>全量不发邮件</c:v>
                </c:pt>
                <c:pt idx="1">
                  <c:v>全量男装邮件</c:v>
                </c:pt>
                <c:pt idx="2">
                  <c:v>全量女装邮件</c:v>
                </c:pt>
                <c:pt idx="3">
                  <c:v>个性化双重稳健策略</c:v>
                </c:pt>
              </c:strCache>
            </c:strRef>
          </c:cat>
          <c:val>
            <c:numRef>
              <c:f>{0.6570620492,1.4248277796,1.075808089,1.3463578305}</c:f>
              <c:numCache>
                <c:formatCode>0.000</c:formatCode>
                <c:ptCount val="4"/>
                <c:pt idx="0">
                  <c:v>0.6570620492</c:v>
                </c:pt>
                <c:pt idx="1">
                  <c:v>1.4248277796</c:v>
                </c:pt>
                <c:pt idx="2">
                  <c:v>1.075808089</c:v>
                </c:pt>
                <c:pt idx="3">
                  <c:v>1.3463578305</c:v>
                </c:pt>
              </c:numCache>
            </c:numRef>
          </c:val>
        </c:ser>
        <c:dLbls>
          <c:showLegendKey val="0"/>
          <c:showVal val="1"/>
          <c:showCatName val="0"/>
          <c:showSerName val="0"/>
          <c:showPercent val="0"/>
          <c:showBubbleSize val="0"/>
        </c:dLbls>
        <c:gapWidth val="48"/>
        <c:axId val="48650112"/>
        <c:axId val="48672768"/>
      </c:barChart>
      <c:catAx>
        <c:axId val="48650112"/>
        <c:scaling>
          <c:orientation val="minMax"/>
        </c:scaling>
        <c:delete val="0"/>
        <c:axPos val="l"/>
        <c:majorGridlines>
          <c:spPr>
            <a:ln w="9525">
              <a:solidFill>
                <a:srgbClr val="E6ECEF"/>
              </a:solidFill>
              <a:prstDash val="solid"/>
              <a:round/>
            </a:ln>
          </c:spPr>
        </c:majorGridlines>
        <c:numFmt formatCode="0.0" sourceLinked="1"/>
        <c:majorTickMark val="none"/>
        <c:minorTickMark val="none"/>
        <c:tickLblPos val="nextTo"/>
        <c:spPr>
          <a:ln w="9525">
            <a:solidFill>
              <a:srgbClr val="E6ECEF"/>
            </a:solidFill>
            <a:prstDash val="solid"/>
            <a:round/>
          </a:ln>
        </c:spPr>
        <c:txPr>
          <a:bodyPr rot="-60000000" spcFirstLastPara="0" vertOverflow="ellipsis" vert="horz" wrap="square" anchor="ctr" anchorCtr="1"/>
          <a:lstStyle/>
          <a:p>
            <a:pPr>
              <a:defRPr lang="zh-CN" sz="900" b="0" i="0" u="none" strike="noStrike" kern="1200" baseline="0">
                <a:solidFill>
                  <a:srgbClr val="6B7B88"/>
                </a:solidFill>
                <a:latin typeface="+mn-lt"/>
                <a:ea typeface="+mn-ea"/>
                <a:cs typeface="+mn-cs"/>
              </a:defRPr>
            </a:pPr>
          </a:p>
        </c:txPr>
        <c:crossAx val="48672768"/>
        <c:crosses val="autoZero"/>
        <c:auto val="1"/>
        <c:lblAlgn val="ctr"/>
        <c:lblOffset val="100"/>
        <c:noMultiLvlLbl val="0"/>
      </c:catAx>
      <c:valAx>
        <c:axId val="48672768"/>
        <c:scaling>
          <c:orientation val="minMax"/>
        </c:scaling>
        <c:delete val="0"/>
        <c:axPos val="b"/>
        <c:numFmt formatCode="0.000" sourceLinked="1"/>
        <c:majorTickMark val="none"/>
        <c:minorTickMark val="none"/>
        <c:tickLblPos val="nextTo"/>
        <c:spPr>
          <a:ln w="0">
            <a:noFill/>
            <a:prstDash val="solid"/>
            <a:round/>
          </a:ln>
        </c:spPr>
        <c:txPr>
          <a:bodyPr rot="-60000000" spcFirstLastPara="0" vertOverflow="ellipsis" vert="horz" wrap="square" anchor="ctr" anchorCtr="1"/>
          <a:lstStyle/>
          <a:p>
            <a:pPr>
              <a:defRPr lang="zh-CN" sz="1050" b="0" i="0" u="none" strike="noStrike" kern="1200" baseline="0">
                <a:solidFill>
                  <a:srgbClr val="314252"/>
                </a:solidFill>
                <a:latin typeface="+mn-lt"/>
                <a:ea typeface="+mn-ea"/>
                <a:cs typeface="+mn-cs"/>
              </a:defRPr>
            </a:pPr>
          </a:p>
        </c:txPr>
        <c:crossAx val="48650112"/>
        <c:crosses val="autoZero"/>
        <c:crossBetween val="between"/>
      </c:valAx>
      <c:spPr>
        <a:solidFill>
          <a:srgbClr val="FFFFFF"/>
        </a:solidFill>
        <a:ln w="0">
          <a:noFill/>
          <a:prstDash val="solid"/>
        </a:ln>
      </c:spPr>
    </c:plotArea>
    <c:plotVisOnly val="1"/>
    <c:dispBlanksAs val="gap"/>
    <c:showDLblsOverMax val="0"/>
    <c:extLst>
      <c:ext uri="{0b15fc19-7d7d-44ad-8c2d-2c3a37ce22c3}">
        <chartProps xmlns="https://web.wps.cn/et/2018/main" chartId="{bf209b64-276c-4b40-a0d0-b9aeed7b6f9d}"/>
      </c:ext>
    </c:extLst>
  </c:chart>
  <c:spPr>
    <a:solidFill>
      <a:srgbClr val="FFFFFF"/>
    </a:solidFill>
    <a:ln w="0">
      <a:noFill/>
      <a:prstDash val="solid"/>
    </a:ln>
  </c:spPr>
  <c:txPr>
    <a:bodyPr/>
    <a:lstStyle/>
    <a:p>
      <a:pPr>
        <a:defRPr lang="zh-CN"/>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全量不发邮件</c:f>
              <c:strCache>
                <c:ptCount val="1"/>
                <c:pt idx="0">
                  <c:v>全量不发邮件</c:v>
                </c:pt>
              </c:strCache>
            </c:strRef>
          </c:tx>
          <c:spPr>
            <a:ln w="28575" cap="rnd">
              <a:solidFill>
                <a:srgbClr val="6B7B88"/>
              </a:solidFill>
              <a:prstDash val="solid"/>
              <a:round/>
            </a:ln>
          </c:spPr>
          <c:marker>
            <c:symbol val="circle"/>
            <c:size val="6"/>
            <c:spPr>
              <a:solidFill>
                <a:srgbClr val="6B7B88"/>
              </a:solidFill>
            </c:spPr>
          </c:marker>
          <c:dLbls>
            <c:delete val="1"/>
          </c:dLbls>
          <c:cat>
            <c:numRef>
              <c:f>{0,0.05,0.1,0.25,0.5,1}</c:f>
              <c:numCache>
                <c:formatCode>General</c:formatCode>
                <c:ptCount val="6"/>
                <c:pt idx="0">
                  <c:v>0</c:v>
                </c:pt>
                <c:pt idx="1">
                  <c:v>0.05</c:v>
                </c:pt>
                <c:pt idx="2">
                  <c:v>0.1</c:v>
                </c:pt>
                <c:pt idx="3">
                  <c:v>0.25</c:v>
                </c:pt>
                <c:pt idx="4">
                  <c:v>0.5</c:v>
                </c:pt>
                <c:pt idx="5">
                  <c:v>1</c:v>
                </c:pt>
              </c:numCache>
            </c:numRef>
          </c:cat>
          <c:val>
            <c:numRef>
              <c:f>{0.657062,0.657062,0.657062,0.657062,0.657062,0.657062}</c:f>
              <c:numCache>
                <c:formatCode>0.0</c:formatCode>
                <c:ptCount val="6"/>
                <c:pt idx="0">
                  <c:v>0.657062</c:v>
                </c:pt>
                <c:pt idx="1">
                  <c:v>0.657062</c:v>
                </c:pt>
                <c:pt idx="2">
                  <c:v>0.657062</c:v>
                </c:pt>
                <c:pt idx="3">
                  <c:v>0.657062</c:v>
                </c:pt>
                <c:pt idx="4">
                  <c:v>0.657062</c:v>
                </c:pt>
                <c:pt idx="5">
                  <c:v>0.657062</c:v>
                </c:pt>
              </c:numCache>
            </c:numRef>
          </c:val>
          <c:smooth val="0"/>
        </c:ser>
        <c:ser>
          <c:idx val="1"/>
          <c:order val="1"/>
          <c:tx>
            <c:strRef>
              <c:f>全量男装邮件</c:f>
              <c:strCache>
                <c:ptCount val="1"/>
                <c:pt idx="0">
                  <c:v>全量男装邮件</c:v>
                </c:pt>
              </c:strCache>
            </c:strRef>
          </c:tx>
          <c:spPr>
            <a:ln w="38100" cap="rnd">
              <a:solidFill>
                <a:srgbClr val="00A6A6"/>
              </a:solidFill>
              <a:prstDash val="solid"/>
              <a:round/>
            </a:ln>
          </c:spPr>
          <c:marker>
            <c:symbol val="circle"/>
            <c:size val="7"/>
            <c:spPr>
              <a:solidFill>
                <a:srgbClr val="00A6A6"/>
              </a:solidFill>
            </c:spPr>
          </c:marker>
          <c:dLbls>
            <c:delete val="1"/>
          </c:dLbls>
          <c:cat>
            <c:numRef>
              <c:f>{0,0.05,0.1,0.25,0.5,1}</c:f>
              <c:numCache>
                <c:formatCode>General</c:formatCode>
                <c:ptCount val="6"/>
                <c:pt idx="0">
                  <c:v>0</c:v>
                </c:pt>
                <c:pt idx="1">
                  <c:v>0.05</c:v>
                </c:pt>
                <c:pt idx="2">
                  <c:v>0.1</c:v>
                </c:pt>
                <c:pt idx="3">
                  <c:v>0.25</c:v>
                </c:pt>
                <c:pt idx="4">
                  <c:v>0.5</c:v>
                </c:pt>
                <c:pt idx="5">
                  <c:v>1</c:v>
                </c:pt>
              </c:numCache>
            </c:numRef>
          </c:cat>
          <c:val>
            <c:numRef>
              <c:f>{1.424828,1.374828,1.324828,1.174828,0.924828,0.424828}</c:f>
              <c:numCache>
                <c:formatCode>0.0</c:formatCode>
                <c:ptCount val="6"/>
                <c:pt idx="0">
                  <c:v>1.424828</c:v>
                </c:pt>
                <c:pt idx="1">
                  <c:v>1.374828</c:v>
                </c:pt>
                <c:pt idx="2">
                  <c:v>1.324828</c:v>
                </c:pt>
                <c:pt idx="3">
                  <c:v>1.174828</c:v>
                </c:pt>
                <c:pt idx="4">
                  <c:v>0.924828</c:v>
                </c:pt>
                <c:pt idx="5">
                  <c:v>0.424828</c:v>
                </c:pt>
              </c:numCache>
            </c:numRef>
          </c:val>
          <c:smooth val="0"/>
        </c:ser>
        <c:ser>
          <c:idx val="2"/>
          <c:order val="2"/>
          <c:tx>
            <c:strRef>
              <c:f>全量女装邮件</c:f>
              <c:strCache>
                <c:ptCount val="1"/>
                <c:pt idx="0">
                  <c:v>全量女装邮件</c:v>
                </c:pt>
              </c:strCache>
            </c:strRef>
          </c:tx>
          <c:spPr>
            <a:ln w="28575" cap="rnd">
              <a:solidFill>
                <a:srgbClr val="173A5E"/>
              </a:solidFill>
              <a:prstDash val="solid"/>
              <a:round/>
            </a:ln>
          </c:spPr>
          <c:marker>
            <c:symbol val="circle"/>
            <c:size val="6"/>
            <c:spPr>
              <a:solidFill>
                <a:srgbClr val="173A5E"/>
              </a:solidFill>
            </c:spPr>
          </c:marker>
          <c:dLbls>
            <c:delete val="1"/>
          </c:dLbls>
          <c:cat>
            <c:numRef>
              <c:f>{0,0.05,0.1,0.25,0.5,1}</c:f>
              <c:numCache>
                <c:formatCode>General</c:formatCode>
                <c:ptCount val="6"/>
                <c:pt idx="0">
                  <c:v>0</c:v>
                </c:pt>
                <c:pt idx="1">
                  <c:v>0.05</c:v>
                </c:pt>
                <c:pt idx="2">
                  <c:v>0.1</c:v>
                </c:pt>
                <c:pt idx="3">
                  <c:v>0.25</c:v>
                </c:pt>
                <c:pt idx="4">
                  <c:v>0.5</c:v>
                </c:pt>
                <c:pt idx="5">
                  <c:v>1</c:v>
                </c:pt>
              </c:numCache>
            </c:numRef>
          </c:cat>
          <c:val>
            <c:numRef>
              <c:f>{1.075808,1.025808,0.975808,0.825808,0.575808,0.075808}</c:f>
              <c:numCache>
                <c:formatCode>0.0</c:formatCode>
                <c:ptCount val="6"/>
                <c:pt idx="0">
                  <c:v>1.075808</c:v>
                </c:pt>
                <c:pt idx="1">
                  <c:v>1.025808</c:v>
                </c:pt>
                <c:pt idx="2">
                  <c:v>0.975808</c:v>
                </c:pt>
                <c:pt idx="3">
                  <c:v>0.825808</c:v>
                </c:pt>
                <c:pt idx="4">
                  <c:v>0.575808</c:v>
                </c:pt>
                <c:pt idx="5">
                  <c:v>0.075808</c:v>
                </c:pt>
              </c:numCache>
            </c:numRef>
          </c:val>
          <c:smooth val="0"/>
        </c:ser>
        <c:ser>
          <c:idx val="3"/>
          <c:order val="3"/>
          <c:tx>
            <c:strRef>
              <c:f>个性化双重稳健策略</c:f>
              <c:strCache>
                <c:ptCount val="1"/>
                <c:pt idx="0">
                  <c:v>个性化双重稳健策略</c:v>
                </c:pt>
              </c:strCache>
            </c:strRef>
          </c:tx>
          <c:spPr>
            <a:ln w="28575" cap="rnd">
              <a:solidFill>
                <a:srgbClr val="EF6A5B"/>
              </a:solidFill>
              <a:prstDash val="dash"/>
              <a:round/>
            </a:ln>
          </c:spPr>
          <c:marker>
            <c:symbol val="diamond"/>
            <c:size val="7"/>
            <c:spPr>
              <a:solidFill>
                <a:srgbClr val="EF6A5B"/>
              </a:solidFill>
            </c:spPr>
          </c:marker>
          <c:dLbls>
            <c:delete val="1"/>
          </c:dLbls>
          <c:cat>
            <c:numRef>
              <c:f>{0,0.05,0.1,0.25,0.5,1}</c:f>
              <c:numCache>
                <c:formatCode>General</c:formatCode>
                <c:ptCount val="6"/>
                <c:pt idx="0">
                  <c:v>0</c:v>
                </c:pt>
                <c:pt idx="1">
                  <c:v>0.05</c:v>
                </c:pt>
                <c:pt idx="2">
                  <c:v>0.1</c:v>
                </c:pt>
                <c:pt idx="3">
                  <c:v>0.25</c:v>
                </c:pt>
                <c:pt idx="4">
                  <c:v>0.5</c:v>
                </c:pt>
                <c:pt idx="5">
                  <c:v>1</c:v>
                </c:pt>
              </c:numCache>
            </c:numRef>
          </c:cat>
          <c:val>
            <c:numRef>
              <c:f>{1.346358,1.296827,1.244832,1.096677,0.836934,0.686666}</c:f>
              <c:numCache>
                <c:formatCode>0.0</c:formatCode>
                <c:ptCount val="6"/>
                <c:pt idx="0">
                  <c:v>1.346358</c:v>
                </c:pt>
                <c:pt idx="1">
                  <c:v>1.296827</c:v>
                </c:pt>
                <c:pt idx="2">
                  <c:v>1.244832</c:v>
                </c:pt>
                <c:pt idx="3">
                  <c:v>1.096677</c:v>
                </c:pt>
                <c:pt idx="4">
                  <c:v>0.836934</c:v>
                </c:pt>
                <c:pt idx="5">
                  <c:v>0.686666</c:v>
                </c:pt>
              </c:numCache>
            </c:numRef>
          </c:val>
          <c:smooth val="0"/>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title>
          <c:tx>
            <c:rich>
              <a:bodyPr rot="0" spcFirstLastPara="0" vertOverflow="ellipsis" vert="horz" wrap="square" anchor="ctr" anchorCtr="1"/>
              <a:lstStyle/>
              <a:p>
                <a:pPr>
                  <a:defRPr lang="zh-CN" sz="1000" b="1" i="0" u="none" strike="noStrike" kern="1200" baseline="0">
                    <a:solidFill>
                      <a:schemeClr val="tx1"/>
                    </a:solidFill>
                    <a:latin typeface="+mn-lt"/>
                    <a:ea typeface="+mn-ea"/>
                    <a:cs typeface="+mn-cs"/>
                  </a:defRPr>
                </a:pPr>
                <a:r>
                  <a:rPr sz="900">
                    <a:solidFill>
                      <a:srgbClr val="6B7B88"/>
                    </a:solidFill>
                  </a:rPr>
                  <a:t>假设的邮件成本</a:t>
                </a:r>
                <a:endParaRPr sz="900">
                  <a:solidFill>
                    <a:srgbClr val="6B7B88"/>
                  </a:solidFill>
                </a:endParaRPr>
              </a:p>
            </c:rich>
          </c:tx>
          <c:layout/>
          <c:overlay val="0"/>
        </c:title>
        <c:numFmt formatCode="General" sourceLinked="1"/>
        <c:majorTickMark val="none"/>
        <c:minorTickMark val="none"/>
        <c:tickLblPos val="nextTo"/>
        <c:spPr>
          <a:ln w="9525">
            <a:solidFill>
              <a:srgbClr val="E6ECEF"/>
            </a:solidFill>
            <a:prstDash val="solid"/>
            <a:round/>
          </a:ln>
        </c:spPr>
        <c:txPr>
          <a:bodyPr rot="-60000000" spcFirstLastPara="0" vertOverflow="ellipsis" vert="horz" wrap="square" anchor="ctr" anchorCtr="1"/>
          <a:lstStyle/>
          <a:p>
            <a:pPr>
              <a:defRPr lang="zh-CN" sz="900" b="0" i="0" u="none" strike="noStrike" kern="1200" baseline="0">
                <a:solidFill>
                  <a:srgbClr val="314252"/>
                </a:solidFill>
                <a:latin typeface="+mn-lt"/>
                <a:ea typeface="+mn-ea"/>
                <a:cs typeface="+mn-cs"/>
              </a:defRPr>
            </a:pPr>
          </a:p>
        </c:txPr>
        <c:crossAx val="48672768"/>
        <c:crosses val="autoZero"/>
        <c:auto val="1"/>
        <c:lblAlgn val="ctr"/>
        <c:lblOffset val="100"/>
        <c:noMultiLvlLbl val="0"/>
      </c:catAx>
      <c:valAx>
        <c:axId val="48672768"/>
        <c:scaling>
          <c:orientation val="minMax"/>
          <c:max val="1.6"/>
          <c:min val="0"/>
        </c:scaling>
        <c:delete val="0"/>
        <c:axPos val="l"/>
        <c:majorGridlines>
          <c:spPr>
            <a:ln w="9525">
              <a:solidFill>
                <a:srgbClr val="E6ECEF"/>
              </a:solidFill>
              <a:prstDash val="solid"/>
              <a:round/>
            </a:ln>
          </c:spPr>
        </c:majorGridlines>
        <c:numFmt formatCode="0.0" sourceLinked="1"/>
        <c:majorTickMark val="none"/>
        <c:minorTickMark val="none"/>
        <c:tickLblPos val="nextTo"/>
        <c:spPr>
          <a:ln w="9525">
            <a:solidFill>
              <a:srgbClr val="E6ECEF"/>
            </a:solidFill>
            <a:prstDash val="solid"/>
            <a:round/>
          </a:ln>
        </c:spPr>
        <c:txPr>
          <a:bodyPr rot="-60000000" spcFirstLastPara="0" vertOverflow="ellipsis" vert="horz" wrap="square" anchor="ctr" anchorCtr="1"/>
          <a:lstStyle/>
          <a:p>
            <a:pPr>
              <a:defRPr lang="zh-CN" sz="900" b="0" i="0" u="none" strike="noStrike" kern="1200" baseline="0">
                <a:solidFill>
                  <a:srgbClr val="6B7B88"/>
                </a:solidFill>
                <a:latin typeface="+mn-lt"/>
                <a:ea typeface="+mn-ea"/>
                <a:cs typeface="+mn-cs"/>
              </a:defRPr>
            </a:pPr>
          </a:p>
        </c:txPr>
        <c:crossAx val="48650112"/>
        <c:crosses val="autoZero"/>
        <c:crossBetween val="between"/>
        <c:majorUnit val="0.4"/>
      </c:valAx>
      <c:spPr>
        <a:solidFill>
          <a:srgbClr val="FFFFFF"/>
        </a:solidFill>
        <a:ln w="0">
          <a:noFill/>
          <a:prstDash val="solid"/>
        </a:ln>
      </c:spPr>
    </c:plotArea>
    <c:legend>
      <c:legendPos val="b"/>
      <c:layout/>
      <c:overlay val="0"/>
      <c:txPr>
        <a:bodyPr rot="0" spcFirstLastPara="0" vertOverflow="ellipsis" vert="horz" wrap="square" anchor="ctr" anchorCtr="1"/>
        <a:lstStyle/>
        <a:p>
          <a:pPr>
            <a:defRPr lang="zh-CN" sz="900" b="0" i="0" u="none" strike="noStrike" kern="1200" baseline="0">
              <a:solidFill>
                <a:srgbClr val="314252"/>
              </a:solidFill>
              <a:latin typeface="+mn-lt"/>
              <a:ea typeface="+mn-ea"/>
              <a:cs typeface="+mn-cs"/>
            </a:defRPr>
          </a:pPr>
        </a:p>
      </c:txPr>
    </c:legend>
    <c:plotVisOnly val="1"/>
    <c:dispBlanksAs val="gap"/>
    <c:showDLblsOverMax val="0"/>
    <c:extLst>
      <c:ext uri="{0b15fc19-7d7d-44ad-8c2d-2c3a37ce22c3}">
        <chartProps xmlns="https://web.wps.cn/et/2018/main" chartId="{8faa12b0-057b-490b-87b2-e5bb8d019724}"/>
      </c:ext>
    </c:extLst>
  </c:chart>
  <c:spPr>
    <a:solidFill>
      <a:srgbClr val="FFFFFF"/>
    </a:solidFill>
    <a:ln w="0">
      <a:noFill/>
      <a:prstDash val="solid"/>
    </a:ln>
  </c:spPr>
  <c:txPr>
    <a:bodyPr/>
    <a:lstStyle/>
    <a:p>
      <a:pPr>
        <a:defRPr lang="zh-CN"/>
      </a:p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[Sources]</a:t>
            </a:r>
          </a:p>
          <a:p>
            <a:r>
              <a:t>- 2.AB Test/abn_experiment_analysis/01_group_summary.csv</a:t>
            </a:r>
          </a:p>
          <a:p>
            <a:r>
              <a:t>- 5.策略优化/multi_action_policy_evaluation/04_policy_decision.txt</a:t>
            </a:r>
          </a:p>
          <a:p>
            <a:r>
              <a:t>[/Sources]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[Sources]</a:t>
            </a:r>
          </a:p>
          <a:p>
            <a:r>
              <a:t>- 2.AB Test/spend_robustness/04_robustness_comparison.csv</a:t>
            </a:r>
          </a:p>
          <a:p>
            <a:r>
              <a:t>- 3.异质性效应/univariate_hte_analysis/04_moderator_summary.csv</a:t>
            </a:r>
          </a:p>
          <a:p>
            <a:r>
              <a:t>- 4.Uplift/crossfitted_uplift_validation/06_model_decision.csv</a:t>
            </a:r>
          </a:p>
          <a:p>
            <a:r>
              <a:t>- 5.策略优化/multi_action_policy_evaluation/02_policy_values.csv</a:t>
            </a:r>
          </a:p>
          <a:p>
            <a:r>
              <a:t>- 5.策略优化/multi_action_policy_evaluation/03_policy_comparisons.csv</a:t>
            </a:r>
          </a:p>
          <a:p>
            <a:r>
              <a:t>[/Sources]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[Sources]</a:t>
            </a:r>
          </a:p>
          <a:p>
            <a:r>
              <a:t>- 1.实验数据审计/results/00_audit_summary.txt</a:t>
            </a:r>
          </a:p>
          <a:p>
            <a:r>
              <a:t>- 1.实验数据审计/results/03_segment_counts.csv</a:t>
            </a:r>
          </a:p>
          <a:p>
            <a:r>
              <a:t>- 1.实验数据审计/results/04_srm_test.csv</a:t>
            </a:r>
          </a:p>
          <a:p>
            <a:r>
              <a:t>- 1.实验数据审计/results/05_numeric_covariate_balance.csv</a:t>
            </a:r>
          </a:p>
          <a:p>
            <a:r>
              <a:t>- 1.实验数据审计/results/06_categorical_covariate_balance.csv</a:t>
            </a:r>
          </a:p>
          <a:p>
            <a:r>
              <a:t>[/Sources]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[Sources]</a:t>
            </a:r>
          </a:p>
          <a:p>
            <a:r>
              <a:t>- 2.AB Test/abn_experiment_analysis/01_group_summary.csv</a:t>
            </a:r>
          </a:p>
          <a:p>
            <a:r>
              <a:t>- 2.AB Test/abn_experiment_analysis/03_primary_spend_contrasts.csv</a:t>
            </a:r>
          </a:p>
          <a:p>
            <a:r>
              <a:t>- 2.AB Test/abn_experiment_analysis/04_secondary_outcome_contrasts.csv</a:t>
            </a:r>
          </a:p>
          <a:p>
            <a:r>
              <a:t>[/Sources]</a:t>
            </a:r>
          </a:p>
          <a:p/>
          <a:p>
            <a:r>
              <a:t>Visit and Conversion are directionally consistent secondary outcomes; the deck does not claim a causal mediation path.</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[Sources]</a:t>
            </a:r>
          </a:p>
          <a:p>
            <a:r>
              <a:t>- 2.AB Test/spend_robustness/04_robustness_comparison.csv</a:t>
            </a:r>
          </a:p>
          <a:p>
            <a:r>
              <a:t>- 2.AB Test/spend_robustness/05_robustness_summary.txt</a:t>
            </a:r>
          </a:p>
          <a:p>
            <a:r>
              <a:t>[/Sources]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[Sources]</a:t>
            </a:r>
          </a:p>
          <a:p>
            <a:r>
              <a:t>- 3.异质性效应/univariate_hte_analysis/04_moderator_summary.csv</a:t>
            </a:r>
          </a:p>
          <a:p>
            <a:r>
              <a:t>- 3.异质性效应/univariate_hte_analysis/05_supported_subgroup_effects.csv</a:t>
            </a:r>
          </a:p>
          <a:p>
            <a:r>
              <a:t>- 4.Uplift/crossfitted_uplift_validation/02_model_summary.csv</a:t>
            </a:r>
          </a:p>
          <a:p>
            <a:r>
              <a:t>- 4.Uplift/crossfitted_uplift_validation/04_top_bottom_bootstrap.csv</a:t>
            </a:r>
          </a:p>
          <a:p>
            <a:r>
              <a:t>- 4.Uplift/crossfitted_uplift_validation/06_model_decision.csv</a:t>
            </a:r>
          </a:p>
          <a:p>
            <a:r>
              <a:t>- 4.Uplift/crossfitted_uplift_validation/07_uplift_decision.txt</a:t>
            </a:r>
          </a:p>
          <a:p>
            <a:r>
              <a:t>[/Sources]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[Sources]</a:t>
            </a:r>
          </a:p>
          <a:p>
            <a:r>
              <a:t>- 5.策略优化/multi_action_policy_evaluation/01_personalized_allocation.csv</a:t>
            </a:r>
          </a:p>
          <a:p>
            <a:r>
              <a:t>- 5.策略优化/multi_action_policy_evaluation/02_policy_values.csv</a:t>
            </a:r>
          </a:p>
          <a:p>
            <a:r>
              <a:t>- 5.策略优化/multi_action_policy_evaluation/03_policy_comparisons.csv</a:t>
            </a:r>
          </a:p>
          <a:p>
            <a:r>
              <a:t>- 5.策略优化/multi_action_policy_evaluation/04_policy_decision.txt</a:t>
            </a:r>
          </a:p>
          <a:p>
            <a:r>
              <a:t>[/Sources]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[Sources]</a:t>
            </a:r>
          </a:p>
          <a:p>
            <a:r>
              <a:t>- 5.策略优化/cost_sensitivity_analysis/01_cost_sensitivity_policy_values.csv</a:t>
            </a:r>
          </a:p>
          <a:p>
            <a:r>
              <a:t>- 5.策略优化/cost_sensitivity_analysis/03_cost_sensitivity_comparisons.csv</a:t>
            </a:r>
          </a:p>
          <a:p>
            <a:r>
              <a:t>- 5.策略优化/cost_sensitivity_analysis/04_static_break_even_summary.csv</a:t>
            </a:r>
          </a:p>
          <a:p>
            <a:r>
              <a:t>- 5.策略优化/cost_sensitivity_analysis/05_cost_sensitivity_decision.txt</a:t>
            </a:r>
          </a:p>
          <a:p>
            <a:r>
              <a:t>[/Sources]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[Sources]</a:t>
            </a:r>
          </a:p>
          <a:p>
            <a:r>
              <a:t>- 2.AB Test/spend_robustness/04_robustness_comparison.csv</a:t>
            </a:r>
          </a:p>
          <a:p>
            <a:r>
              <a:t>- 4.Uplift/crossfitted_uplift_validation/06_model_decision.csv</a:t>
            </a:r>
          </a:p>
          <a:p>
            <a:r>
              <a:t>- 5.策略优化/multi_action_policy_evaluation/04_policy_decision.txt</a:t>
            </a:r>
          </a:p>
          <a:p>
            <a:r>
              <a:t>- 5.策略优化/cost_sensitivity_analysis/05_cost_sensitivity_decision.txt</a:t>
            </a:r>
          </a:p>
          <a:p>
            <a:r>
              <a:t>[/Sources]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[Sources]</a:t>
            </a:r>
          </a:p>
          <a:p>
            <a:r>
              <a:t>- 1.实验数据审计/results/00_audit_summary.txt</a:t>
            </a:r>
          </a:p>
          <a:p>
            <a:r>
              <a:t>- 4.Uplift/crossfitted_uplift_validation/07_uplift_decision.txt</a:t>
            </a:r>
          </a:p>
          <a:p>
            <a:r>
              <a:t>- 5.策略优化/multi_action_policy_evaluation/04_policy_decision.txt</a:t>
            </a:r>
          </a:p>
          <a:p>
            <a:r>
              <a:t>- 5.策略优化/cost_sensitivity_analysis/05_cost_sensitivity_decision.txt</a:t>
            </a:r>
          </a:p>
          <a:p>
            <a:r>
              <a:t>[/Sources]</a:t>
            </a:r>
          </a:p>
          <a:p/>
          <a:p>
            <a:r>
              <a:t>Recommendations on future measurement are derived from limitations explicitly identified in the verified analysis outputs.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[Sources]</a:t>
            </a:r>
          </a:p>
          <a:p>
            <a:r>
              <a:t>- 1.实验数据审计/results/00_audit_summary.txt</a:t>
            </a:r>
          </a:p>
          <a:p>
            <a:r>
              <a:t>- 2.AB Test/abn_experiment_analysis/00_research_design.txt</a:t>
            </a:r>
          </a:p>
          <a:p>
            <a:r>
              <a:t>- 2.AB Test/spend_robustness/00_robustness_design.txt</a:t>
            </a:r>
          </a:p>
          <a:p>
            <a:r>
              <a:t>- 3.异质性效应/univariate_hte_analysis/00_hte_design.txt</a:t>
            </a:r>
          </a:p>
          <a:p>
            <a:r>
              <a:t>- 4.Uplift/crossfitted_uplift_validation/00_uplift_design.txt</a:t>
            </a:r>
          </a:p>
          <a:p>
            <a:r>
              <a:t>- 5.策略优化/multi_action_policy_evaluation/00_policy_design.txt</a:t>
            </a:r>
          </a:p>
          <a:p>
            <a:r>
              <a:t>- 5.策略优化/cost_sensitivity_analysis/00_cost_sensitivity_design.txt</a:t>
            </a:r>
          </a:p>
          <a:p>
            <a:r>
              <a:t>[/Sources]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[Sources]</a:t>
            </a:r>
          </a:p>
          <a:p>
            <a:r>
              <a:t>- 2.AB Test/abn_experiment_analysis/03_primary_spend_contrasts.csv</a:t>
            </a:r>
          </a:p>
          <a:p>
            <a:r>
              <a:t>- 2.AB Test/spend_robustness/04_robustness_comparison.csv</a:t>
            </a:r>
          </a:p>
          <a:p>
            <a:r>
              <a:t>- 5.策略优化/multi_action_policy_evaluation/02_policy_values.csv</a:t>
            </a:r>
          </a:p>
          <a:p>
            <a:r>
              <a:t>- 5.策略优化/multi_action_policy_evaluation/03_policy_comparisons.csv</a:t>
            </a:r>
          </a:p>
          <a:p>
            <a:r>
              <a:t>[/Sources]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chart" Target="../charts/char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chart" Target="../charts/chart2.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chart" Target="../charts/char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9" name="矩形 18"/>
          <p:cNvSpPr>
            <a:spLocks noGrp="1"/>
          </p:cNvSpPr>
          <p:nvPr/>
        </p:nvSpPr>
        <p:spPr>
          <a:xfrm>
            <a:off x="0" y="0"/>
            <a:ext cx="190500" cy="6858000"/>
          </a:xfrm>
          <a:prstGeom prst="rect">
            <a:avLst/>
          </a:prstGeom>
          <a:solidFill>
            <a:srgbClr val="00A6A6"/>
          </a:solidFill>
          <a:ln w="0">
            <a:noFill/>
            <a:prstDash val="solid"/>
          </a:ln>
        </p:spPr>
      </p:sp>
      <p:sp>
        <p:nvSpPr>
          <p:cNvPr id="2" name="矩形 1"/>
          <p:cNvSpPr>
            <a:spLocks noGrp="1"/>
          </p:cNvSpPr>
          <p:nvPr/>
        </p:nvSpPr>
        <p:spPr>
          <a:xfrm>
            <a:off x="742950" y="781050"/>
            <a:ext cx="4953000" cy="285750"/>
          </a:xfrm>
          <a:prstGeom prst="rect">
            <a:avLst/>
          </a:prstGeom>
          <a:noFill/>
          <a:ln w="0">
            <a:noFill/>
            <a:prstDash val="solid"/>
          </a:ln>
        </p:spPr>
        <p:txBody>
          <a:bodyPr wrap="square" lIns="0" tIns="0" rIns="0" bIns="0" anchor="t">
            <a:normAutofit/>
          </a:bodyPr>
          <a:lstStyle/>
          <a:p>
            <a:pPr algn="l">
              <a:lnSpc>
                <a:spcPct val="105000"/>
              </a:lnSpc>
              <a:buNone/>
              <a:defRPr sz="1125" b="1">
                <a:solidFill>
                  <a:srgbClr val="00A6A6"/>
                </a:solidFill>
                <a:latin typeface="微软雅黑" panose="020B0503020204020204" charset="-122"/>
                <a:ea typeface="微软雅黑" panose="020B0503020204020204" charset="-122"/>
                <a:cs typeface="微软雅黑" panose="020B0503020204020204" charset="-122"/>
              </a:defRPr>
            </a:pPr>
            <a:r>
              <a:rPr sz="1125" b="1">
                <a:solidFill>
                  <a:srgbClr val="00A6A6"/>
                </a:solidFill>
                <a:latin typeface="微软雅黑" panose="020B0503020204020204" charset="-122"/>
                <a:ea typeface="微软雅黑" panose="020B0503020204020204" charset="-122"/>
                <a:cs typeface="微软雅黑" panose="020B0503020204020204" charset="-122"/>
              </a:rPr>
              <a:t>Hillstorm邮件实验</a:t>
            </a:r>
            <a:endParaRPr sz="112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742950" y="1428750"/>
            <a:ext cx="6667500" cy="1619250"/>
          </a:xfrm>
          <a:prstGeom prst="rect">
            <a:avLst/>
          </a:prstGeom>
          <a:noFill/>
          <a:ln w="0">
            <a:noFill/>
            <a:prstDash val="solid"/>
          </a:ln>
        </p:spPr>
        <p:txBody>
          <a:bodyPr wrap="square" lIns="0" tIns="0" rIns="0" bIns="0" anchor="t">
            <a:normAutofit/>
          </a:bodyPr>
          <a:lstStyle/>
          <a:p>
            <a:pPr algn="l">
              <a:lnSpc>
                <a:spcPct val="96000"/>
              </a:lnSpc>
              <a:buNone/>
              <a:defRPr sz="4125" b="1">
                <a:solidFill>
                  <a:srgbClr val="0B1F33"/>
                </a:solidFill>
                <a:latin typeface="微软雅黑" panose="020B0503020204020204" charset="-122"/>
                <a:ea typeface="微软雅黑" panose="020B0503020204020204" charset="-122"/>
                <a:cs typeface="微软雅黑" panose="020B0503020204020204" charset="-122"/>
              </a:defRPr>
            </a:pPr>
            <a:r>
              <a:rPr sz="4125" b="1">
                <a:solidFill>
                  <a:srgbClr val="0B1F33"/>
                </a:solidFill>
                <a:latin typeface="微软雅黑" panose="020B0503020204020204" charset="-122"/>
                <a:ea typeface="微软雅黑" panose="020B0503020204020204" charset="-122"/>
                <a:cs typeface="微软雅黑" panose="020B0503020204020204" charset="-122"/>
              </a:rPr>
              <a:t>邮件有效；个性化尚未证明</a:t>
            </a:r>
            <a:endParaRPr sz="4125" b="1">
              <a:solidFill>
                <a:srgbClr val="0B1F33"/>
              </a:solidFill>
              <a:latin typeface="微软雅黑" panose="020B0503020204020204" charset="-122"/>
              <a:ea typeface="微软雅黑" panose="020B0503020204020204" charset="-122"/>
              <a:cs typeface="微软雅黑" panose="020B0503020204020204" charset="-122"/>
            </a:endParaRPr>
          </a:p>
          <a:p>
            <a:pPr algn="l">
              <a:lnSpc>
                <a:spcPct val="96000"/>
              </a:lnSpc>
              <a:buNone/>
              <a:defRPr sz="4125" b="1">
                <a:solidFill>
                  <a:srgbClr val="0B1F33"/>
                </a:solidFill>
                <a:latin typeface="微软雅黑" panose="020B0503020204020204" charset="-122"/>
                <a:ea typeface="微软雅黑" panose="020B0503020204020204" charset="-122"/>
                <a:cs typeface="微软雅黑" panose="020B0503020204020204" charset="-122"/>
              </a:defRPr>
            </a:pPr>
            <a:r>
              <a:rPr sz="4125" b="1">
                <a:solidFill>
                  <a:srgbClr val="0B1F33"/>
                </a:solidFill>
                <a:latin typeface="微软雅黑" panose="020B0503020204020204" charset="-122"/>
                <a:ea typeface="微软雅黑" panose="020B0503020204020204" charset="-122"/>
                <a:cs typeface="微软雅黑" panose="020B0503020204020204" charset="-122"/>
              </a:rPr>
              <a:t>值得复杂度</a:t>
            </a:r>
            <a:endParaRPr sz="4125"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4" name="矩形 3"/>
          <p:cNvSpPr>
            <a:spLocks noGrp="1"/>
          </p:cNvSpPr>
          <p:nvPr/>
        </p:nvSpPr>
        <p:spPr>
          <a:xfrm>
            <a:off x="762000" y="3305175"/>
            <a:ext cx="6096000" cy="400050"/>
          </a:xfrm>
          <a:prstGeom prst="rect">
            <a:avLst/>
          </a:prstGeom>
          <a:noFill/>
          <a:ln w="0">
            <a:noFill/>
            <a:prstDash val="solid"/>
          </a:ln>
        </p:spPr>
        <p:txBody>
          <a:bodyPr wrap="square" lIns="0" tIns="0" rIns="0" bIns="0" anchor="t">
            <a:normAutofit/>
          </a:bodyPr>
          <a:lstStyle/>
          <a:p>
            <a:pPr algn="l">
              <a:lnSpc>
                <a:spcPct val="105000"/>
              </a:lnSpc>
              <a:buNone/>
              <a:defRPr sz="1800" b="0">
                <a:solidFill>
                  <a:srgbClr val="314252"/>
                </a:solidFill>
                <a:latin typeface="微软雅黑" panose="020B0503020204020204" charset="-122"/>
                <a:ea typeface="微软雅黑" panose="020B0503020204020204" charset="-122"/>
                <a:cs typeface="微软雅黑" panose="020B0503020204020204" charset="-122"/>
              </a:defRPr>
            </a:pPr>
            <a:r>
              <a:rPr sz="1800" b="0">
                <a:solidFill>
                  <a:srgbClr val="314252"/>
                </a:solidFill>
                <a:latin typeface="微软雅黑" panose="020B0503020204020204" charset="-122"/>
                <a:ea typeface="微软雅黑" panose="020B0503020204020204" charset="-122"/>
                <a:cs typeface="微软雅黑" panose="020B0503020204020204" charset="-122"/>
              </a:rPr>
              <a:t>三组随机对照实验结果、增益模型验证与投放策略评估</a:t>
            </a:r>
            <a:endParaRPr sz="18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762000" y="4038600"/>
            <a:ext cx="5715000" cy="285750"/>
          </a:xfrm>
          <a:prstGeom prst="rect">
            <a:avLst/>
          </a:prstGeom>
          <a:noFill/>
          <a:ln w="0">
            <a:noFill/>
            <a:prstDash val="solid"/>
          </a:ln>
        </p:spPr>
        <p:txBody>
          <a:bodyPr wrap="square" lIns="0" tIns="0" rIns="0" bIns="0" anchor="t">
            <a:normAutofit/>
          </a:bodyPr>
          <a:lstStyle/>
          <a:p>
            <a:pPr algn="l">
              <a:lnSpc>
                <a:spcPct val="105000"/>
              </a:lnSpc>
              <a:buNone/>
              <a:defRPr sz="1200" b="0">
                <a:solidFill>
                  <a:srgbClr val="6B7B88"/>
                </a:solidFill>
                <a:latin typeface="微软雅黑" panose="020B0503020204020204" charset="-122"/>
                <a:ea typeface="微软雅黑" panose="020B0503020204020204" charset="-122"/>
                <a:cs typeface="微软雅黑" panose="020B0503020204020204" charset="-122"/>
              </a:defRPr>
            </a:pPr>
            <a:r>
              <a:rPr sz="1200" b="0">
                <a:solidFill>
                  <a:srgbClr val="6B7B88"/>
                </a:solidFill>
                <a:latin typeface="微软雅黑" panose="020B0503020204020204" charset="-122"/>
                <a:ea typeface="微软雅黑" panose="020B0503020204020204" charset="-122"/>
                <a:cs typeface="微软雅黑" panose="020B0503020204020204" charset="-122"/>
              </a:rPr>
              <a:t>管理层汇报｜64,000 名随机分组客户</a:t>
            </a:r>
            <a:endParaRPr sz="1200"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6" name="矩形 5"/>
          <p:cNvSpPr>
            <a:spLocks noGrp="1"/>
          </p:cNvSpPr>
          <p:nvPr/>
        </p:nvSpPr>
        <p:spPr>
          <a:xfrm>
            <a:off x="762000" y="5867400"/>
            <a:ext cx="4953000" cy="228600"/>
          </a:xfrm>
          <a:prstGeom prst="rect">
            <a:avLst/>
          </a:prstGeom>
          <a:noFill/>
          <a:ln w="0">
            <a:noFill/>
            <a:prstDash val="solid"/>
          </a:ln>
        </p:spPr>
        <p:txBody>
          <a:bodyPr wrap="square" lIns="0" tIns="0" rIns="0" bIns="0" anchor="t">
            <a:normAutofit/>
          </a:bodyPr>
          <a:lstStyle/>
          <a:p>
            <a:pPr algn="l">
              <a:lnSpc>
                <a:spcPct val="105000"/>
              </a:lnSpc>
              <a:buNone/>
              <a:defRPr sz="1050" b="0">
                <a:solidFill>
                  <a:srgbClr val="6B7B88"/>
                </a:solidFill>
                <a:latin typeface="微软雅黑" panose="020B0503020204020204" charset="-122"/>
                <a:ea typeface="微软雅黑" panose="020B0503020204020204" charset="-122"/>
                <a:cs typeface="微软雅黑" panose="020B0503020204020204" charset="-122"/>
              </a:defRPr>
            </a:pPr>
            <a:r>
              <a:rPr sz="1050" b="0">
                <a:solidFill>
                  <a:srgbClr val="6B7B88"/>
                </a:solidFill>
                <a:latin typeface="微软雅黑" panose="020B0503020204020204" charset="-122"/>
                <a:ea typeface="微软雅黑" panose="020B0503020204020204" charset="-122"/>
                <a:cs typeface="微软雅黑" panose="020B0503020204020204" charset="-122"/>
              </a:rPr>
              <a:t>基于消费金额的决策框架｜并非投资回报率</a:t>
            </a:r>
            <a:endParaRPr sz="1050"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7" name="圆角矩形 6"/>
          <p:cNvSpPr>
            <a:spLocks noGrp="1"/>
          </p:cNvSpPr>
          <p:nvPr/>
        </p:nvSpPr>
        <p:spPr>
          <a:xfrm>
            <a:off x="8020050" y="1323975"/>
            <a:ext cx="742950" cy="3238500"/>
          </a:xfrm>
          <a:prstGeom prst="roundRect">
            <a:avLst>
              <a:gd name="adj" fmla="val 50000"/>
            </a:avLst>
          </a:prstGeom>
          <a:solidFill>
            <a:srgbClr val="E6ECEF"/>
          </a:solidFill>
          <a:ln w="0">
            <a:noFill/>
            <a:prstDash val="solid"/>
          </a:ln>
        </p:spPr>
      </p:sp>
      <p:sp>
        <p:nvSpPr>
          <p:cNvPr id="8" name="圆角矩形 7"/>
          <p:cNvSpPr>
            <a:spLocks noGrp="1"/>
          </p:cNvSpPr>
          <p:nvPr/>
        </p:nvSpPr>
        <p:spPr>
          <a:xfrm>
            <a:off x="8020050" y="2895600"/>
            <a:ext cx="742950" cy="1666875"/>
          </a:xfrm>
          <a:prstGeom prst="roundRect">
            <a:avLst>
              <a:gd name="adj" fmla="val 50000"/>
            </a:avLst>
          </a:prstGeom>
          <a:solidFill>
            <a:srgbClr val="6B7B88"/>
          </a:solidFill>
          <a:ln w="0">
            <a:noFill/>
            <a:prstDash val="solid"/>
          </a:ln>
        </p:spPr>
      </p:sp>
      <p:sp>
        <p:nvSpPr>
          <p:cNvPr id="9" name="圆角矩形 8"/>
          <p:cNvSpPr>
            <a:spLocks noGrp="1"/>
          </p:cNvSpPr>
          <p:nvPr/>
        </p:nvSpPr>
        <p:spPr>
          <a:xfrm>
            <a:off x="9105900" y="800100"/>
            <a:ext cx="742950" cy="3762375"/>
          </a:xfrm>
          <a:prstGeom prst="roundRect">
            <a:avLst>
              <a:gd name="adj" fmla="val 50000"/>
            </a:avLst>
          </a:prstGeom>
          <a:solidFill>
            <a:srgbClr val="E8F7F6"/>
          </a:solidFill>
          <a:ln w="0">
            <a:noFill/>
            <a:prstDash val="solid"/>
          </a:ln>
        </p:spPr>
      </p:sp>
      <p:sp>
        <p:nvSpPr>
          <p:cNvPr id="10" name="圆角矩形 9"/>
          <p:cNvSpPr>
            <a:spLocks noGrp="1"/>
          </p:cNvSpPr>
          <p:nvPr/>
        </p:nvSpPr>
        <p:spPr>
          <a:xfrm>
            <a:off x="9105900" y="1257300"/>
            <a:ext cx="742950" cy="3305175"/>
          </a:xfrm>
          <a:prstGeom prst="roundRect">
            <a:avLst>
              <a:gd name="adj" fmla="val 50000"/>
            </a:avLst>
          </a:prstGeom>
          <a:solidFill>
            <a:srgbClr val="00A6A6"/>
          </a:solidFill>
          <a:ln w="0">
            <a:noFill/>
            <a:prstDash val="solid"/>
          </a:ln>
        </p:spPr>
      </p:sp>
      <p:sp>
        <p:nvSpPr>
          <p:cNvPr id="11" name="圆角矩形 10"/>
          <p:cNvSpPr>
            <a:spLocks noGrp="1"/>
          </p:cNvSpPr>
          <p:nvPr/>
        </p:nvSpPr>
        <p:spPr>
          <a:xfrm>
            <a:off x="10191750" y="1000125"/>
            <a:ext cx="742950" cy="3562350"/>
          </a:xfrm>
          <a:prstGeom prst="roundRect">
            <a:avLst>
              <a:gd name="adj" fmla="val 50000"/>
            </a:avLst>
          </a:prstGeom>
          <a:solidFill>
            <a:srgbClr val="F4F7F8"/>
          </a:solidFill>
          <a:ln w="0">
            <a:noFill/>
            <a:prstDash val="solid"/>
          </a:ln>
        </p:spPr>
      </p:sp>
      <p:sp>
        <p:nvSpPr>
          <p:cNvPr id="12" name="圆角矩形 11"/>
          <p:cNvSpPr>
            <a:spLocks noGrp="1"/>
          </p:cNvSpPr>
          <p:nvPr/>
        </p:nvSpPr>
        <p:spPr>
          <a:xfrm>
            <a:off x="10191750" y="2057400"/>
            <a:ext cx="742950" cy="2505075"/>
          </a:xfrm>
          <a:prstGeom prst="roundRect">
            <a:avLst>
              <a:gd name="adj" fmla="val 50000"/>
            </a:avLst>
          </a:prstGeom>
          <a:solidFill>
            <a:srgbClr val="173A5E"/>
          </a:solidFill>
          <a:ln w="0">
            <a:noFill/>
            <a:prstDash val="solid"/>
          </a:ln>
        </p:spPr>
      </p:sp>
      <p:sp>
        <p:nvSpPr>
          <p:cNvPr id="13" name="矩形 12"/>
          <p:cNvSpPr>
            <a:spLocks noGrp="1"/>
          </p:cNvSpPr>
          <p:nvPr/>
        </p:nvSpPr>
        <p:spPr>
          <a:xfrm>
            <a:off x="7810500" y="4781550"/>
            <a:ext cx="1143000" cy="228600"/>
          </a:xfrm>
          <a:prstGeom prst="rect">
            <a:avLst/>
          </a:prstGeom>
          <a:noFill/>
          <a:ln w="0">
            <a:noFill/>
            <a:prstDash val="solid"/>
          </a:ln>
        </p:spPr>
        <p:txBody>
          <a:bodyPr wrap="square" lIns="0" tIns="0" rIns="0" bIns="0" anchor="t">
            <a:normAutofit/>
          </a:bodyPr>
          <a:lstStyle/>
          <a:p>
            <a:pPr algn="ctr">
              <a:lnSpc>
                <a:spcPct val="105000"/>
              </a:lnSpc>
              <a:buNone/>
              <a:defRPr sz="975" b="0">
                <a:solidFill>
                  <a:srgbClr val="6B7B88"/>
                </a:solidFill>
                <a:latin typeface="微软雅黑" panose="020B0503020204020204" charset="-122"/>
                <a:ea typeface="微软雅黑" panose="020B0503020204020204" charset="-122"/>
                <a:cs typeface="微软雅黑" panose="020B0503020204020204" charset="-122"/>
              </a:defRPr>
            </a:pPr>
            <a:r>
              <a:rPr sz="975" b="0">
                <a:solidFill>
                  <a:srgbClr val="6B7B88"/>
                </a:solidFill>
                <a:latin typeface="微软雅黑" panose="020B0503020204020204" charset="-122"/>
                <a:ea typeface="微软雅黑" panose="020B0503020204020204" charset="-122"/>
                <a:cs typeface="微软雅黑" panose="020B0503020204020204" charset="-122"/>
              </a:rPr>
              <a:t>不发邮件</a:t>
            </a:r>
            <a:endParaRPr sz="97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8905875" y="4781550"/>
            <a:ext cx="1143000" cy="228600"/>
          </a:xfrm>
          <a:prstGeom prst="rect">
            <a:avLst/>
          </a:prstGeom>
          <a:noFill/>
          <a:ln w="0">
            <a:noFill/>
            <a:prstDash val="solid"/>
          </a:ln>
        </p:spPr>
        <p:txBody>
          <a:bodyPr wrap="square" lIns="0" tIns="0" rIns="0" bIns="0" anchor="t">
            <a:normAutofit/>
          </a:bodyPr>
          <a:lstStyle/>
          <a:p>
            <a:pPr algn="ctr">
              <a:lnSpc>
                <a:spcPct val="105000"/>
              </a:lnSpc>
              <a:buNone/>
              <a:defRPr sz="975" b="1">
                <a:solidFill>
                  <a:srgbClr val="00A6A6"/>
                </a:solidFill>
                <a:latin typeface="微软雅黑" panose="020B0503020204020204" charset="-122"/>
                <a:ea typeface="微软雅黑" panose="020B0503020204020204" charset="-122"/>
                <a:cs typeface="微软雅黑" panose="020B0503020204020204" charset="-122"/>
              </a:defRPr>
            </a:pPr>
            <a:r>
              <a:rPr sz="975" b="1">
                <a:solidFill>
                  <a:srgbClr val="00A6A6"/>
                </a:solidFill>
                <a:latin typeface="微软雅黑" panose="020B0503020204020204" charset="-122"/>
                <a:ea typeface="微软雅黑" panose="020B0503020204020204" charset="-122"/>
                <a:cs typeface="微软雅黑" panose="020B0503020204020204" charset="-122"/>
              </a:rPr>
              <a:t>男装邮件</a:t>
            </a:r>
            <a:endParaRPr sz="9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9991725" y="4781550"/>
            <a:ext cx="1143000" cy="228600"/>
          </a:xfrm>
          <a:prstGeom prst="rect">
            <a:avLst/>
          </a:prstGeom>
          <a:noFill/>
          <a:ln w="0">
            <a:noFill/>
            <a:prstDash val="solid"/>
          </a:ln>
        </p:spPr>
        <p:txBody>
          <a:bodyPr wrap="square" lIns="0" tIns="0" rIns="0" bIns="0" anchor="t">
            <a:normAutofit/>
          </a:bodyPr>
          <a:lstStyle/>
          <a:p>
            <a:pPr algn="ctr">
              <a:lnSpc>
                <a:spcPct val="105000"/>
              </a:lnSpc>
              <a:buNone/>
              <a:defRPr sz="975" b="1">
                <a:solidFill>
                  <a:srgbClr val="173A5E"/>
                </a:solidFill>
                <a:latin typeface="微软雅黑" panose="020B0503020204020204" charset="-122"/>
                <a:ea typeface="微软雅黑" panose="020B0503020204020204" charset="-122"/>
                <a:cs typeface="微软雅黑" panose="020B0503020204020204" charset="-122"/>
              </a:defRPr>
            </a:pPr>
            <a:r>
              <a:rPr sz="975" b="1">
                <a:solidFill>
                  <a:srgbClr val="173A5E"/>
                </a:solidFill>
                <a:latin typeface="微软雅黑" panose="020B0503020204020204" charset="-122"/>
                <a:ea typeface="微软雅黑" panose="020B0503020204020204" charset="-122"/>
                <a:cs typeface="微软雅黑" panose="020B0503020204020204" charset="-122"/>
              </a:rPr>
              <a:t>女装邮件</a:t>
            </a:r>
            <a:endParaRPr sz="975" b="1">
              <a:solidFill>
                <a:srgbClr val="173A5E"/>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7810500" y="5076825"/>
            <a:ext cx="1143000" cy="266700"/>
          </a:xfrm>
          <a:prstGeom prst="rect">
            <a:avLst/>
          </a:prstGeom>
          <a:noFill/>
          <a:ln w="0">
            <a:noFill/>
            <a:prstDash val="solid"/>
          </a:ln>
        </p:spPr>
        <p:txBody>
          <a:bodyPr wrap="square" lIns="0" tIns="0" rIns="0" bIns="0" anchor="t">
            <a:normAutofit/>
          </a:bodyPr>
          <a:lstStyle/>
          <a:p>
            <a:pPr algn="ctr">
              <a:lnSpc>
                <a:spcPct val="105000"/>
              </a:lnSpc>
              <a:buNone/>
              <a:defRPr sz="1350" b="1">
                <a:solidFill>
                  <a:srgbClr val="6B7B88"/>
                </a:solidFill>
                <a:latin typeface="微软雅黑" panose="020B0503020204020204" charset="-122"/>
                <a:ea typeface="微软雅黑" panose="020B0503020204020204" charset="-122"/>
                <a:cs typeface="微软雅黑" panose="020B0503020204020204" charset="-122"/>
              </a:defRPr>
            </a:pPr>
            <a:r>
              <a:rPr sz="1350" b="1">
                <a:solidFill>
                  <a:srgbClr val="6B7B88"/>
                </a:solidFill>
                <a:latin typeface="微软雅黑" panose="020B0503020204020204" charset="-122"/>
                <a:ea typeface="微软雅黑" panose="020B0503020204020204" charset="-122"/>
                <a:cs typeface="微软雅黑" panose="020B0503020204020204" charset="-122"/>
              </a:rPr>
              <a:t>0.653</a:t>
            </a:r>
            <a:endParaRPr sz="1350"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8905875" y="5076825"/>
            <a:ext cx="1143000" cy="266700"/>
          </a:xfrm>
          <a:prstGeom prst="rect">
            <a:avLst/>
          </a:prstGeom>
          <a:noFill/>
          <a:ln w="0">
            <a:noFill/>
            <a:prstDash val="solid"/>
          </a:ln>
        </p:spPr>
        <p:txBody>
          <a:bodyPr wrap="square" lIns="0" tIns="0" rIns="0" bIns="0" anchor="t">
            <a:normAutofit/>
          </a:bodyPr>
          <a:lstStyle/>
          <a:p>
            <a:pPr algn="ctr">
              <a:lnSpc>
                <a:spcPct val="105000"/>
              </a:lnSpc>
              <a:buNone/>
              <a:defRPr sz="1350" b="1">
                <a:solidFill>
                  <a:srgbClr val="00A6A6"/>
                </a:solidFill>
                <a:latin typeface="微软雅黑" panose="020B0503020204020204" charset="-122"/>
                <a:ea typeface="微软雅黑" panose="020B0503020204020204" charset="-122"/>
                <a:cs typeface="微软雅黑" panose="020B0503020204020204" charset="-122"/>
              </a:defRPr>
            </a:pPr>
            <a:r>
              <a:rPr sz="1350" b="1">
                <a:solidFill>
                  <a:srgbClr val="00A6A6"/>
                </a:solidFill>
                <a:latin typeface="微软雅黑" panose="020B0503020204020204" charset="-122"/>
                <a:ea typeface="微软雅黑" panose="020B0503020204020204" charset="-122"/>
                <a:cs typeface="微软雅黑" panose="020B0503020204020204" charset="-122"/>
              </a:rPr>
              <a:t>1.423</a:t>
            </a:r>
            <a:endParaRPr sz="13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9991725" y="5076825"/>
            <a:ext cx="1143000" cy="266700"/>
          </a:xfrm>
          <a:prstGeom prst="rect">
            <a:avLst/>
          </a:prstGeom>
          <a:noFill/>
          <a:ln w="0">
            <a:noFill/>
            <a:prstDash val="solid"/>
          </a:ln>
        </p:spPr>
        <p:txBody>
          <a:bodyPr wrap="square" lIns="0" tIns="0" rIns="0" bIns="0" anchor="t">
            <a:normAutofit/>
          </a:bodyPr>
          <a:lstStyle/>
          <a:p>
            <a:pPr algn="ctr">
              <a:lnSpc>
                <a:spcPct val="105000"/>
              </a:lnSpc>
              <a:buNone/>
              <a:defRPr sz="1350" b="1">
                <a:solidFill>
                  <a:srgbClr val="173A5E"/>
                </a:solidFill>
                <a:latin typeface="微软雅黑" panose="020B0503020204020204" charset="-122"/>
                <a:ea typeface="微软雅黑" panose="020B0503020204020204" charset="-122"/>
                <a:cs typeface="微软雅黑" panose="020B0503020204020204" charset="-122"/>
              </a:defRPr>
            </a:pPr>
            <a:r>
              <a:rPr sz="1350" b="1">
                <a:solidFill>
                  <a:srgbClr val="173A5E"/>
                </a:solidFill>
                <a:latin typeface="微软雅黑" panose="020B0503020204020204" charset="-122"/>
                <a:ea typeface="微软雅黑" panose="020B0503020204020204" charset="-122"/>
                <a:cs typeface="微软雅黑" panose="020B0503020204020204" charset="-122"/>
              </a:rPr>
              <a:t>1.077</a:t>
            </a:r>
            <a:endParaRPr sz="1350" b="1">
              <a:solidFill>
                <a:srgbClr val="173A5E"/>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3" name="矩形 22"/>
          <p:cNvSpPr>
            <a:spLocks noGrp="1"/>
          </p:cNvSpPr>
          <p:nvPr/>
        </p:nvSpPr>
        <p:spPr>
          <a:xfrm>
            <a:off x="647700" y="371475"/>
            <a:ext cx="495300" cy="57150"/>
          </a:xfrm>
          <a:prstGeom prst="rect">
            <a:avLst/>
          </a:prstGeom>
          <a:solidFill>
            <a:srgbClr val="00A6A6"/>
          </a:solidFill>
          <a:ln w="0">
            <a:noFill/>
            <a:prstDash val="solid"/>
          </a:ln>
        </p:spPr>
      </p:sp>
      <p:sp>
        <p:nvSpPr>
          <p:cNvPr id="2" name="矩形 1"/>
          <p:cNvSpPr>
            <a:spLocks noGrp="1"/>
          </p:cNvSpPr>
          <p:nvPr/>
        </p:nvSpPr>
        <p:spPr>
          <a:xfrm>
            <a:off x="647700" y="495300"/>
            <a:ext cx="3429000" cy="228600"/>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00A6A6"/>
                </a:solidFill>
                <a:latin typeface="微软雅黑" panose="020B0503020204020204" charset="-122"/>
                <a:ea typeface="微软雅黑" panose="020B0503020204020204" charset="-122"/>
                <a:cs typeface="微软雅黑" panose="020B0503020204020204" charset="-122"/>
              </a:defRPr>
            </a:pPr>
            <a:r>
              <a:rPr sz="975" b="1">
                <a:solidFill>
                  <a:srgbClr val="00A6A6"/>
                </a:solidFill>
                <a:latin typeface="微软雅黑" panose="020B0503020204020204" charset="-122"/>
                <a:ea typeface="微软雅黑" panose="020B0503020204020204" charset="-122"/>
                <a:cs typeface="微软雅黑" panose="020B0503020204020204" charset="-122"/>
              </a:rPr>
              <a:t>管理层摘要</a:t>
            </a:r>
            <a:endParaRPr sz="9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47700" y="742950"/>
            <a:ext cx="10287000" cy="495300"/>
          </a:xfrm>
          <a:prstGeom prst="rect">
            <a:avLst/>
          </a:prstGeom>
          <a:noFill/>
          <a:ln w="0">
            <a:noFill/>
            <a:prstDash val="solid"/>
          </a:ln>
        </p:spPr>
        <p:txBody>
          <a:bodyPr wrap="none" lIns="0" tIns="0" rIns="0" bIns="0" anchor="ctr">
            <a:normAutofit/>
          </a:bodyPr>
          <a:lstStyle/>
          <a:p>
            <a:pPr algn="l">
              <a:lnSpc>
                <a:spcPct val="105000"/>
              </a:lnSpc>
              <a:buNone/>
              <a:defRPr sz="2850" b="1">
                <a:solidFill>
                  <a:srgbClr val="0B1F33"/>
                </a:solidFill>
                <a:latin typeface="微软雅黑" panose="020B0503020204020204" charset="-122"/>
                <a:ea typeface="微软雅黑" panose="020B0503020204020204" charset="-122"/>
                <a:cs typeface="微软雅黑" panose="020B0503020204020204" charset="-122"/>
              </a:defRPr>
            </a:pPr>
            <a:r>
              <a:rPr sz="2850" b="1">
                <a:solidFill>
                  <a:srgbClr val="0B1F33"/>
                </a:solidFill>
                <a:latin typeface="微软雅黑" panose="020B0503020204020204" charset="-122"/>
                <a:ea typeface="微软雅黑" panose="020B0503020204020204" charset="-122"/>
                <a:cs typeface="微软雅黑" panose="020B0503020204020204" charset="-122"/>
              </a:rPr>
              <a:t>结论先行：邮件有效，但个性化尚未证明值得复杂度</a:t>
            </a:r>
            <a:endParaRPr sz="28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4" name="矩形 3"/>
          <p:cNvSpPr>
            <a:spLocks noGrp="1"/>
          </p:cNvSpPr>
          <p:nvPr/>
        </p:nvSpPr>
        <p:spPr>
          <a:xfrm>
            <a:off x="11125200" y="495300"/>
            <a:ext cx="419100" cy="209550"/>
          </a:xfrm>
          <a:prstGeom prst="rect">
            <a:avLst/>
          </a:prstGeom>
          <a:noFill/>
          <a:ln w="0">
            <a:noFill/>
            <a:prstDash val="solid"/>
          </a:ln>
        </p:spPr>
        <p:txBody>
          <a:bodyPr wrap="square" lIns="0" tIns="0" rIns="0" bIns="0" anchor="ctr">
            <a:normAutofit/>
          </a:bodyPr>
          <a:lstStyle/>
          <a:p>
            <a:pPr algn="r">
              <a:lnSpc>
                <a:spcPct val="105000"/>
              </a:lnSpc>
              <a:buNone/>
              <a:defRPr sz="975" b="1">
                <a:solidFill>
                  <a:srgbClr val="6B7B88"/>
                </a:solidFill>
                <a:latin typeface="微软雅黑" panose="020B0503020204020204" charset="-122"/>
                <a:ea typeface="微软雅黑" panose="020B0503020204020204" charset="-122"/>
                <a:cs typeface="微软雅黑" panose="020B0503020204020204" charset="-122"/>
              </a:defRPr>
            </a:pPr>
            <a:r>
              <a:rPr sz="975" b="1">
                <a:solidFill>
                  <a:srgbClr val="6B7B88"/>
                </a:solidFill>
                <a:latin typeface="微软雅黑" panose="020B0503020204020204" charset="-122"/>
                <a:ea typeface="微软雅黑" panose="020B0503020204020204" charset="-122"/>
                <a:cs typeface="微软雅黑" panose="020B0503020204020204" charset="-122"/>
              </a:rPr>
              <a:t>02</a:t>
            </a:r>
            <a:endParaRPr sz="975"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5" name="直接连接符 4"/>
          <p:cNvSpPr>
            <a:spLocks noGrp="1"/>
          </p:cNvSpPr>
          <p:nvPr/>
        </p:nvSpPr>
        <p:spPr>
          <a:xfrm>
            <a:off x="647700" y="6276975"/>
            <a:ext cx="10896600" cy="953"/>
          </a:xfrm>
          <a:prstGeom prst="line">
            <a:avLst/>
          </a:prstGeom>
          <a:noFill/>
          <a:ln w="9525">
            <a:solidFill>
              <a:srgbClr val="E6ECEF"/>
            </a:solidFill>
            <a:prstDash val="solid"/>
          </a:ln>
        </p:spPr>
      </p:sp>
      <p:sp>
        <p:nvSpPr>
          <p:cNvPr id="6" name="矩形 5"/>
          <p:cNvSpPr>
            <a:spLocks noGrp="1"/>
          </p:cNvSpPr>
          <p:nvPr/>
        </p:nvSpPr>
        <p:spPr>
          <a:xfrm>
            <a:off x="647700" y="6381750"/>
            <a:ext cx="4857750" cy="190500"/>
          </a:xfrm>
          <a:prstGeom prst="rect">
            <a:avLst/>
          </a:prstGeom>
          <a:noFill/>
          <a:ln w="0">
            <a:noFill/>
            <a:prstDash val="solid"/>
          </a:ln>
        </p:spPr>
        <p:txBody>
          <a:bodyPr wrap="square" lIns="0" tIns="0" rIns="0" bIns="0" anchor="t">
            <a:normAutofit/>
          </a:bodyPr>
          <a:lstStyle/>
          <a:p>
            <a:pPr algn="l">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来源：经验证的Hillstorm最终分析结果</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nvSpPr>
        <p:spPr>
          <a:xfrm>
            <a:off x="7886700" y="6381750"/>
            <a:ext cx="3657600" cy="190500"/>
          </a:xfrm>
          <a:prstGeom prst="rect">
            <a:avLst/>
          </a:prstGeom>
          <a:noFill/>
          <a:ln w="0">
            <a:noFill/>
            <a:prstDash val="solid"/>
          </a:ln>
        </p:spPr>
        <p:txBody>
          <a:bodyPr wrap="square" lIns="0" tIns="0" rIns="0" bIns="0" anchor="t">
            <a:normAutofit/>
          </a:bodyPr>
          <a:lstStyle/>
          <a:p>
            <a:pPr algn="r">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每名随机客户的消费金额｜并非投资回报率</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66750" y="1543050"/>
            <a:ext cx="4572000" cy="1952625"/>
          </a:xfrm>
          <a:prstGeom prst="rect">
            <a:avLst/>
          </a:prstGeom>
          <a:noFill/>
          <a:ln w="0">
            <a:noFill/>
            <a:prstDash val="solid"/>
          </a:ln>
        </p:spPr>
        <p:txBody>
          <a:bodyPr wrap="square" lIns="0" tIns="0" rIns="0" bIns="0" anchor="t">
            <a:normAutofit/>
          </a:bodyPr>
          <a:lstStyle/>
          <a:p>
            <a:pPr algn="l">
              <a:lnSpc>
                <a:spcPct val="97000"/>
              </a:lnSpc>
              <a:buNone/>
              <a:defRPr sz="2700" b="1">
                <a:solidFill>
                  <a:srgbClr val="0B1F33"/>
                </a:solidFill>
                <a:latin typeface="微软雅黑" panose="020B0503020204020204" charset="-122"/>
                <a:ea typeface="微软雅黑" panose="020B0503020204020204" charset="-122"/>
                <a:cs typeface="微软雅黑" panose="020B0503020204020204" charset="-122"/>
              </a:defRPr>
            </a:pPr>
            <a:r>
              <a:rPr sz="2700" b="1">
                <a:solidFill>
                  <a:srgbClr val="0B1F33"/>
                </a:solidFill>
                <a:latin typeface="微软雅黑" panose="020B0503020204020204" charset="-122"/>
                <a:ea typeface="微软雅黑" panose="020B0503020204020204" charset="-122"/>
                <a:cs typeface="微软雅黑" panose="020B0503020204020204" charset="-122"/>
              </a:rPr>
              <a:t>邮件营销确实有效；</a:t>
            </a:r>
            <a:endParaRPr sz="2700" b="1">
              <a:solidFill>
                <a:srgbClr val="0B1F33"/>
              </a:solidFill>
              <a:latin typeface="微软雅黑" panose="020B0503020204020204" charset="-122"/>
              <a:ea typeface="微软雅黑" panose="020B0503020204020204" charset="-122"/>
              <a:cs typeface="微软雅黑" panose="020B0503020204020204" charset="-122"/>
            </a:endParaRPr>
          </a:p>
          <a:p>
            <a:pPr algn="l">
              <a:lnSpc>
                <a:spcPct val="97000"/>
              </a:lnSpc>
              <a:buNone/>
              <a:defRPr sz="2700" b="1">
                <a:solidFill>
                  <a:srgbClr val="0B1F33"/>
                </a:solidFill>
                <a:latin typeface="微软雅黑" panose="020B0503020204020204" charset="-122"/>
                <a:ea typeface="微软雅黑" panose="020B0503020204020204" charset="-122"/>
                <a:cs typeface="微软雅黑" panose="020B0503020204020204" charset="-122"/>
              </a:defRPr>
            </a:pPr>
            <a:r>
              <a:rPr sz="2700" b="1">
                <a:solidFill>
                  <a:srgbClr val="0B1F33"/>
                </a:solidFill>
                <a:latin typeface="微软雅黑" panose="020B0503020204020204" charset="-122"/>
                <a:ea typeface="微软雅黑" panose="020B0503020204020204" charset="-122"/>
                <a:cs typeface="微软雅黑" panose="020B0503020204020204" charset="-122"/>
              </a:rPr>
              <a:t>个性化尚未证明</a:t>
            </a:r>
            <a:endParaRPr sz="2700" b="1">
              <a:solidFill>
                <a:srgbClr val="0B1F33"/>
              </a:solidFill>
              <a:latin typeface="微软雅黑" panose="020B0503020204020204" charset="-122"/>
              <a:ea typeface="微软雅黑" panose="020B0503020204020204" charset="-122"/>
              <a:cs typeface="微软雅黑" panose="020B0503020204020204" charset="-122"/>
            </a:endParaRPr>
          </a:p>
          <a:p>
            <a:pPr algn="l">
              <a:lnSpc>
                <a:spcPct val="97000"/>
              </a:lnSpc>
              <a:buNone/>
              <a:defRPr sz="2700" b="1">
                <a:solidFill>
                  <a:srgbClr val="0B1F33"/>
                </a:solidFill>
                <a:latin typeface="微软雅黑" panose="020B0503020204020204" charset="-122"/>
                <a:ea typeface="微软雅黑" panose="020B0503020204020204" charset="-122"/>
                <a:cs typeface="微软雅黑" panose="020B0503020204020204" charset="-122"/>
              </a:defRPr>
            </a:pPr>
            <a:r>
              <a:rPr sz="2700" b="1">
                <a:solidFill>
                  <a:srgbClr val="0B1F33"/>
                </a:solidFill>
                <a:latin typeface="微软雅黑" panose="020B0503020204020204" charset="-122"/>
                <a:ea typeface="微软雅黑" panose="020B0503020204020204" charset="-122"/>
                <a:cs typeface="微软雅黑" panose="020B0503020204020204" charset="-122"/>
              </a:rPr>
              <a:t>值得增加复杂度。</a:t>
            </a:r>
            <a:endParaRPr sz="270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85800" y="3752850"/>
            <a:ext cx="4343400" cy="876300"/>
          </a:xfrm>
          <a:prstGeom prst="rect">
            <a:avLst/>
          </a:prstGeom>
          <a:noFill/>
          <a:ln w="0">
            <a:noFill/>
            <a:prstDash val="solid"/>
          </a:ln>
        </p:spPr>
        <p:txBody>
          <a:bodyPr wrap="square" lIns="0" tIns="0" rIns="0" bIns="0" anchor="t">
            <a:normAutofit/>
          </a:bodyPr>
          <a:lstStyle/>
          <a:p>
            <a:pPr algn="l">
              <a:lnSpc>
                <a:spcPct val="118000"/>
              </a:lnSpc>
              <a:buNone/>
              <a:defRPr sz="1425" b="0">
                <a:solidFill>
                  <a:srgbClr val="314252"/>
                </a:solidFill>
                <a:latin typeface="微软雅黑" panose="020B0503020204020204" charset="-122"/>
                <a:ea typeface="微软雅黑" panose="020B0503020204020204" charset="-122"/>
                <a:cs typeface="微软雅黑" panose="020B0503020204020204" charset="-122"/>
              </a:defRPr>
            </a:pPr>
            <a:r>
              <a:rPr sz="1425" b="0">
                <a:solidFill>
                  <a:srgbClr val="314252"/>
                </a:solidFill>
                <a:latin typeface="微软雅黑" panose="020B0503020204020204" charset="-122"/>
                <a:ea typeface="微软雅黑" panose="020B0503020204020204" charset="-122"/>
                <a:cs typeface="微软雅黑" panose="020B0503020204020204" charset="-122"/>
              </a:rPr>
              <a:t>当前最有力的经营选择，是利用已被随机实验验证的平均增量；不要为了“精准”而增加未经证实的复杂度。</a:t>
            </a:r>
            <a:endParaRPr sz="142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5905500" y="1457325"/>
            <a:ext cx="1428750" cy="209550"/>
          </a:xfrm>
          <a:prstGeom prst="rect">
            <a:avLst/>
          </a:prstGeom>
          <a:noFill/>
          <a:ln w="0">
            <a:noFill/>
            <a:prstDash val="solid"/>
          </a:ln>
        </p:spPr>
        <p:txBody>
          <a:bodyPr wrap="square" lIns="0" tIns="0" rIns="0" bIns="0" anchor="t">
            <a:normAutofit/>
          </a:bodyPr>
          <a:lstStyle/>
          <a:p>
            <a:pPr algn="l">
              <a:lnSpc>
                <a:spcPct val="105000"/>
              </a:lnSpc>
              <a:buNone/>
              <a:defRPr sz="975" b="1">
                <a:solidFill>
                  <a:srgbClr val="00A6A6"/>
                </a:solidFill>
                <a:latin typeface="微软雅黑" panose="020B0503020204020204" charset="-122"/>
                <a:ea typeface="微软雅黑" panose="020B0503020204020204" charset="-122"/>
                <a:cs typeface="微软雅黑" panose="020B0503020204020204" charset="-122"/>
              </a:defRPr>
            </a:pPr>
            <a:r>
              <a:rPr sz="975" b="1">
                <a:solidFill>
                  <a:srgbClr val="00A6A6"/>
                </a:solidFill>
                <a:latin typeface="微软雅黑" panose="020B0503020204020204" charset="-122"/>
                <a:ea typeface="微软雅黑" panose="020B0503020204020204" charset="-122"/>
                <a:cs typeface="微软雅黑" panose="020B0503020204020204" charset="-122"/>
              </a:rPr>
              <a:t>营销成效</a:t>
            </a:r>
            <a:endParaRPr sz="9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5905500" y="1704975"/>
            <a:ext cx="2381250" cy="457200"/>
          </a:xfrm>
          <a:prstGeom prst="rect">
            <a:avLst/>
          </a:prstGeom>
          <a:noFill/>
          <a:ln w="0">
            <a:noFill/>
            <a:prstDash val="solid"/>
          </a:ln>
        </p:spPr>
        <p:txBody>
          <a:bodyPr wrap="square" lIns="0" tIns="0" rIns="0" bIns="0" anchor="ctr">
            <a:normAutofit fontScale="96708"/>
          </a:bodyPr>
          <a:lstStyle/>
          <a:p>
            <a:pPr algn="l">
              <a:lnSpc>
                <a:spcPct val="105000"/>
              </a:lnSpc>
              <a:buNone/>
              <a:defRPr sz="2400" b="1">
                <a:solidFill>
                  <a:srgbClr val="0B1F33"/>
                </a:solidFill>
                <a:latin typeface="微软雅黑" panose="020B0503020204020204" charset="-122"/>
                <a:ea typeface="微软雅黑" panose="020B0503020204020204" charset="-122"/>
                <a:cs typeface="微软雅黑" panose="020B0503020204020204" charset="-122"/>
              </a:defRPr>
            </a:pPr>
            <a:r>
              <a:rPr sz="2400" b="1">
                <a:solidFill>
                  <a:srgbClr val="0B1F33"/>
                </a:solidFill>
                <a:latin typeface="微软雅黑" panose="020B0503020204020204" charset="-122"/>
                <a:ea typeface="微软雅黑" panose="020B0503020204020204" charset="-122"/>
                <a:cs typeface="微软雅黑" panose="020B0503020204020204" charset="-122"/>
              </a:rPr>
              <a:t>+0.770 / +0.424</a:t>
            </a:r>
            <a:endParaRPr sz="240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8429625" y="1666875"/>
            <a:ext cx="3048000" cy="619125"/>
          </a:xfrm>
          <a:prstGeom prst="rect">
            <a:avLst/>
          </a:prstGeom>
          <a:noFill/>
          <a:ln w="0">
            <a:noFill/>
            <a:prstDash val="solid"/>
          </a:ln>
        </p:spPr>
        <p:txBody>
          <a:bodyPr wrap="square" lIns="0" tIns="0" rIns="0" bIns="0" anchor="ctr">
            <a:normAutofit/>
          </a:bodyPr>
          <a:lstStyle/>
          <a:p>
            <a:pPr algn="l">
              <a:lnSpc>
                <a:spcPct val="112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两种邮件均带来稳健的消费金额增量。</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3" name="直接连接符 12"/>
          <p:cNvSpPr>
            <a:spLocks noGrp="1"/>
          </p:cNvSpPr>
          <p:nvPr/>
        </p:nvSpPr>
        <p:spPr>
          <a:xfrm>
            <a:off x="5905500" y="2695575"/>
            <a:ext cx="5572125" cy="953"/>
          </a:xfrm>
          <a:prstGeom prst="line">
            <a:avLst/>
          </a:prstGeom>
          <a:noFill/>
          <a:ln w="9525">
            <a:solidFill>
              <a:srgbClr val="E6ECEF"/>
            </a:solidFill>
            <a:prstDash val="solid"/>
          </a:ln>
        </p:spPr>
      </p:sp>
      <p:sp>
        <p:nvSpPr>
          <p:cNvPr id="14" name="矩形 13"/>
          <p:cNvSpPr>
            <a:spLocks noGrp="1"/>
          </p:cNvSpPr>
          <p:nvPr/>
        </p:nvSpPr>
        <p:spPr>
          <a:xfrm>
            <a:off x="5905500" y="2838450"/>
            <a:ext cx="1428750" cy="209550"/>
          </a:xfrm>
          <a:prstGeom prst="rect">
            <a:avLst/>
          </a:prstGeom>
          <a:noFill/>
          <a:ln w="0">
            <a:noFill/>
            <a:prstDash val="solid"/>
          </a:ln>
        </p:spPr>
        <p:txBody>
          <a:bodyPr wrap="square" lIns="0" tIns="0" rIns="0" bIns="0" anchor="t">
            <a:normAutofit/>
          </a:bodyPr>
          <a:lstStyle/>
          <a:p>
            <a:pPr algn="l">
              <a:lnSpc>
                <a:spcPct val="105000"/>
              </a:lnSpc>
              <a:buNone/>
              <a:defRPr sz="975" b="1">
                <a:solidFill>
                  <a:srgbClr val="173A5E"/>
                </a:solidFill>
                <a:latin typeface="微软雅黑" panose="020B0503020204020204" charset="-122"/>
                <a:ea typeface="微软雅黑" panose="020B0503020204020204" charset="-122"/>
                <a:cs typeface="微软雅黑" panose="020B0503020204020204" charset="-122"/>
              </a:defRPr>
            </a:pPr>
            <a:r>
              <a:rPr sz="975" b="1">
                <a:solidFill>
                  <a:srgbClr val="173A5E"/>
                </a:solidFill>
                <a:latin typeface="微软雅黑" panose="020B0503020204020204" charset="-122"/>
                <a:ea typeface="微软雅黑" panose="020B0503020204020204" charset="-122"/>
                <a:cs typeface="微软雅黑" panose="020B0503020204020204" charset="-122"/>
              </a:rPr>
              <a:t>精准投放</a:t>
            </a:r>
            <a:endParaRPr sz="975" b="1">
              <a:solidFill>
                <a:srgbClr val="173A5E"/>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5905500" y="3086100"/>
            <a:ext cx="2381250" cy="457200"/>
          </a:xfrm>
          <a:prstGeom prst="rect">
            <a:avLst/>
          </a:prstGeom>
          <a:noFill/>
          <a:ln w="0">
            <a:noFill/>
            <a:prstDash val="solid"/>
          </a:ln>
        </p:spPr>
        <p:txBody>
          <a:bodyPr wrap="square" lIns="0" tIns="0" rIns="0" bIns="0" anchor="ctr">
            <a:normAutofit/>
          </a:bodyPr>
          <a:lstStyle/>
          <a:p>
            <a:pPr algn="l">
              <a:lnSpc>
                <a:spcPct val="105000"/>
              </a:lnSpc>
              <a:buNone/>
              <a:defRPr sz="2400" b="1">
                <a:solidFill>
                  <a:srgbClr val="0B1F33"/>
                </a:solidFill>
                <a:latin typeface="微软雅黑" panose="020B0503020204020204" charset="-122"/>
                <a:ea typeface="微软雅黑" panose="020B0503020204020204" charset="-122"/>
                <a:cs typeface="微软雅黑" panose="020B0503020204020204" charset="-122"/>
              </a:defRPr>
            </a:pPr>
            <a:r>
              <a:rPr sz="2400" b="1">
                <a:solidFill>
                  <a:srgbClr val="0B1F33"/>
                </a:solidFill>
                <a:latin typeface="微软雅黑" panose="020B0503020204020204" charset="-122"/>
                <a:ea typeface="微软雅黑" panose="020B0503020204020204" charset="-122"/>
                <a:cs typeface="微软雅黑" panose="020B0503020204020204" charset="-122"/>
              </a:rPr>
              <a:t>0 / 7</a:t>
            </a:r>
            <a:endParaRPr sz="240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8239125" y="3048000"/>
            <a:ext cx="3238500" cy="619125"/>
          </a:xfrm>
          <a:prstGeom prst="rect">
            <a:avLst/>
          </a:prstGeom>
          <a:noFill/>
          <a:ln w="0">
            <a:noFill/>
            <a:prstDash val="solid"/>
          </a:ln>
        </p:spPr>
        <p:txBody>
          <a:bodyPr wrap="square" lIns="0" tIns="0" rIns="0" bIns="0" anchor="ctr">
            <a:normAutofit/>
          </a:bodyPr>
          <a:lstStyle/>
          <a:p>
            <a:pPr algn="l">
              <a:lnSpc>
                <a:spcPct val="112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预设调节变量经霍尔姆校正后均不支持处理效应异质性；双重稳健模型的排序证据不足。</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7" name="直接连接符 16"/>
          <p:cNvSpPr>
            <a:spLocks noGrp="1"/>
          </p:cNvSpPr>
          <p:nvPr/>
        </p:nvSpPr>
        <p:spPr>
          <a:xfrm>
            <a:off x="5905500" y="4076700"/>
            <a:ext cx="5572125" cy="953"/>
          </a:xfrm>
          <a:prstGeom prst="line">
            <a:avLst/>
          </a:prstGeom>
          <a:noFill/>
          <a:ln w="9525">
            <a:solidFill>
              <a:srgbClr val="E6ECEF"/>
            </a:solidFill>
            <a:prstDash val="solid"/>
          </a:ln>
        </p:spPr>
      </p:sp>
      <p:sp>
        <p:nvSpPr>
          <p:cNvPr id="18" name="矩形 17"/>
          <p:cNvSpPr>
            <a:spLocks noGrp="1"/>
          </p:cNvSpPr>
          <p:nvPr/>
        </p:nvSpPr>
        <p:spPr>
          <a:xfrm>
            <a:off x="5905500" y="4219575"/>
            <a:ext cx="1428750" cy="209550"/>
          </a:xfrm>
          <a:prstGeom prst="rect">
            <a:avLst/>
          </a:prstGeom>
          <a:noFill/>
          <a:ln w="0">
            <a:noFill/>
            <a:prstDash val="solid"/>
          </a:ln>
        </p:spPr>
        <p:txBody>
          <a:bodyPr wrap="square" lIns="0" tIns="0" rIns="0" bIns="0" anchor="t">
            <a:normAutofit/>
          </a:bodyPr>
          <a:lstStyle/>
          <a:p>
            <a:pPr algn="l">
              <a:lnSpc>
                <a:spcPct val="105000"/>
              </a:lnSpc>
              <a:buNone/>
              <a:defRPr sz="975" b="1">
                <a:solidFill>
                  <a:srgbClr val="EF6A5B"/>
                </a:solidFill>
                <a:latin typeface="微软雅黑" panose="020B0503020204020204" charset="-122"/>
                <a:ea typeface="微软雅黑" panose="020B0503020204020204" charset="-122"/>
                <a:cs typeface="微软雅黑" panose="020B0503020204020204" charset="-122"/>
              </a:defRPr>
            </a:pPr>
            <a:r>
              <a:rPr sz="975" b="1">
                <a:solidFill>
                  <a:srgbClr val="EF6A5B"/>
                </a:solidFill>
                <a:latin typeface="微软雅黑" panose="020B0503020204020204" charset="-122"/>
                <a:ea typeface="微软雅黑" panose="020B0503020204020204" charset="-122"/>
                <a:cs typeface="微软雅黑" panose="020B0503020204020204" charset="-122"/>
              </a:rPr>
              <a:t>经营决策</a:t>
            </a:r>
            <a:endParaRPr sz="975" b="1">
              <a:solidFill>
                <a:srgbClr val="EF6A5B"/>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905500" y="4467225"/>
            <a:ext cx="2381250" cy="457200"/>
          </a:xfrm>
          <a:prstGeom prst="rect">
            <a:avLst/>
          </a:prstGeom>
          <a:noFill/>
          <a:ln w="0">
            <a:noFill/>
            <a:prstDash val="solid"/>
          </a:ln>
        </p:spPr>
        <p:txBody>
          <a:bodyPr wrap="square" lIns="0" tIns="0" rIns="0" bIns="0" anchor="ctr">
            <a:normAutofit/>
          </a:bodyPr>
          <a:lstStyle/>
          <a:p>
            <a:pPr algn="l">
              <a:lnSpc>
                <a:spcPct val="105000"/>
              </a:lnSpc>
              <a:buNone/>
              <a:defRPr sz="2400" b="1">
                <a:solidFill>
                  <a:srgbClr val="0B1F33"/>
                </a:solidFill>
                <a:latin typeface="微软雅黑" panose="020B0503020204020204" charset="-122"/>
                <a:ea typeface="微软雅黑" panose="020B0503020204020204" charset="-122"/>
                <a:cs typeface="微软雅黑" panose="020B0503020204020204" charset="-122"/>
              </a:defRPr>
            </a:pPr>
            <a:r>
              <a:rPr sz="2400" b="1">
                <a:solidFill>
                  <a:srgbClr val="0B1F33"/>
                </a:solidFill>
                <a:latin typeface="微软雅黑" panose="020B0503020204020204" charset="-122"/>
                <a:ea typeface="微软雅黑" panose="020B0503020204020204" charset="-122"/>
                <a:cs typeface="微软雅黑" panose="020B0503020204020204" charset="-122"/>
              </a:rPr>
              <a:t>1.425｜1.346</a:t>
            </a:r>
            <a:endParaRPr sz="240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429625" y="4429125"/>
            <a:ext cx="3048000" cy="619125"/>
          </a:xfrm>
          <a:prstGeom prst="rect">
            <a:avLst/>
          </a:prstGeom>
          <a:noFill/>
          <a:ln w="0">
            <a:noFill/>
            <a:prstDash val="solid"/>
          </a:ln>
        </p:spPr>
        <p:txBody>
          <a:bodyPr wrap="square" lIns="0" tIns="0" rIns="0" bIns="0" anchor="ctr">
            <a:normAutofit/>
          </a:bodyPr>
          <a:lstStyle/>
          <a:p>
            <a:pPr algn="l">
              <a:lnSpc>
                <a:spcPct val="112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全量男装邮件与个性化策略的加权价值；个性化低 0.078。</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1" name="圆角矩形 20"/>
          <p:cNvSpPr>
            <a:spLocks noGrp="1"/>
          </p:cNvSpPr>
          <p:nvPr/>
        </p:nvSpPr>
        <p:spPr>
          <a:xfrm>
            <a:off x="5905500" y="5600700"/>
            <a:ext cx="5572125" cy="495300"/>
          </a:xfrm>
          <a:prstGeom prst="roundRect">
            <a:avLst>
              <a:gd name="adj" fmla="val 23077"/>
            </a:avLst>
          </a:prstGeom>
          <a:solidFill>
            <a:srgbClr val="FEF0ED"/>
          </a:solidFill>
          <a:ln w="0">
            <a:noFill/>
            <a:prstDash val="solid"/>
          </a:ln>
        </p:spPr>
      </p:sp>
      <p:sp>
        <p:nvSpPr>
          <p:cNvPr id="22" name="矩形 21"/>
          <p:cNvSpPr>
            <a:spLocks noGrp="1"/>
          </p:cNvSpPr>
          <p:nvPr/>
        </p:nvSpPr>
        <p:spPr>
          <a:xfrm>
            <a:off x="6096000" y="5734050"/>
            <a:ext cx="5191125" cy="247650"/>
          </a:xfrm>
          <a:prstGeom prst="rect">
            <a:avLst/>
          </a:prstGeom>
          <a:noFill/>
          <a:ln w="0">
            <a:noFill/>
            <a:prstDash val="solid"/>
          </a:ln>
        </p:spPr>
        <p:txBody>
          <a:bodyPr wrap="square" lIns="0" tIns="0" rIns="0" bIns="0" anchor="ctr">
            <a:normAutofit fontScale="87250"/>
          </a:bodyPr>
          <a:lstStyle/>
          <a:p>
            <a:pPr algn="l">
              <a:lnSpc>
                <a:spcPct val="105000"/>
              </a:lnSpc>
              <a:buNone/>
              <a:defRPr sz="1125" b="1">
                <a:solidFill>
                  <a:srgbClr val="EF6A5B"/>
                </a:solidFill>
                <a:latin typeface="微软雅黑" panose="020B0503020204020204" charset="-122"/>
                <a:ea typeface="微软雅黑" panose="020B0503020204020204" charset="-122"/>
                <a:cs typeface="微软雅黑" panose="020B0503020204020204" charset="-122"/>
              </a:defRPr>
            </a:pPr>
            <a:r>
              <a:rPr sz="1125" b="1">
                <a:solidFill>
                  <a:srgbClr val="EF6A5B"/>
                </a:solidFill>
                <a:latin typeface="微软雅黑" panose="020B0503020204020204" charset="-122"/>
                <a:ea typeface="微软雅黑" panose="020B0503020204020204" charset="-122"/>
                <a:cs typeface="微软雅黑" panose="020B0503020204020204" charset="-122"/>
              </a:rPr>
              <a:t>边界：男装邮件的点估计更高，但两种邮件的严格最大统计量置换检验显著性概率为 0.0811。</a:t>
            </a:r>
            <a:endParaRPr sz="1125" b="1">
              <a:solidFill>
                <a:srgbClr val="EF6A5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7" name="矩形 36"/>
          <p:cNvSpPr>
            <a:spLocks noGrp="1"/>
          </p:cNvSpPr>
          <p:nvPr/>
        </p:nvSpPr>
        <p:spPr>
          <a:xfrm>
            <a:off x="647700" y="371475"/>
            <a:ext cx="495300" cy="57150"/>
          </a:xfrm>
          <a:prstGeom prst="rect">
            <a:avLst/>
          </a:prstGeom>
          <a:solidFill>
            <a:srgbClr val="00A6A6"/>
          </a:solidFill>
          <a:ln w="0">
            <a:noFill/>
            <a:prstDash val="solid"/>
          </a:ln>
        </p:spPr>
      </p:sp>
      <p:sp>
        <p:nvSpPr>
          <p:cNvPr id="2" name="矩形 1"/>
          <p:cNvSpPr>
            <a:spLocks noGrp="1"/>
          </p:cNvSpPr>
          <p:nvPr/>
        </p:nvSpPr>
        <p:spPr>
          <a:xfrm>
            <a:off x="647700" y="495300"/>
            <a:ext cx="3429000" cy="228600"/>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00A6A6"/>
                </a:solidFill>
                <a:latin typeface="微软雅黑" panose="020B0503020204020204" charset="-122"/>
                <a:ea typeface="微软雅黑" panose="020B0503020204020204" charset="-122"/>
                <a:cs typeface="微软雅黑" panose="020B0503020204020204" charset="-122"/>
              </a:defRPr>
            </a:pPr>
            <a:r>
              <a:rPr sz="975" b="1">
                <a:solidFill>
                  <a:srgbClr val="00A6A6"/>
                </a:solidFill>
                <a:latin typeface="微软雅黑" panose="020B0503020204020204" charset="-122"/>
                <a:ea typeface="微软雅黑" panose="020B0503020204020204" charset="-122"/>
                <a:cs typeface="微软雅黑" panose="020B0503020204020204" charset="-122"/>
              </a:rPr>
              <a:t>实验可信度</a:t>
            </a:r>
            <a:endParaRPr sz="9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47700" y="742950"/>
            <a:ext cx="10287000" cy="495300"/>
          </a:xfrm>
          <a:prstGeom prst="rect">
            <a:avLst/>
          </a:prstGeom>
          <a:noFill/>
          <a:ln w="0">
            <a:noFill/>
            <a:prstDash val="solid"/>
          </a:ln>
        </p:spPr>
        <p:txBody>
          <a:bodyPr wrap="none" lIns="0" tIns="0" rIns="0" bIns="0" anchor="ctr">
            <a:normAutofit/>
          </a:bodyPr>
          <a:lstStyle/>
          <a:p>
            <a:pPr algn="l">
              <a:lnSpc>
                <a:spcPct val="105000"/>
              </a:lnSpc>
              <a:buNone/>
              <a:defRPr sz="2850" b="1">
                <a:solidFill>
                  <a:srgbClr val="0B1F33"/>
                </a:solidFill>
                <a:latin typeface="微软雅黑" panose="020B0503020204020204" charset="-122"/>
                <a:ea typeface="微软雅黑" panose="020B0503020204020204" charset="-122"/>
                <a:cs typeface="微软雅黑" panose="020B0503020204020204" charset="-122"/>
              </a:defRPr>
            </a:pPr>
            <a:r>
              <a:rPr sz="2850" b="1">
                <a:solidFill>
                  <a:srgbClr val="0B1F33"/>
                </a:solidFill>
                <a:latin typeface="微软雅黑" panose="020B0503020204020204" charset="-122"/>
                <a:ea typeface="微软雅黑" panose="020B0503020204020204" charset="-122"/>
                <a:cs typeface="微软雅黑" panose="020B0503020204020204" charset="-122"/>
              </a:rPr>
              <a:t>64,000 人三臂随机实验通过可信度检查</a:t>
            </a:r>
            <a:endParaRPr sz="28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4" name="矩形 3"/>
          <p:cNvSpPr>
            <a:spLocks noGrp="1"/>
          </p:cNvSpPr>
          <p:nvPr/>
        </p:nvSpPr>
        <p:spPr>
          <a:xfrm>
            <a:off x="11125200" y="495300"/>
            <a:ext cx="419100" cy="209550"/>
          </a:xfrm>
          <a:prstGeom prst="rect">
            <a:avLst/>
          </a:prstGeom>
          <a:noFill/>
          <a:ln w="0">
            <a:noFill/>
            <a:prstDash val="solid"/>
          </a:ln>
        </p:spPr>
        <p:txBody>
          <a:bodyPr wrap="square" lIns="0" tIns="0" rIns="0" bIns="0" anchor="ctr">
            <a:normAutofit/>
          </a:bodyPr>
          <a:lstStyle/>
          <a:p>
            <a:pPr algn="r">
              <a:lnSpc>
                <a:spcPct val="105000"/>
              </a:lnSpc>
              <a:buNone/>
              <a:defRPr sz="975" b="1">
                <a:solidFill>
                  <a:srgbClr val="6B7B88"/>
                </a:solidFill>
                <a:latin typeface="微软雅黑" panose="020B0503020204020204" charset="-122"/>
                <a:ea typeface="微软雅黑" panose="020B0503020204020204" charset="-122"/>
                <a:cs typeface="微软雅黑" panose="020B0503020204020204" charset="-122"/>
              </a:defRPr>
            </a:pPr>
            <a:r>
              <a:rPr sz="975" b="1">
                <a:solidFill>
                  <a:srgbClr val="6B7B88"/>
                </a:solidFill>
                <a:latin typeface="微软雅黑" panose="020B0503020204020204" charset="-122"/>
                <a:ea typeface="微软雅黑" panose="020B0503020204020204" charset="-122"/>
                <a:cs typeface="微软雅黑" panose="020B0503020204020204" charset="-122"/>
              </a:rPr>
              <a:t>03</a:t>
            </a:r>
            <a:endParaRPr sz="975"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5" name="直接连接符 4"/>
          <p:cNvSpPr>
            <a:spLocks noGrp="1"/>
          </p:cNvSpPr>
          <p:nvPr/>
        </p:nvSpPr>
        <p:spPr>
          <a:xfrm>
            <a:off x="647700" y="6276975"/>
            <a:ext cx="10896600" cy="953"/>
          </a:xfrm>
          <a:prstGeom prst="line">
            <a:avLst/>
          </a:prstGeom>
          <a:noFill/>
          <a:ln w="9525">
            <a:solidFill>
              <a:srgbClr val="E6ECEF"/>
            </a:solidFill>
            <a:prstDash val="solid"/>
          </a:ln>
        </p:spPr>
      </p:sp>
      <p:sp>
        <p:nvSpPr>
          <p:cNvPr id="6" name="矩形 5"/>
          <p:cNvSpPr>
            <a:spLocks noGrp="1"/>
          </p:cNvSpPr>
          <p:nvPr/>
        </p:nvSpPr>
        <p:spPr>
          <a:xfrm>
            <a:off x="647700" y="6381750"/>
            <a:ext cx="4857750" cy="190500"/>
          </a:xfrm>
          <a:prstGeom prst="rect">
            <a:avLst/>
          </a:prstGeom>
          <a:noFill/>
          <a:ln w="0">
            <a:noFill/>
            <a:prstDash val="solid"/>
          </a:ln>
        </p:spPr>
        <p:txBody>
          <a:bodyPr wrap="square" lIns="0" tIns="0" rIns="0" bIns="0" anchor="t">
            <a:normAutofit/>
          </a:bodyPr>
          <a:lstStyle/>
          <a:p>
            <a:pPr algn="l">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来源：经验证的Hillstorm最终分析结果</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nvSpPr>
        <p:spPr>
          <a:xfrm>
            <a:off x="7886700" y="6381750"/>
            <a:ext cx="3657600" cy="190500"/>
          </a:xfrm>
          <a:prstGeom prst="rect">
            <a:avLst/>
          </a:prstGeom>
          <a:noFill/>
          <a:ln w="0">
            <a:noFill/>
            <a:prstDash val="solid"/>
          </a:ln>
        </p:spPr>
        <p:txBody>
          <a:bodyPr wrap="square" lIns="0" tIns="0" rIns="0" bIns="0" anchor="t">
            <a:normAutofit/>
          </a:bodyPr>
          <a:lstStyle/>
          <a:p>
            <a:pPr algn="r">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每名随机客户的消费金额｜并非投资回报率</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66750" y="1457325"/>
            <a:ext cx="2571750" cy="228600"/>
          </a:xfrm>
          <a:prstGeom prst="rect">
            <a:avLst/>
          </a:prstGeom>
          <a:noFill/>
          <a:ln w="0">
            <a:noFill/>
            <a:prstDash val="solid"/>
          </a:ln>
        </p:spPr>
        <p:txBody>
          <a:bodyPr wrap="square" lIns="0" tIns="0" rIns="0" bIns="0" anchor="t">
            <a:normAutofit/>
          </a:bodyPr>
          <a:lstStyle/>
          <a:p>
            <a:pPr algn="l">
              <a:lnSpc>
                <a:spcPct val="105000"/>
              </a:lnSpc>
              <a:buNone/>
              <a:defRPr sz="1200" b="1">
                <a:solidFill>
                  <a:srgbClr val="6B7B88"/>
                </a:solidFill>
                <a:latin typeface="微软雅黑" panose="020B0503020204020204" charset="-122"/>
                <a:ea typeface="微软雅黑" panose="020B0503020204020204" charset="-122"/>
                <a:cs typeface="微软雅黑" panose="020B0503020204020204" charset="-122"/>
              </a:defRPr>
            </a:pPr>
            <a:r>
              <a:rPr sz="1200" b="1">
                <a:solidFill>
                  <a:srgbClr val="6B7B88"/>
                </a:solidFill>
                <a:latin typeface="微软雅黑" panose="020B0503020204020204" charset="-122"/>
                <a:ea typeface="微软雅黑" panose="020B0503020204020204" charset="-122"/>
                <a:cs typeface="微软雅黑" panose="020B0503020204020204" charset="-122"/>
              </a:rPr>
              <a:t>随机样本</a:t>
            </a:r>
            <a:endParaRPr sz="1200"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66750" y="1704975"/>
            <a:ext cx="2571750" cy="457200"/>
          </a:xfrm>
          <a:prstGeom prst="rect">
            <a:avLst/>
          </a:prstGeom>
          <a:noFill/>
          <a:ln w="0">
            <a:noFill/>
            <a:prstDash val="solid"/>
          </a:ln>
        </p:spPr>
        <p:txBody>
          <a:bodyPr wrap="square" lIns="0" tIns="0" rIns="0" bIns="0" anchor="ctr">
            <a:normAutofit/>
          </a:bodyPr>
          <a:lstStyle/>
          <a:p>
            <a:pPr algn="l">
              <a:lnSpc>
                <a:spcPct val="105000"/>
              </a:lnSpc>
              <a:buNone/>
              <a:defRPr sz="2550" b="1">
                <a:solidFill>
                  <a:srgbClr val="0B1F33"/>
                </a:solidFill>
                <a:latin typeface="微软雅黑" panose="020B0503020204020204" charset="-122"/>
                <a:ea typeface="微软雅黑" panose="020B0503020204020204" charset="-122"/>
                <a:cs typeface="微软雅黑" panose="020B0503020204020204" charset="-122"/>
              </a:defRPr>
            </a:pPr>
            <a:r>
              <a:rPr sz="2550" b="1">
                <a:solidFill>
                  <a:srgbClr val="0B1F33"/>
                </a:solidFill>
                <a:latin typeface="微软雅黑" panose="020B0503020204020204" charset="-122"/>
                <a:ea typeface="微软雅黑" panose="020B0503020204020204" charset="-122"/>
                <a:cs typeface="微软雅黑" panose="020B0503020204020204" charset="-122"/>
              </a:rPr>
              <a:t>64,000</a:t>
            </a:r>
            <a:endParaRPr sz="25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666750" y="2181225"/>
            <a:ext cx="2571750" cy="419100"/>
          </a:xfrm>
          <a:prstGeom prst="rect">
            <a:avLst/>
          </a:prstGeom>
          <a:noFill/>
          <a:ln w="0">
            <a:noFill/>
            <a:prstDash val="solid"/>
          </a:ln>
        </p:spPr>
        <p:txBody>
          <a:bodyPr wrap="square" lIns="0" tIns="0" rIns="0" bIns="0" anchor="t">
            <a:normAutofit fontScale="98283"/>
          </a:bodyPr>
          <a:lstStyle/>
          <a:p>
            <a:pPr algn="l">
              <a:lnSpc>
                <a:spcPct val="112000"/>
              </a:lnSpc>
              <a:buNone/>
              <a:defRPr sz="1125" b="0">
                <a:solidFill>
                  <a:srgbClr val="314252"/>
                </a:solidFill>
                <a:latin typeface="微软雅黑" panose="020B0503020204020204" charset="-122"/>
                <a:ea typeface="微软雅黑" panose="020B0503020204020204" charset="-122"/>
                <a:cs typeface="微软雅黑" panose="020B0503020204020204" charset="-122"/>
              </a:defRPr>
            </a:pPr>
            <a:r>
              <a:rPr sz="1125" b="0">
                <a:solidFill>
                  <a:srgbClr val="314252"/>
                </a:solidFill>
                <a:latin typeface="微软雅黑" panose="020B0503020204020204" charset="-122"/>
                <a:ea typeface="微软雅黑" panose="020B0503020204020204" charset="-122"/>
                <a:cs typeface="微软雅黑" panose="020B0503020204020204" charset="-122"/>
              </a:rPr>
              <a:t>三组约为 1:1:1；意向处理分析纳入全部随机客户。</a:t>
            </a:r>
            <a:endParaRPr sz="112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3638550" y="1666875"/>
            <a:ext cx="2587481" cy="457200"/>
          </a:xfrm>
          <a:prstGeom prst="rect">
            <a:avLst/>
          </a:prstGeom>
          <a:solidFill>
            <a:srgbClr val="6B7B88"/>
          </a:solidFill>
          <a:ln w="0">
            <a:noFill/>
            <a:prstDash val="solid"/>
          </a:ln>
        </p:spPr>
      </p:sp>
      <p:sp>
        <p:nvSpPr>
          <p:cNvPr id="12" name="矩形 11"/>
          <p:cNvSpPr>
            <a:spLocks noGrp="1"/>
          </p:cNvSpPr>
          <p:nvPr/>
        </p:nvSpPr>
        <p:spPr>
          <a:xfrm>
            <a:off x="3638550" y="2266950"/>
            <a:ext cx="2587481" cy="514350"/>
          </a:xfrm>
          <a:prstGeom prst="rect">
            <a:avLst/>
          </a:prstGeom>
          <a:noFill/>
          <a:ln w="0">
            <a:noFill/>
            <a:prstDash val="solid"/>
          </a:ln>
        </p:spPr>
        <p:txBody>
          <a:bodyPr wrap="square" lIns="0" tIns="0" rIns="0" bIns="0" anchor="t">
            <a:normAutofit/>
          </a:bodyPr>
          <a:lstStyle/>
          <a:p>
            <a:pPr algn="ctr">
              <a:lnSpc>
                <a:spcPct val="102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不发邮件</a:t>
            </a:r>
            <a:endParaRPr sz="1200" b="0">
              <a:solidFill>
                <a:srgbClr val="314252"/>
              </a:solidFill>
              <a:latin typeface="微软雅黑" panose="020B0503020204020204" charset="-122"/>
              <a:ea typeface="微软雅黑" panose="020B0503020204020204" charset="-122"/>
              <a:cs typeface="微软雅黑" panose="020B0503020204020204" charset="-122"/>
            </a:endParaRPr>
          </a:p>
          <a:p>
            <a:pPr algn="ctr">
              <a:lnSpc>
                <a:spcPct val="102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21,306</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226031" y="1666875"/>
            <a:ext cx="2587602" cy="457200"/>
          </a:xfrm>
          <a:prstGeom prst="rect">
            <a:avLst/>
          </a:prstGeom>
          <a:solidFill>
            <a:srgbClr val="00A6A6"/>
          </a:solidFill>
          <a:ln w="0">
            <a:noFill/>
            <a:prstDash val="solid"/>
          </a:ln>
        </p:spPr>
      </p:sp>
      <p:sp>
        <p:nvSpPr>
          <p:cNvPr id="14" name="矩形 13"/>
          <p:cNvSpPr>
            <a:spLocks noGrp="1"/>
          </p:cNvSpPr>
          <p:nvPr/>
        </p:nvSpPr>
        <p:spPr>
          <a:xfrm>
            <a:off x="6226031" y="2266950"/>
            <a:ext cx="2587602" cy="514350"/>
          </a:xfrm>
          <a:prstGeom prst="rect">
            <a:avLst/>
          </a:prstGeom>
          <a:noFill/>
          <a:ln w="0">
            <a:noFill/>
            <a:prstDash val="solid"/>
          </a:ln>
        </p:spPr>
        <p:txBody>
          <a:bodyPr wrap="square" lIns="0" tIns="0" rIns="0" bIns="0" anchor="t">
            <a:normAutofit/>
          </a:bodyPr>
          <a:lstStyle/>
          <a:p>
            <a:pPr algn="ctr">
              <a:lnSpc>
                <a:spcPct val="102000"/>
              </a:lnSpc>
              <a:buNone/>
              <a:defRPr sz="1200" b="1">
                <a:solidFill>
                  <a:srgbClr val="314252"/>
                </a:solidFill>
                <a:latin typeface="微软雅黑" panose="020B0503020204020204" charset="-122"/>
                <a:ea typeface="微软雅黑" panose="020B0503020204020204" charset="-122"/>
                <a:cs typeface="微软雅黑" panose="020B0503020204020204" charset="-122"/>
              </a:defRPr>
            </a:pPr>
            <a:r>
              <a:rPr sz="1200" b="1">
                <a:solidFill>
                  <a:srgbClr val="314252"/>
                </a:solidFill>
                <a:latin typeface="微软雅黑" panose="020B0503020204020204" charset="-122"/>
                <a:ea typeface="微软雅黑" panose="020B0503020204020204" charset="-122"/>
                <a:cs typeface="微软雅黑" panose="020B0503020204020204" charset="-122"/>
              </a:rPr>
              <a:t>男装邮件</a:t>
            </a:r>
            <a:endParaRPr sz="1200" b="1">
              <a:solidFill>
                <a:srgbClr val="314252"/>
              </a:solidFill>
              <a:latin typeface="微软雅黑" panose="020B0503020204020204" charset="-122"/>
              <a:ea typeface="微软雅黑" panose="020B0503020204020204" charset="-122"/>
              <a:cs typeface="微软雅黑" panose="020B0503020204020204" charset="-122"/>
            </a:endParaRPr>
          </a:p>
          <a:p>
            <a:pPr algn="ctr">
              <a:lnSpc>
                <a:spcPct val="102000"/>
              </a:lnSpc>
              <a:buNone/>
              <a:defRPr sz="1200" b="1">
                <a:solidFill>
                  <a:srgbClr val="314252"/>
                </a:solidFill>
                <a:latin typeface="微软雅黑" panose="020B0503020204020204" charset="-122"/>
                <a:ea typeface="微软雅黑" panose="020B0503020204020204" charset="-122"/>
                <a:cs typeface="微软雅黑" panose="020B0503020204020204" charset="-122"/>
              </a:defRPr>
            </a:pPr>
            <a:r>
              <a:rPr sz="1200" b="1">
                <a:solidFill>
                  <a:srgbClr val="314252"/>
                </a:solidFill>
                <a:latin typeface="微软雅黑" panose="020B0503020204020204" charset="-122"/>
                <a:ea typeface="微软雅黑" panose="020B0503020204020204" charset="-122"/>
                <a:cs typeface="微软雅黑" panose="020B0503020204020204" charset="-122"/>
              </a:rPr>
              <a:t>21,307</a:t>
            </a:r>
            <a:endParaRPr sz="1200"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8813633" y="1666875"/>
            <a:ext cx="2597317" cy="457200"/>
          </a:xfrm>
          <a:prstGeom prst="rect">
            <a:avLst/>
          </a:prstGeom>
          <a:solidFill>
            <a:srgbClr val="173A5E"/>
          </a:solidFill>
          <a:ln w="0">
            <a:noFill/>
            <a:prstDash val="solid"/>
          </a:ln>
        </p:spPr>
      </p:sp>
      <p:sp>
        <p:nvSpPr>
          <p:cNvPr id="16" name="矩形 15"/>
          <p:cNvSpPr>
            <a:spLocks noGrp="1"/>
          </p:cNvSpPr>
          <p:nvPr/>
        </p:nvSpPr>
        <p:spPr>
          <a:xfrm>
            <a:off x="8813633" y="2266950"/>
            <a:ext cx="2597317" cy="514350"/>
          </a:xfrm>
          <a:prstGeom prst="rect">
            <a:avLst/>
          </a:prstGeom>
          <a:noFill/>
          <a:ln w="0">
            <a:noFill/>
            <a:prstDash val="solid"/>
          </a:ln>
        </p:spPr>
        <p:txBody>
          <a:bodyPr wrap="square" lIns="0" tIns="0" rIns="0" bIns="0" anchor="t">
            <a:normAutofit/>
          </a:bodyPr>
          <a:lstStyle/>
          <a:p>
            <a:pPr algn="ctr">
              <a:lnSpc>
                <a:spcPct val="102000"/>
              </a:lnSpc>
              <a:buNone/>
              <a:defRPr sz="1200" b="1">
                <a:solidFill>
                  <a:srgbClr val="314252"/>
                </a:solidFill>
                <a:latin typeface="微软雅黑" panose="020B0503020204020204" charset="-122"/>
                <a:ea typeface="微软雅黑" panose="020B0503020204020204" charset="-122"/>
                <a:cs typeface="微软雅黑" panose="020B0503020204020204" charset="-122"/>
              </a:defRPr>
            </a:pPr>
            <a:r>
              <a:rPr sz="1200" b="1">
                <a:solidFill>
                  <a:srgbClr val="314252"/>
                </a:solidFill>
                <a:latin typeface="微软雅黑" panose="020B0503020204020204" charset="-122"/>
                <a:ea typeface="微软雅黑" panose="020B0503020204020204" charset="-122"/>
                <a:cs typeface="微软雅黑" panose="020B0503020204020204" charset="-122"/>
              </a:rPr>
              <a:t>女装邮件</a:t>
            </a:r>
            <a:endParaRPr sz="1200" b="1">
              <a:solidFill>
                <a:srgbClr val="314252"/>
              </a:solidFill>
              <a:latin typeface="微软雅黑" panose="020B0503020204020204" charset="-122"/>
              <a:ea typeface="微软雅黑" panose="020B0503020204020204" charset="-122"/>
              <a:cs typeface="微软雅黑" panose="020B0503020204020204" charset="-122"/>
            </a:endParaRPr>
          </a:p>
          <a:p>
            <a:pPr algn="ctr">
              <a:lnSpc>
                <a:spcPct val="102000"/>
              </a:lnSpc>
              <a:buNone/>
              <a:defRPr sz="1200" b="1">
                <a:solidFill>
                  <a:srgbClr val="314252"/>
                </a:solidFill>
                <a:latin typeface="微软雅黑" panose="020B0503020204020204" charset="-122"/>
                <a:ea typeface="微软雅黑" panose="020B0503020204020204" charset="-122"/>
                <a:cs typeface="微软雅黑" panose="020B0503020204020204" charset="-122"/>
              </a:defRPr>
            </a:pPr>
            <a:r>
              <a:rPr sz="1200" b="1">
                <a:solidFill>
                  <a:srgbClr val="314252"/>
                </a:solidFill>
                <a:latin typeface="微软雅黑" panose="020B0503020204020204" charset="-122"/>
                <a:ea typeface="微软雅黑" panose="020B0503020204020204" charset="-122"/>
                <a:cs typeface="微软雅黑" panose="020B0503020204020204" charset="-122"/>
              </a:rPr>
              <a:t>21,387</a:t>
            </a:r>
            <a:endParaRPr sz="1200"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3638550" y="1371600"/>
            <a:ext cx="2381250"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6B7B88"/>
                </a:solidFill>
                <a:latin typeface="微软雅黑" panose="020B0503020204020204" charset="-122"/>
                <a:ea typeface="微软雅黑" panose="020B0503020204020204" charset="-122"/>
                <a:cs typeface="微软雅黑" panose="020B0503020204020204" charset="-122"/>
              </a:defRPr>
            </a:pPr>
            <a:r>
              <a:rPr sz="1050" b="1">
                <a:solidFill>
                  <a:srgbClr val="6B7B88"/>
                </a:solidFill>
                <a:latin typeface="微软雅黑" panose="020B0503020204020204" charset="-122"/>
                <a:ea typeface="微软雅黑" panose="020B0503020204020204" charset="-122"/>
                <a:cs typeface="微软雅黑" panose="020B0503020204020204" charset="-122"/>
              </a:rPr>
              <a:t>实际分组</a:t>
            </a:r>
            <a:endParaRPr sz="1050"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18" name="直接连接符 17"/>
          <p:cNvSpPr>
            <a:spLocks noGrp="1"/>
          </p:cNvSpPr>
          <p:nvPr/>
        </p:nvSpPr>
        <p:spPr>
          <a:xfrm>
            <a:off x="647700" y="3257550"/>
            <a:ext cx="10896600" cy="953"/>
          </a:xfrm>
          <a:prstGeom prst="line">
            <a:avLst/>
          </a:prstGeom>
          <a:noFill/>
          <a:ln w="9525">
            <a:solidFill>
              <a:srgbClr val="E6ECEF"/>
            </a:solidFill>
            <a:prstDash val="solid"/>
          </a:ln>
        </p:spPr>
      </p:sp>
      <p:sp>
        <p:nvSpPr>
          <p:cNvPr id="19" name="矩形 18"/>
          <p:cNvSpPr>
            <a:spLocks noGrp="1"/>
          </p:cNvSpPr>
          <p:nvPr/>
        </p:nvSpPr>
        <p:spPr>
          <a:xfrm>
            <a:off x="685800" y="3581400"/>
            <a:ext cx="2428875"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样本比例异常检验</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685800" y="3943350"/>
            <a:ext cx="2428875" cy="400050"/>
          </a:xfrm>
          <a:prstGeom prst="rect">
            <a:avLst/>
          </a:prstGeom>
          <a:noFill/>
          <a:ln w="0">
            <a:noFill/>
            <a:prstDash val="solid"/>
          </a:ln>
        </p:spPr>
        <p:txBody>
          <a:bodyPr wrap="square" lIns="0" tIns="0" rIns="0" bIns="0" anchor="ctr">
            <a:normAutofit fontScale="90491"/>
          </a:bodyPr>
          <a:lstStyle/>
          <a:p>
            <a:pPr algn="l">
              <a:lnSpc>
                <a:spcPct val="105000"/>
              </a:lnSpc>
              <a:buNone/>
              <a:defRPr sz="2175" b="1">
                <a:solidFill>
                  <a:srgbClr val="0B1F33"/>
                </a:solidFill>
                <a:latin typeface="微软雅黑" panose="020B0503020204020204" charset="-122"/>
                <a:ea typeface="微软雅黑" panose="020B0503020204020204" charset="-122"/>
                <a:cs typeface="微软雅黑" panose="020B0503020204020204" charset="-122"/>
              </a:defRPr>
            </a:pPr>
            <a:r>
              <a:rPr sz="2175" b="1">
                <a:solidFill>
                  <a:srgbClr val="0B1F33"/>
                </a:solidFill>
                <a:latin typeface="微软雅黑" panose="020B0503020204020204" charset="-122"/>
                <a:ea typeface="微软雅黑" panose="020B0503020204020204" charset="-122"/>
                <a:cs typeface="微软雅黑" panose="020B0503020204020204" charset="-122"/>
              </a:rPr>
              <a:t>显著性概率 = 0.9037</a:t>
            </a:r>
            <a:endParaRPr sz="2175"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685800" y="4457700"/>
            <a:ext cx="2428875" cy="428625"/>
          </a:xfrm>
          <a:prstGeom prst="rect">
            <a:avLst/>
          </a:prstGeom>
          <a:noFill/>
          <a:ln w="0">
            <a:noFill/>
            <a:prstDash val="solid"/>
          </a:ln>
        </p:spPr>
        <p:txBody>
          <a:bodyPr wrap="square" lIns="0" tIns="0" rIns="0" bIns="0" anchor="t">
            <a:normAutofit/>
          </a:bodyPr>
          <a:lstStyle/>
          <a:p>
            <a:pPr algn="l">
              <a:lnSpc>
                <a:spcPct val="105000"/>
              </a:lnSpc>
              <a:buNone/>
              <a:defRPr sz="1125" b="0">
                <a:solidFill>
                  <a:srgbClr val="314252"/>
                </a:solidFill>
                <a:latin typeface="微软雅黑" panose="020B0503020204020204" charset="-122"/>
                <a:ea typeface="微软雅黑" panose="020B0503020204020204" charset="-122"/>
                <a:cs typeface="微软雅黑" panose="020B0503020204020204" charset="-122"/>
              </a:defRPr>
            </a:pPr>
            <a:r>
              <a:rPr sz="1125" b="0">
                <a:solidFill>
                  <a:srgbClr val="314252"/>
                </a:solidFill>
                <a:latin typeface="微软雅黑" panose="020B0503020204020204" charset="-122"/>
                <a:ea typeface="微软雅黑" panose="020B0503020204020204" charset="-122"/>
                <a:cs typeface="微软雅黑" panose="020B0503020204020204" charset="-122"/>
              </a:rPr>
              <a:t>无样本比例异常</a:t>
            </a:r>
            <a:endParaRPr sz="112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2" name="直接连接符 21"/>
          <p:cNvSpPr>
            <a:spLocks noGrp="1"/>
          </p:cNvSpPr>
          <p:nvPr/>
        </p:nvSpPr>
        <p:spPr>
          <a:xfrm>
            <a:off x="3228975" y="3619500"/>
            <a:ext cx="953" cy="1333500"/>
          </a:xfrm>
          <a:prstGeom prst="line">
            <a:avLst/>
          </a:prstGeom>
          <a:noFill/>
          <a:ln w="9525">
            <a:solidFill>
              <a:srgbClr val="E6ECEF"/>
            </a:solidFill>
            <a:prstDash val="solid"/>
          </a:ln>
        </p:spPr>
      </p:sp>
      <p:sp>
        <p:nvSpPr>
          <p:cNvPr id="23" name="矩形 22"/>
          <p:cNvSpPr>
            <a:spLocks noGrp="1"/>
          </p:cNvSpPr>
          <p:nvPr/>
        </p:nvSpPr>
        <p:spPr>
          <a:xfrm>
            <a:off x="3400425" y="3581400"/>
            <a:ext cx="2428875"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数值协变量平衡</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3400425" y="3943350"/>
            <a:ext cx="2428875" cy="400050"/>
          </a:xfrm>
          <a:prstGeom prst="rect">
            <a:avLst/>
          </a:prstGeom>
          <a:noFill/>
          <a:ln w="0">
            <a:noFill/>
            <a:prstDash val="solid"/>
          </a:ln>
        </p:spPr>
        <p:txBody>
          <a:bodyPr wrap="square" lIns="0" tIns="0" rIns="0" bIns="0" anchor="ctr">
            <a:normAutofit fontScale="86970"/>
          </a:bodyPr>
          <a:lstStyle/>
          <a:p>
            <a:pPr algn="l">
              <a:lnSpc>
                <a:spcPct val="105000"/>
              </a:lnSpc>
              <a:buNone/>
              <a:defRPr sz="1875" b="1">
                <a:solidFill>
                  <a:srgbClr val="0B1F33"/>
                </a:solidFill>
                <a:latin typeface="微软雅黑" panose="020B0503020204020204" charset="-122"/>
                <a:ea typeface="微软雅黑" panose="020B0503020204020204" charset="-122"/>
                <a:cs typeface="微软雅黑" panose="020B0503020204020204" charset="-122"/>
              </a:defRPr>
            </a:pPr>
            <a:r>
              <a:rPr sz="1875" b="1">
                <a:solidFill>
                  <a:srgbClr val="0B1F33"/>
                </a:solidFill>
                <a:latin typeface="微软雅黑" panose="020B0503020204020204" charset="-122"/>
                <a:ea typeface="微软雅黑" panose="020B0503020204020204" charset="-122"/>
                <a:cs typeface="微软雅黑" panose="020B0503020204020204" charset="-122"/>
              </a:rPr>
              <a:t>最大标准化均差 = 0.0076</a:t>
            </a:r>
            <a:endParaRPr sz="1875"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3400425" y="4457700"/>
            <a:ext cx="2428875" cy="428625"/>
          </a:xfrm>
          <a:prstGeom prst="rect">
            <a:avLst/>
          </a:prstGeom>
          <a:noFill/>
          <a:ln w="0">
            <a:noFill/>
            <a:prstDash val="solid"/>
          </a:ln>
        </p:spPr>
        <p:txBody>
          <a:bodyPr wrap="square" lIns="0" tIns="0" rIns="0" bIns="0" anchor="t">
            <a:normAutofit/>
          </a:bodyPr>
          <a:lstStyle/>
          <a:p>
            <a:pPr algn="l">
              <a:lnSpc>
                <a:spcPct val="105000"/>
              </a:lnSpc>
              <a:buNone/>
              <a:defRPr sz="1125" b="0">
                <a:solidFill>
                  <a:srgbClr val="314252"/>
                </a:solidFill>
                <a:latin typeface="微软雅黑" panose="020B0503020204020204" charset="-122"/>
                <a:ea typeface="微软雅黑" panose="020B0503020204020204" charset="-122"/>
                <a:cs typeface="微软雅黑" panose="020B0503020204020204" charset="-122"/>
              </a:defRPr>
            </a:pPr>
            <a:r>
              <a:rPr sz="1125" b="0">
                <a:solidFill>
                  <a:srgbClr val="314252"/>
                </a:solidFill>
                <a:latin typeface="微软雅黑" panose="020B0503020204020204" charset="-122"/>
                <a:ea typeface="微软雅黑" panose="020B0503020204020204" charset="-122"/>
                <a:cs typeface="微软雅黑" panose="020B0503020204020204" charset="-122"/>
              </a:rPr>
              <a:t>远低于常用警戒线</a:t>
            </a:r>
            <a:endParaRPr sz="112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6" name="直接连接符 25"/>
          <p:cNvSpPr>
            <a:spLocks noGrp="1"/>
          </p:cNvSpPr>
          <p:nvPr/>
        </p:nvSpPr>
        <p:spPr>
          <a:xfrm>
            <a:off x="5943600" y="3619500"/>
            <a:ext cx="953" cy="1333500"/>
          </a:xfrm>
          <a:prstGeom prst="line">
            <a:avLst/>
          </a:prstGeom>
          <a:noFill/>
          <a:ln w="9525">
            <a:solidFill>
              <a:srgbClr val="E6ECEF"/>
            </a:solidFill>
            <a:prstDash val="solid"/>
          </a:ln>
        </p:spPr>
      </p:sp>
      <p:sp>
        <p:nvSpPr>
          <p:cNvPr id="27" name="矩形 26"/>
          <p:cNvSpPr>
            <a:spLocks noGrp="1"/>
          </p:cNvSpPr>
          <p:nvPr/>
        </p:nvSpPr>
        <p:spPr>
          <a:xfrm>
            <a:off x="6115050" y="3581400"/>
            <a:ext cx="2428875"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分类协变量平衡</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6115050" y="3943350"/>
            <a:ext cx="2428875" cy="400050"/>
          </a:xfrm>
          <a:prstGeom prst="rect">
            <a:avLst/>
          </a:prstGeom>
          <a:noFill/>
          <a:ln w="0">
            <a:noFill/>
            <a:prstDash val="solid"/>
          </a:ln>
        </p:spPr>
        <p:txBody>
          <a:bodyPr wrap="square" lIns="0" tIns="0" rIns="0" bIns="0" anchor="ctr">
            <a:normAutofit fontScale="86970"/>
          </a:bodyPr>
          <a:lstStyle/>
          <a:p>
            <a:pPr algn="l">
              <a:lnSpc>
                <a:spcPct val="105000"/>
              </a:lnSpc>
              <a:buNone/>
              <a:defRPr sz="1875" b="1">
                <a:solidFill>
                  <a:srgbClr val="0B1F33"/>
                </a:solidFill>
                <a:latin typeface="微软雅黑" panose="020B0503020204020204" charset="-122"/>
                <a:ea typeface="微软雅黑" panose="020B0503020204020204" charset="-122"/>
                <a:cs typeface="微软雅黑" panose="020B0503020204020204" charset="-122"/>
              </a:defRPr>
            </a:pPr>
            <a:r>
              <a:rPr sz="1875" b="1">
                <a:solidFill>
                  <a:srgbClr val="0B1F33"/>
                </a:solidFill>
                <a:latin typeface="微软雅黑" panose="020B0503020204020204" charset="-122"/>
                <a:ea typeface="微软雅黑" panose="020B0503020204020204" charset="-122"/>
                <a:cs typeface="微软雅黑" panose="020B0503020204020204" charset="-122"/>
              </a:rPr>
              <a:t>最大克拉默系数 = 0.0101</a:t>
            </a:r>
            <a:endParaRPr sz="1875"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6115050" y="4457700"/>
            <a:ext cx="2428875" cy="428625"/>
          </a:xfrm>
          <a:prstGeom prst="rect">
            <a:avLst/>
          </a:prstGeom>
          <a:noFill/>
          <a:ln w="0">
            <a:noFill/>
            <a:prstDash val="solid"/>
          </a:ln>
        </p:spPr>
        <p:txBody>
          <a:bodyPr wrap="square" lIns="0" tIns="0" rIns="0" bIns="0" anchor="t">
            <a:normAutofit/>
          </a:bodyPr>
          <a:lstStyle/>
          <a:p>
            <a:pPr algn="l">
              <a:lnSpc>
                <a:spcPct val="105000"/>
              </a:lnSpc>
              <a:buNone/>
              <a:defRPr sz="1125" b="0">
                <a:solidFill>
                  <a:srgbClr val="314252"/>
                </a:solidFill>
                <a:latin typeface="微软雅黑" panose="020B0503020204020204" charset="-122"/>
                <a:ea typeface="微软雅黑" panose="020B0503020204020204" charset="-122"/>
                <a:cs typeface="微软雅黑" panose="020B0503020204020204" charset="-122"/>
              </a:defRPr>
            </a:pPr>
            <a:r>
              <a:rPr sz="1125" b="0">
                <a:solidFill>
                  <a:srgbClr val="314252"/>
                </a:solidFill>
                <a:latin typeface="微软雅黑" panose="020B0503020204020204" charset="-122"/>
                <a:ea typeface="微软雅黑" panose="020B0503020204020204" charset="-122"/>
                <a:cs typeface="微软雅黑" panose="020B0503020204020204" charset="-122"/>
              </a:rPr>
              <a:t>处理前分布高度一致</a:t>
            </a:r>
            <a:endParaRPr sz="112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0" name="直接连接符 29"/>
          <p:cNvSpPr>
            <a:spLocks noGrp="1"/>
          </p:cNvSpPr>
          <p:nvPr/>
        </p:nvSpPr>
        <p:spPr>
          <a:xfrm>
            <a:off x="8658225" y="3619500"/>
            <a:ext cx="953" cy="1333500"/>
          </a:xfrm>
          <a:prstGeom prst="line">
            <a:avLst/>
          </a:prstGeom>
          <a:noFill/>
          <a:ln w="9525">
            <a:solidFill>
              <a:srgbClr val="E6ECEF"/>
            </a:solidFill>
            <a:prstDash val="solid"/>
          </a:ln>
        </p:spPr>
      </p:sp>
      <p:sp>
        <p:nvSpPr>
          <p:cNvPr id="31" name="矩形 30"/>
          <p:cNvSpPr>
            <a:spLocks noGrp="1"/>
          </p:cNvSpPr>
          <p:nvPr/>
        </p:nvSpPr>
        <p:spPr>
          <a:xfrm>
            <a:off x="8829675" y="3581400"/>
            <a:ext cx="2428875"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数据完整性</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2" name="矩形 31"/>
          <p:cNvSpPr>
            <a:spLocks noGrp="1"/>
          </p:cNvSpPr>
          <p:nvPr/>
        </p:nvSpPr>
        <p:spPr>
          <a:xfrm>
            <a:off x="8829675" y="3943350"/>
            <a:ext cx="2428875" cy="400050"/>
          </a:xfrm>
          <a:prstGeom prst="rect">
            <a:avLst/>
          </a:prstGeom>
          <a:noFill/>
          <a:ln w="0">
            <a:noFill/>
            <a:prstDash val="solid"/>
          </a:ln>
        </p:spPr>
        <p:txBody>
          <a:bodyPr wrap="square" lIns="0" tIns="0" rIns="0" bIns="0" anchor="ctr">
            <a:normAutofit/>
          </a:bodyPr>
          <a:lstStyle/>
          <a:p>
            <a:pPr algn="l">
              <a:lnSpc>
                <a:spcPct val="105000"/>
              </a:lnSpc>
              <a:buNone/>
              <a:defRPr sz="2175" b="1">
                <a:solidFill>
                  <a:srgbClr val="0B1F33"/>
                </a:solidFill>
                <a:latin typeface="微软雅黑" panose="020B0503020204020204" charset="-122"/>
                <a:ea typeface="微软雅黑" panose="020B0503020204020204" charset="-122"/>
                <a:cs typeface="微软雅黑" panose="020B0503020204020204" charset="-122"/>
              </a:defRPr>
            </a:pPr>
            <a:r>
              <a:rPr sz="2175" b="1">
                <a:solidFill>
                  <a:srgbClr val="0B1F33"/>
                </a:solidFill>
                <a:latin typeface="微软雅黑" panose="020B0503020204020204" charset="-122"/>
                <a:ea typeface="微软雅黑" panose="020B0503020204020204" charset="-122"/>
                <a:cs typeface="微软雅黑" panose="020B0503020204020204" charset="-122"/>
              </a:rPr>
              <a:t>0 / 0</a:t>
            </a:r>
            <a:endParaRPr sz="2175"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8829675" y="4457700"/>
            <a:ext cx="2428875" cy="428625"/>
          </a:xfrm>
          <a:prstGeom prst="rect">
            <a:avLst/>
          </a:prstGeom>
          <a:noFill/>
          <a:ln w="0">
            <a:noFill/>
            <a:prstDash val="solid"/>
          </a:ln>
        </p:spPr>
        <p:txBody>
          <a:bodyPr wrap="square" lIns="0" tIns="0" rIns="0" bIns="0" anchor="t">
            <a:normAutofit/>
          </a:bodyPr>
          <a:lstStyle/>
          <a:p>
            <a:pPr algn="l">
              <a:lnSpc>
                <a:spcPct val="105000"/>
              </a:lnSpc>
              <a:buNone/>
              <a:defRPr sz="1125" b="0">
                <a:solidFill>
                  <a:srgbClr val="314252"/>
                </a:solidFill>
                <a:latin typeface="微软雅黑" panose="020B0503020204020204" charset="-122"/>
                <a:ea typeface="微软雅黑" panose="020B0503020204020204" charset="-122"/>
                <a:cs typeface="微软雅黑" panose="020B0503020204020204" charset="-122"/>
              </a:defRPr>
            </a:pPr>
            <a:r>
              <a:rPr sz="1125" b="0">
                <a:solidFill>
                  <a:srgbClr val="314252"/>
                </a:solidFill>
                <a:latin typeface="微软雅黑" panose="020B0503020204020204" charset="-122"/>
                <a:ea typeface="微软雅黑" panose="020B0503020204020204" charset="-122"/>
                <a:cs typeface="微软雅黑" panose="020B0503020204020204" charset="-122"/>
              </a:rPr>
              <a:t>关键缺失 / 结果逻辑违规</a:t>
            </a:r>
            <a:endParaRPr sz="112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4" name="圆角矩形 33"/>
          <p:cNvSpPr>
            <a:spLocks noGrp="1"/>
          </p:cNvSpPr>
          <p:nvPr/>
        </p:nvSpPr>
        <p:spPr>
          <a:xfrm>
            <a:off x="685800" y="5267325"/>
            <a:ext cx="10801350" cy="685800"/>
          </a:xfrm>
          <a:prstGeom prst="roundRect">
            <a:avLst>
              <a:gd name="adj" fmla="val 16667"/>
            </a:avLst>
          </a:prstGeom>
          <a:solidFill>
            <a:srgbClr val="F4F7F8"/>
          </a:solidFill>
          <a:ln w="9525">
            <a:solidFill>
              <a:srgbClr val="E6ECEF"/>
            </a:solidFill>
            <a:prstDash val="solid"/>
          </a:ln>
        </p:spPr>
      </p:sp>
      <p:sp>
        <p:nvSpPr>
          <p:cNvPr id="35" name="矩形 34"/>
          <p:cNvSpPr>
            <a:spLocks noGrp="1"/>
          </p:cNvSpPr>
          <p:nvPr/>
        </p:nvSpPr>
        <p:spPr>
          <a:xfrm>
            <a:off x="876300" y="5448300"/>
            <a:ext cx="1047750" cy="228600"/>
          </a:xfrm>
          <a:prstGeom prst="rect">
            <a:avLst/>
          </a:prstGeom>
          <a:noFill/>
          <a:ln w="0">
            <a:noFill/>
            <a:prstDash val="solid"/>
          </a:ln>
        </p:spPr>
        <p:txBody>
          <a:bodyPr wrap="square" lIns="0" tIns="0" rIns="0" bIns="0" anchor="t">
            <a:normAutofit/>
          </a:bodyPr>
          <a:lstStyle/>
          <a:p>
            <a:pPr algn="l">
              <a:lnSpc>
                <a:spcPct val="105000"/>
              </a:lnSpc>
              <a:buNone/>
              <a:defRPr sz="1125" b="1">
                <a:solidFill>
                  <a:srgbClr val="EF6A5B"/>
                </a:solidFill>
                <a:latin typeface="微软雅黑" panose="020B0503020204020204" charset="-122"/>
                <a:ea typeface="微软雅黑" panose="020B0503020204020204" charset="-122"/>
                <a:cs typeface="微软雅黑" panose="020B0503020204020204" charset="-122"/>
              </a:defRPr>
            </a:pPr>
            <a:r>
              <a:rPr sz="1125" b="1">
                <a:solidFill>
                  <a:srgbClr val="EF6A5B"/>
                </a:solidFill>
                <a:latin typeface="微软雅黑" panose="020B0503020204020204" charset="-122"/>
                <a:ea typeface="微软雅黑" panose="020B0503020204020204" charset="-122"/>
                <a:cs typeface="微软雅黑" panose="020B0503020204020204" charset="-122"/>
              </a:rPr>
              <a:t>数据边界</a:t>
            </a:r>
            <a:endParaRPr sz="1125" b="1">
              <a:solidFill>
                <a:srgbClr val="EF6A5B"/>
              </a:solidFill>
              <a:latin typeface="微软雅黑" panose="020B0503020204020204" charset="-122"/>
              <a:ea typeface="微软雅黑" panose="020B0503020204020204" charset="-122"/>
              <a:cs typeface="微软雅黑" panose="020B0503020204020204" charset="-122"/>
            </a:endParaRPr>
          </a:p>
        </p:txBody>
      </p:sp>
      <p:sp>
        <p:nvSpPr>
          <p:cNvPr id="36" name="矩形 35"/>
          <p:cNvSpPr>
            <a:spLocks noGrp="1"/>
          </p:cNvSpPr>
          <p:nvPr/>
        </p:nvSpPr>
        <p:spPr>
          <a:xfrm>
            <a:off x="1885950" y="5410200"/>
            <a:ext cx="9334500" cy="381000"/>
          </a:xfrm>
          <a:prstGeom prst="rect">
            <a:avLst/>
          </a:prstGeom>
          <a:noFill/>
          <a:ln w="0">
            <a:noFill/>
            <a:prstDash val="solid"/>
          </a:ln>
        </p:spPr>
        <p:txBody>
          <a:bodyPr wrap="square" lIns="0" tIns="0" rIns="0" bIns="0" anchor="ctr">
            <a:normAutofit/>
          </a:bodyPr>
          <a:lstStyle/>
          <a:p>
            <a:pPr algn="l">
              <a:lnSpc>
                <a:spcPct val="105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6,562 条完全重复记录被保留：缺少客户编号，无法确认其为重复实验单位，删除反而可能引入偏差。</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4" name="矩形 33"/>
          <p:cNvSpPr>
            <a:spLocks noGrp="1"/>
          </p:cNvSpPr>
          <p:nvPr/>
        </p:nvSpPr>
        <p:spPr>
          <a:xfrm>
            <a:off x="647700" y="371475"/>
            <a:ext cx="495300" cy="57150"/>
          </a:xfrm>
          <a:prstGeom prst="rect">
            <a:avLst/>
          </a:prstGeom>
          <a:solidFill>
            <a:srgbClr val="00A6A6"/>
          </a:solidFill>
          <a:ln w="0">
            <a:noFill/>
            <a:prstDash val="solid"/>
          </a:ln>
        </p:spPr>
      </p:sp>
      <p:sp>
        <p:nvSpPr>
          <p:cNvPr id="2" name="矩形 1"/>
          <p:cNvSpPr>
            <a:spLocks noGrp="1"/>
          </p:cNvSpPr>
          <p:nvPr/>
        </p:nvSpPr>
        <p:spPr>
          <a:xfrm>
            <a:off x="647700" y="495300"/>
            <a:ext cx="3429000" cy="228600"/>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00A6A6"/>
                </a:solidFill>
                <a:latin typeface="微软雅黑" panose="020B0503020204020204" charset="-122"/>
                <a:ea typeface="微软雅黑" panose="020B0503020204020204" charset="-122"/>
                <a:cs typeface="微软雅黑" panose="020B0503020204020204" charset="-122"/>
              </a:defRPr>
            </a:pPr>
            <a:r>
              <a:rPr sz="975" b="1">
                <a:solidFill>
                  <a:srgbClr val="00A6A6"/>
                </a:solidFill>
                <a:latin typeface="微软雅黑" panose="020B0503020204020204" charset="-122"/>
                <a:ea typeface="微软雅黑" panose="020B0503020204020204" charset="-122"/>
                <a:cs typeface="微软雅黑" panose="020B0503020204020204" charset="-122"/>
              </a:rPr>
              <a:t>平均处理效应</a:t>
            </a:r>
            <a:endParaRPr sz="9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47700" y="742950"/>
            <a:ext cx="10287000" cy="495300"/>
          </a:xfrm>
          <a:prstGeom prst="rect">
            <a:avLst/>
          </a:prstGeom>
          <a:noFill/>
          <a:ln w="0">
            <a:noFill/>
            <a:prstDash val="solid"/>
          </a:ln>
        </p:spPr>
        <p:txBody>
          <a:bodyPr wrap="none" lIns="0" tIns="0" rIns="0" bIns="0" anchor="ctr">
            <a:normAutofit/>
          </a:bodyPr>
          <a:lstStyle/>
          <a:p>
            <a:pPr algn="l">
              <a:lnSpc>
                <a:spcPct val="105000"/>
              </a:lnSpc>
              <a:buNone/>
              <a:defRPr sz="2850" b="1">
                <a:solidFill>
                  <a:srgbClr val="0B1F33"/>
                </a:solidFill>
                <a:latin typeface="微软雅黑" panose="020B0503020204020204" charset="-122"/>
                <a:ea typeface="微软雅黑" panose="020B0503020204020204" charset="-122"/>
                <a:cs typeface="微软雅黑" panose="020B0503020204020204" charset="-122"/>
              </a:defRPr>
            </a:pPr>
            <a:r>
              <a:rPr sz="2850" b="1">
                <a:solidFill>
                  <a:srgbClr val="0B1F33"/>
                </a:solidFill>
                <a:latin typeface="微软雅黑" panose="020B0503020204020204" charset="-122"/>
                <a:ea typeface="微软雅黑" panose="020B0503020204020204" charset="-122"/>
                <a:cs typeface="微软雅黑" panose="020B0503020204020204" charset="-122"/>
              </a:rPr>
              <a:t>两种邮件均提升消费金额；男装邮件的点估计最高</a:t>
            </a:r>
            <a:endParaRPr sz="28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4" name="矩形 3"/>
          <p:cNvSpPr>
            <a:spLocks noGrp="1"/>
          </p:cNvSpPr>
          <p:nvPr/>
        </p:nvSpPr>
        <p:spPr>
          <a:xfrm>
            <a:off x="11125200" y="495300"/>
            <a:ext cx="419100" cy="209550"/>
          </a:xfrm>
          <a:prstGeom prst="rect">
            <a:avLst/>
          </a:prstGeom>
          <a:noFill/>
          <a:ln w="0">
            <a:noFill/>
            <a:prstDash val="solid"/>
          </a:ln>
        </p:spPr>
        <p:txBody>
          <a:bodyPr wrap="square" lIns="0" tIns="0" rIns="0" bIns="0" anchor="ctr">
            <a:normAutofit/>
          </a:bodyPr>
          <a:lstStyle/>
          <a:p>
            <a:pPr algn="r">
              <a:lnSpc>
                <a:spcPct val="105000"/>
              </a:lnSpc>
              <a:buNone/>
              <a:defRPr sz="975" b="1">
                <a:solidFill>
                  <a:srgbClr val="6B7B88"/>
                </a:solidFill>
                <a:latin typeface="微软雅黑" panose="020B0503020204020204" charset="-122"/>
                <a:ea typeface="微软雅黑" panose="020B0503020204020204" charset="-122"/>
                <a:cs typeface="微软雅黑" panose="020B0503020204020204" charset="-122"/>
              </a:defRPr>
            </a:pPr>
            <a:r>
              <a:rPr sz="975" b="1">
                <a:solidFill>
                  <a:srgbClr val="6B7B88"/>
                </a:solidFill>
                <a:latin typeface="微软雅黑" panose="020B0503020204020204" charset="-122"/>
                <a:ea typeface="微软雅黑" panose="020B0503020204020204" charset="-122"/>
                <a:cs typeface="微软雅黑" panose="020B0503020204020204" charset="-122"/>
              </a:rPr>
              <a:t>04</a:t>
            </a:r>
            <a:endParaRPr sz="975"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5" name="直接连接符 4"/>
          <p:cNvSpPr>
            <a:spLocks noGrp="1"/>
          </p:cNvSpPr>
          <p:nvPr/>
        </p:nvSpPr>
        <p:spPr>
          <a:xfrm>
            <a:off x="647700" y="6276975"/>
            <a:ext cx="10896600" cy="953"/>
          </a:xfrm>
          <a:prstGeom prst="line">
            <a:avLst/>
          </a:prstGeom>
          <a:noFill/>
          <a:ln w="9525">
            <a:solidFill>
              <a:srgbClr val="E6ECEF"/>
            </a:solidFill>
            <a:prstDash val="solid"/>
          </a:ln>
        </p:spPr>
      </p:sp>
      <p:sp>
        <p:nvSpPr>
          <p:cNvPr id="6" name="矩形 5"/>
          <p:cNvSpPr>
            <a:spLocks noGrp="1"/>
          </p:cNvSpPr>
          <p:nvPr/>
        </p:nvSpPr>
        <p:spPr>
          <a:xfrm>
            <a:off x="647700" y="6381750"/>
            <a:ext cx="4857750" cy="190500"/>
          </a:xfrm>
          <a:prstGeom prst="rect">
            <a:avLst/>
          </a:prstGeom>
          <a:noFill/>
          <a:ln w="0">
            <a:noFill/>
            <a:prstDash val="solid"/>
          </a:ln>
        </p:spPr>
        <p:txBody>
          <a:bodyPr wrap="square" lIns="0" tIns="0" rIns="0" bIns="0" anchor="t">
            <a:normAutofit/>
          </a:bodyPr>
          <a:lstStyle/>
          <a:p>
            <a:pPr algn="l">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来源：经验证的Hillstorm最终分析结果</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nvSpPr>
        <p:spPr>
          <a:xfrm>
            <a:off x="7886700" y="6381750"/>
            <a:ext cx="3657600" cy="190500"/>
          </a:xfrm>
          <a:prstGeom prst="rect">
            <a:avLst/>
          </a:prstGeom>
          <a:noFill/>
          <a:ln w="0">
            <a:noFill/>
            <a:prstDash val="solid"/>
          </a:ln>
        </p:spPr>
        <p:txBody>
          <a:bodyPr wrap="square" lIns="0" tIns="0" rIns="0" bIns="0" anchor="t">
            <a:normAutofit/>
          </a:bodyPr>
          <a:lstStyle/>
          <a:p>
            <a:pPr algn="r">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每名随机客户的消费金额｜并非投资回报率</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66750" y="1381125"/>
            <a:ext cx="4000500" cy="266700"/>
          </a:xfrm>
          <a:prstGeom prst="rect">
            <a:avLst/>
          </a:prstGeom>
          <a:noFill/>
          <a:ln w="0">
            <a:noFill/>
            <a:prstDash val="solid"/>
          </a:ln>
        </p:spPr>
        <p:txBody>
          <a:bodyPr wrap="square" lIns="0" tIns="0" rIns="0" bIns="0" anchor="t">
            <a:normAutofit/>
          </a:bodyPr>
          <a:lstStyle/>
          <a:p>
            <a:pPr algn="l">
              <a:lnSpc>
                <a:spcPct val="105000"/>
              </a:lnSpc>
              <a:buNone/>
              <a:defRPr sz="1200" b="1">
                <a:solidFill>
                  <a:srgbClr val="6B7B88"/>
                </a:solidFill>
                <a:latin typeface="微软雅黑" panose="020B0503020204020204" charset="-122"/>
                <a:ea typeface="微软雅黑" panose="020B0503020204020204" charset="-122"/>
                <a:cs typeface="微软雅黑" panose="020B0503020204020204" charset="-122"/>
              </a:defRPr>
            </a:pPr>
            <a:r>
              <a:rPr sz="1200" b="1">
                <a:solidFill>
                  <a:srgbClr val="6B7B88"/>
                </a:solidFill>
                <a:latin typeface="微软雅黑" panose="020B0503020204020204" charset="-122"/>
                <a:ea typeface="微软雅黑" panose="020B0503020204020204" charset="-122"/>
                <a:cs typeface="微软雅黑" panose="020B0503020204020204" charset="-122"/>
              </a:rPr>
              <a:t>每名随机客户的消费金额</a:t>
            </a:r>
            <a:endParaRPr sz="1200" b="1">
              <a:solidFill>
                <a:srgbClr val="6B7B88"/>
              </a:solidFill>
              <a:latin typeface="微软雅黑" panose="020B0503020204020204" charset="-122"/>
              <a:ea typeface="微软雅黑" panose="020B0503020204020204" charset="-122"/>
              <a:cs typeface="微软雅黑" panose="020B0503020204020204" charset="-122"/>
            </a:endParaRPr>
          </a:p>
        </p:txBody>
      </p:sp>
      <p:graphicFrame>
        <p:nvGraphicFramePr>
          <p:cNvPr id="44" name="Chart"/>
          <p:cNvGraphicFramePr/>
          <p:nvPr/>
        </p:nvGraphicFramePr>
        <p:xfrm>
          <a:off x="609600" y="1695450"/>
          <a:ext cx="5905500" cy="3143250"/>
        </p:xfrm>
        <a:graphic>
          <a:graphicData uri="http://schemas.openxmlformats.org/drawingml/2006/chart">
            <c:chart xmlns:c="http://schemas.openxmlformats.org/drawingml/2006/chart" xmlns:r="http://schemas.openxmlformats.org/officeDocument/2006/relationships" r:id="rId1"/>
          </a:graphicData>
        </a:graphic>
      </p:graphicFrame>
      <p:sp>
        <p:nvSpPr>
          <p:cNvPr id="10" name="矩形 9"/>
          <p:cNvSpPr>
            <a:spLocks noGrp="1"/>
          </p:cNvSpPr>
          <p:nvPr/>
        </p:nvSpPr>
        <p:spPr>
          <a:xfrm>
            <a:off x="7086600" y="1438275"/>
            <a:ext cx="2381250"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主要对比</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7086600" y="1809750"/>
            <a:ext cx="2095500" cy="438150"/>
          </a:xfrm>
          <a:prstGeom prst="rect">
            <a:avLst/>
          </a:prstGeom>
          <a:noFill/>
          <a:ln w="0">
            <a:noFill/>
            <a:prstDash val="solid"/>
          </a:ln>
        </p:spPr>
        <p:txBody>
          <a:bodyPr wrap="square" lIns="0" tIns="0" rIns="0" bIns="0" anchor="t">
            <a:normAutofit/>
          </a:bodyPr>
          <a:lstStyle/>
          <a:p>
            <a:pPr algn="l">
              <a:lnSpc>
                <a:spcPct val="105000"/>
              </a:lnSpc>
              <a:buNone/>
              <a:defRPr sz="2550" b="1">
                <a:solidFill>
                  <a:srgbClr val="00A6A6"/>
                </a:solidFill>
                <a:latin typeface="微软雅黑" panose="020B0503020204020204" charset="-122"/>
                <a:ea typeface="微软雅黑" panose="020B0503020204020204" charset="-122"/>
                <a:cs typeface="微软雅黑" panose="020B0503020204020204" charset="-122"/>
              </a:defRPr>
            </a:pPr>
            <a:r>
              <a:rPr sz="2550" b="1">
                <a:solidFill>
                  <a:srgbClr val="00A6A6"/>
                </a:solidFill>
                <a:latin typeface="微软雅黑" panose="020B0503020204020204" charset="-122"/>
                <a:ea typeface="微软雅黑" panose="020B0503020204020204" charset="-122"/>
                <a:cs typeface="微软雅黑" panose="020B0503020204020204" charset="-122"/>
              </a:rPr>
              <a:t>+0.770</a:t>
            </a:r>
            <a:endParaRPr sz="25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9220200" y="1866900"/>
            <a:ext cx="2095500" cy="266700"/>
          </a:xfrm>
          <a:prstGeom prst="rect">
            <a:avLst/>
          </a:prstGeom>
          <a:noFill/>
          <a:ln w="0">
            <a:noFill/>
            <a:prstDash val="solid"/>
          </a:ln>
        </p:spPr>
        <p:txBody>
          <a:bodyPr wrap="square" lIns="0" tIns="0" rIns="0" bIns="0" anchor="t">
            <a:normAutofit/>
          </a:bodyPr>
          <a:lstStyle/>
          <a:p>
            <a:pPr algn="l">
              <a:lnSpc>
                <a:spcPct val="105000"/>
              </a:lnSpc>
              <a:buNone/>
              <a:defRPr sz="1275" b="1">
                <a:solidFill>
                  <a:srgbClr val="17222E"/>
                </a:solidFill>
                <a:latin typeface="微软雅黑" panose="020B0503020204020204" charset="-122"/>
                <a:ea typeface="微软雅黑" panose="020B0503020204020204" charset="-122"/>
                <a:cs typeface="微软雅黑" panose="020B0503020204020204" charset="-122"/>
              </a:defRPr>
            </a:pPr>
            <a:r>
              <a:rPr sz="1275" b="1">
                <a:solidFill>
                  <a:srgbClr val="17222E"/>
                </a:solidFill>
                <a:latin typeface="微软雅黑" panose="020B0503020204020204" charset="-122"/>
                <a:ea typeface="微软雅黑" panose="020B0503020204020204" charset="-122"/>
                <a:cs typeface="微软雅黑" panose="020B0503020204020204" charset="-122"/>
              </a:rPr>
              <a:t>男装邮件 对比 不发邮件</a:t>
            </a:r>
            <a:endParaRPr sz="127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7086600" y="2305050"/>
            <a:ext cx="4191000" cy="266700"/>
          </a:xfrm>
          <a:prstGeom prst="rect">
            <a:avLst/>
          </a:prstGeom>
          <a:noFill/>
          <a:ln w="0">
            <a:noFill/>
            <a:prstDash val="solid"/>
          </a:ln>
        </p:spPr>
        <p:txBody>
          <a:bodyPr wrap="square" lIns="0" tIns="0" rIns="0" bIns="0" anchor="t">
            <a:normAutofit/>
          </a:bodyPr>
          <a:lstStyle/>
          <a:p>
            <a:pPr algn="l">
              <a:lnSpc>
                <a:spcPct val="105000"/>
              </a:lnSpc>
              <a:buNone/>
              <a:defRPr sz="1125" b="0">
                <a:solidFill>
                  <a:srgbClr val="314252"/>
                </a:solidFill>
                <a:latin typeface="微软雅黑" panose="020B0503020204020204" charset="-122"/>
                <a:ea typeface="微软雅黑" panose="020B0503020204020204" charset="-122"/>
                <a:cs typeface="微软雅黑" panose="020B0503020204020204" charset="-122"/>
              </a:defRPr>
            </a:pPr>
            <a:r>
              <a:rPr sz="1125" b="0">
                <a:solidFill>
                  <a:srgbClr val="314252"/>
                </a:solidFill>
                <a:latin typeface="微软雅黑" panose="020B0503020204020204" charset="-122"/>
                <a:ea typeface="微软雅黑" panose="020B0503020204020204" charset="-122"/>
                <a:cs typeface="微软雅黑" panose="020B0503020204020204" charset="-122"/>
              </a:rPr>
              <a:t>95%置信区间 [0.485, 1.055]｜霍尔姆校正显著性概率 &lt; 0.001</a:t>
            </a:r>
            <a:endParaRPr sz="112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4" name="直接连接符 13"/>
          <p:cNvSpPr>
            <a:spLocks noGrp="1"/>
          </p:cNvSpPr>
          <p:nvPr/>
        </p:nvSpPr>
        <p:spPr>
          <a:xfrm>
            <a:off x="7086600" y="2752725"/>
            <a:ext cx="4267200" cy="953"/>
          </a:xfrm>
          <a:prstGeom prst="line">
            <a:avLst/>
          </a:prstGeom>
          <a:noFill/>
          <a:ln w="9525">
            <a:solidFill>
              <a:srgbClr val="E6ECEF"/>
            </a:solidFill>
            <a:prstDash val="solid"/>
          </a:ln>
        </p:spPr>
      </p:sp>
      <p:sp>
        <p:nvSpPr>
          <p:cNvPr id="15" name="矩形 14"/>
          <p:cNvSpPr>
            <a:spLocks noGrp="1"/>
          </p:cNvSpPr>
          <p:nvPr/>
        </p:nvSpPr>
        <p:spPr>
          <a:xfrm>
            <a:off x="7086600" y="3019425"/>
            <a:ext cx="2095500" cy="438150"/>
          </a:xfrm>
          <a:prstGeom prst="rect">
            <a:avLst/>
          </a:prstGeom>
          <a:noFill/>
          <a:ln w="0">
            <a:noFill/>
            <a:prstDash val="solid"/>
          </a:ln>
        </p:spPr>
        <p:txBody>
          <a:bodyPr wrap="square" lIns="0" tIns="0" rIns="0" bIns="0" anchor="t">
            <a:normAutofit/>
          </a:bodyPr>
          <a:lstStyle/>
          <a:p>
            <a:pPr algn="l">
              <a:lnSpc>
                <a:spcPct val="105000"/>
              </a:lnSpc>
              <a:buNone/>
              <a:defRPr sz="2550" b="1">
                <a:solidFill>
                  <a:srgbClr val="173A5E"/>
                </a:solidFill>
                <a:latin typeface="微软雅黑" panose="020B0503020204020204" charset="-122"/>
                <a:ea typeface="微软雅黑" panose="020B0503020204020204" charset="-122"/>
                <a:cs typeface="微软雅黑" panose="020B0503020204020204" charset="-122"/>
              </a:defRPr>
            </a:pPr>
            <a:r>
              <a:rPr sz="2550" b="1">
                <a:solidFill>
                  <a:srgbClr val="173A5E"/>
                </a:solidFill>
                <a:latin typeface="微软雅黑" panose="020B0503020204020204" charset="-122"/>
                <a:ea typeface="微软雅黑" panose="020B0503020204020204" charset="-122"/>
                <a:cs typeface="微软雅黑" panose="020B0503020204020204" charset="-122"/>
              </a:rPr>
              <a:t>+0.424</a:t>
            </a:r>
            <a:endParaRPr sz="2550" b="1">
              <a:solidFill>
                <a:srgbClr val="173A5E"/>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9220200" y="3076575"/>
            <a:ext cx="2095500" cy="266700"/>
          </a:xfrm>
          <a:prstGeom prst="rect">
            <a:avLst/>
          </a:prstGeom>
          <a:noFill/>
          <a:ln w="0">
            <a:noFill/>
            <a:prstDash val="solid"/>
          </a:ln>
        </p:spPr>
        <p:txBody>
          <a:bodyPr wrap="square" lIns="0" tIns="0" rIns="0" bIns="0" anchor="t">
            <a:normAutofit/>
          </a:bodyPr>
          <a:lstStyle/>
          <a:p>
            <a:pPr algn="l">
              <a:lnSpc>
                <a:spcPct val="105000"/>
              </a:lnSpc>
              <a:buNone/>
              <a:defRPr sz="1275" b="1">
                <a:solidFill>
                  <a:srgbClr val="17222E"/>
                </a:solidFill>
                <a:latin typeface="微软雅黑" panose="020B0503020204020204" charset="-122"/>
                <a:ea typeface="微软雅黑" panose="020B0503020204020204" charset="-122"/>
                <a:cs typeface="微软雅黑" panose="020B0503020204020204" charset="-122"/>
              </a:defRPr>
            </a:pPr>
            <a:r>
              <a:rPr sz="1275" b="1">
                <a:solidFill>
                  <a:srgbClr val="17222E"/>
                </a:solidFill>
                <a:latin typeface="微软雅黑" panose="020B0503020204020204" charset="-122"/>
                <a:ea typeface="微软雅黑" panose="020B0503020204020204" charset="-122"/>
                <a:cs typeface="微软雅黑" panose="020B0503020204020204" charset="-122"/>
              </a:rPr>
              <a:t>女装邮件 对比 不发邮件</a:t>
            </a:r>
            <a:endParaRPr sz="127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7086600" y="3514725"/>
            <a:ext cx="4191000" cy="266700"/>
          </a:xfrm>
          <a:prstGeom prst="rect">
            <a:avLst/>
          </a:prstGeom>
          <a:noFill/>
          <a:ln w="0">
            <a:noFill/>
            <a:prstDash val="solid"/>
          </a:ln>
        </p:spPr>
        <p:txBody>
          <a:bodyPr wrap="square" lIns="0" tIns="0" rIns="0" bIns="0" anchor="t">
            <a:normAutofit/>
          </a:bodyPr>
          <a:lstStyle/>
          <a:p>
            <a:pPr algn="l">
              <a:lnSpc>
                <a:spcPct val="105000"/>
              </a:lnSpc>
              <a:buNone/>
              <a:defRPr sz="1125" b="0">
                <a:solidFill>
                  <a:srgbClr val="314252"/>
                </a:solidFill>
                <a:latin typeface="微软雅黑" panose="020B0503020204020204" charset="-122"/>
                <a:ea typeface="微软雅黑" panose="020B0503020204020204" charset="-122"/>
                <a:cs typeface="微软雅黑" panose="020B0503020204020204" charset="-122"/>
              </a:defRPr>
            </a:pPr>
            <a:r>
              <a:rPr sz="1125" b="0">
                <a:solidFill>
                  <a:srgbClr val="314252"/>
                </a:solidFill>
                <a:latin typeface="微软雅黑" panose="020B0503020204020204" charset="-122"/>
                <a:ea typeface="微软雅黑" panose="020B0503020204020204" charset="-122"/>
                <a:cs typeface="微软雅黑" panose="020B0503020204020204" charset="-122"/>
              </a:rPr>
              <a:t>95%置信区间 [0.169, 0.680]｜霍尔姆校正显著性概率 = 0.0023</a:t>
            </a:r>
            <a:endParaRPr sz="112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8" name="圆角矩形 17"/>
          <p:cNvSpPr>
            <a:spLocks noGrp="1"/>
          </p:cNvSpPr>
          <p:nvPr/>
        </p:nvSpPr>
        <p:spPr>
          <a:xfrm>
            <a:off x="7086600" y="4029075"/>
            <a:ext cx="4267200" cy="800100"/>
          </a:xfrm>
          <a:prstGeom prst="roundRect">
            <a:avLst>
              <a:gd name="adj" fmla="val 14286"/>
            </a:avLst>
          </a:prstGeom>
          <a:solidFill>
            <a:srgbClr val="FEF0ED"/>
          </a:solidFill>
          <a:ln w="0">
            <a:noFill/>
            <a:prstDash val="solid"/>
          </a:ln>
        </p:spPr>
      </p:sp>
      <p:sp>
        <p:nvSpPr>
          <p:cNvPr id="19" name="矩形 18"/>
          <p:cNvSpPr>
            <a:spLocks noGrp="1"/>
          </p:cNvSpPr>
          <p:nvPr/>
        </p:nvSpPr>
        <p:spPr>
          <a:xfrm>
            <a:off x="7258050" y="4191000"/>
            <a:ext cx="1714500" cy="209550"/>
          </a:xfrm>
          <a:prstGeom prst="rect">
            <a:avLst/>
          </a:prstGeom>
          <a:noFill/>
          <a:ln w="0">
            <a:noFill/>
            <a:prstDash val="solid"/>
          </a:ln>
        </p:spPr>
        <p:txBody>
          <a:bodyPr wrap="square" lIns="0" tIns="0" rIns="0" bIns="0" anchor="t">
            <a:normAutofit/>
          </a:bodyPr>
          <a:lstStyle/>
          <a:p>
            <a:pPr algn="l">
              <a:lnSpc>
                <a:spcPct val="105000"/>
              </a:lnSpc>
              <a:buNone/>
              <a:defRPr sz="1125" b="1">
                <a:solidFill>
                  <a:srgbClr val="EF6A5B"/>
                </a:solidFill>
                <a:latin typeface="微软雅黑" panose="020B0503020204020204" charset="-122"/>
                <a:ea typeface="微软雅黑" panose="020B0503020204020204" charset="-122"/>
                <a:cs typeface="微软雅黑" panose="020B0503020204020204" charset="-122"/>
              </a:defRPr>
            </a:pPr>
            <a:r>
              <a:rPr sz="1125" b="1">
                <a:solidFill>
                  <a:srgbClr val="EF6A5B"/>
                </a:solidFill>
                <a:latin typeface="微软雅黑" panose="020B0503020204020204" charset="-122"/>
                <a:ea typeface="微软雅黑" panose="020B0503020204020204" charset="-122"/>
                <a:cs typeface="微软雅黑" panose="020B0503020204020204" charset="-122"/>
              </a:rPr>
              <a:t>男装邮件 对比 女装邮件</a:t>
            </a:r>
            <a:endParaRPr sz="1125" b="1">
              <a:solidFill>
                <a:srgbClr val="EF6A5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7258050" y="4476750"/>
            <a:ext cx="3829050" cy="228600"/>
          </a:xfrm>
          <a:prstGeom prst="rect">
            <a:avLst/>
          </a:prstGeom>
          <a:noFill/>
          <a:ln w="0">
            <a:noFill/>
            <a:prstDash val="solid"/>
          </a:ln>
        </p:spPr>
        <p:txBody>
          <a:bodyPr wrap="square" lIns="0" tIns="0" rIns="0" bIns="0" anchor="t">
            <a:normAutofit/>
          </a:bodyPr>
          <a:lstStyle/>
          <a:p>
            <a:pPr algn="l">
              <a:lnSpc>
                <a:spcPct val="105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+0.345 点估计；严格稳健性结论见下一页。</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1" name="直接连接符 20"/>
          <p:cNvSpPr>
            <a:spLocks noGrp="1"/>
          </p:cNvSpPr>
          <p:nvPr/>
        </p:nvSpPr>
        <p:spPr>
          <a:xfrm>
            <a:off x="666750" y="5143500"/>
            <a:ext cx="10858500" cy="953"/>
          </a:xfrm>
          <a:prstGeom prst="line">
            <a:avLst/>
          </a:prstGeom>
          <a:noFill/>
          <a:ln w="9525">
            <a:solidFill>
              <a:srgbClr val="E6ECEF"/>
            </a:solidFill>
            <a:prstDash val="solid"/>
          </a:ln>
        </p:spPr>
      </p:sp>
      <p:sp>
        <p:nvSpPr>
          <p:cNvPr id="22" name="矩形 21"/>
          <p:cNvSpPr>
            <a:spLocks noGrp="1"/>
          </p:cNvSpPr>
          <p:nvPr/>
        </p:nvSpPr>
        <p:spPr>
          <a:xfrm>
            <a:off x="666750" y="5353050"/>
            <a:ext cx="1143000" cy="209550"/>
          </a:xfrm>
          <a:prstGeom prst="rect">
            <a:avLst/>
          </a:prstGeom>
          <a:noFill/>
          <a:ln w="0">
            <a:noFill/>
            <a:prstDash val="solid"/>
          </a:ln>
        </p:spPr>
        <p:txBody>
          <a:bodyPr wrap="square" lIns="0" tIns="0" rIns="0" bIns="0" anchor="t">
            <a:normAutofit/>
          </a:bodyPr>
          <a:lstStyle/>
          <a:p>
            <a:pPr algn="l">
              <a:lnSpc>
                <a:spcPct val="105000"/>
              </a:lnSpc>
              <a:buNone/>
              <a:defRPr sz="975" b="1">
                <a:solidFill>
                  <a:srgbClr val="6B7B88"/>
                </a:solidFill>
                <a:latin typeface="微软雅黑" panose="020B0503020204020204" charset="-122"/>
                <a:ea typeface="微软雅黑" panose="020B0503020204020204" charset="-122"/>
                <a:cs typeface="微软雅黑" panose="020B0503020204020204" charset="-122"/>
              </a:defRPr>
            </a:pPr>
            <a:r>
              <a:rPr sz="975" b="1">
                <a:solidFill>
                  <a:srgbClr val="6B7B88"/>
                </a:solidFill>
                <a:latin typeface="微软雅黑" panose="020B0503020204020204" charset="-122"/>
                <a:ea typeface="微软雅黑" panose="020B0503020204020204" charset="-122"/>
                <a:cs typeface="微软雅黑" panose="020B0503020204020204" charset="-122"/>
              </a:rPr>
              <a:t>次要指标</a:t>
            </a:r>
            <a:endParaRPr sz="975"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666750" y="5638800"/>
            <a:ext cx="1143000" cy="209550"/>
          </a:xfrm>
          <a:prstGeom prst="rect">
            <a:avLst/>
          </a:prstGeom>
          <a:noFill/>
          <a:ln w="0">
            <a:noFill/>
            <a:prstDash val="solid"/>
          </a:ln>
        </p:spPr>
        <p:txBody>
          <a:bodyPr wrap="square" lIns="0" tIns="0" rIns="0" bIns="0" anchor="t">
            <a:normAutofit/>
          </a:bodyPr>
          <a:lstStyle/>
          <a:p>
            <a:pPr algn="l">
              <a:lnSpc>
                <a:spcPct val="105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访问率</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666750" y="5905500"/>
            <a:ext cx="1143000" cy="209550"/>
          </a:xfrm>
          <a:prstGeom prst="rect">
            <a:avLst/>
          </a:prstGeom>
          <a:noFill/>
          <a:ln w="0">
            <a:noFill/>
            <a:prstDash val="solid"/>
          </a:ln>
        </p:spPr>
        <p:txBody>
          <a:bodyPr wrap="square" lIns="0" tIns="0" rIns="0" bIns="0" anchor="t">
            <a:normAutofit/>
          </a:bodyPr>
          <a:lstStyle/>
          <a:p>
            <a:pPr algn="l">
              <a:lnSpc>
                <a:spcPct val="105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转化率</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2571750" y="5314950"/>
            <a:ext cx="2428875" cy="228600"/>
          </a:xfrm>
          <a:prstGeom prst="rect">
            <a:avLst/>
          </a:prstGeom>
          <a:noFill/>
          <a:ln w="0">
            <a:noFill/>
            <a:prstDash val="solid"/>
          </a:ln>
        </p:spPr>
        <p:txBody>
          <a:bodyPr wrap="square" lIns="0" tIns="0" rIns="0" bIns="0" anchor="t">
            <a:normAutofit/>
          </a:bodyPr>
          <a:lstStyle/>
          <a:p>
            <a:pPr algn="ctr">
              <a:lnSpc>
                <a:spcPct val="105000"/>
              </a:lnSpc>
              <a:buNone/>
              <a:defRPr sz="1050" b="1">
                <a:solidFill>
                  <a:srgbClr val="6B7B88"/>
                </a:solidFill>
                <a:latin typeface="微软雅黑" panose="020B0503020204020204" charset="-122"/>
                <a:ea typeface="微软雅黑" panose="020B0503020204020204" charset="-122"/>
                <a:cs typeface="微软雅黑" panose="020B0503020204020204" charset="-122"/>
              </a:defRPr>
            </a:pPr>
            <a:r>
              <a:rPr sz="1050" b="1">
                <a:solidFill>
                  <a:srgbClr val="6B7B88"/>
                </a:solidFill>
                <a:latin typeface="微软雅黑" panose="020B0503020204020204" charset="-122"/>
                <a:ea typeface="微软雅黑" panose="020B0503020204020204" charset="-122"/>
                <a:cs typeface="微软雅黑" panose="020B0503020204020204" charset="-122"/>
              </a:rPr>
              <a:t>不发邮件</a:t>
            </a:r>
            <a:endParaRPr sz="1050"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26" name="矩形 25"/>
          <p:cNvSpPr>
            <a:spLocks noGrp="1"/>
          </p:cNvSpPr>
          <p:nvPr/>
        </p:nvSpPr>
        <p:spPr>
          <a:xfrm>
            <a:off x="2571750" y="5619750"/>
            <a:ext cx="2428875" cy="209550"/>
          </a:xfrm>
          <a:prstGeom prst="rect">
            <a:avLst/>
          </a:prstGeom>
          <a:noFill/>
          <a:ln w="0">
            <a:noFill/>
            <a:prstDash val="solid"/>
          </a:ln>
        </p:spPr>
        <p:txBody>
          <a:bodyPr wrap="square" lIns="0" tIns="0" rIns="0" bIns="0" anchor="t">
            <a:normAutofit/>
          </a:bodyPr>
          <a:lstStyle/>
          <a:p>
            <a:pPr algn="ctr">
              <a:lnSpc>
                <a:spcPct val="105000"/>
              </a:lnSpc>
              <a:buNone/>
              <a:defRPr sz="1275" b="1">
                <a:solidFill>
                  <a:srgbClr val="17222E"/>
                </a:solidFill>
                <a:latin typeface="微软雅黑" panose="020B0503020204020204" charset="-122"/>
                <a:ea typeface="微软雅黑" panose="020B0503020204020204" charset="-122"/>
                <a:cs typeface="微软雅黑" panose="020B0503020204020204" charset="-122"/>
              </a:defRPr>
            </a:pPr>
            <a:r>
              <a:rPr sz="1275" b="1">
                <a:solidFill>
                  <a:srgbClr val="17222E"/>
                </a:solidFill>
                <a:latin typeface="微软雅黑" panose="020B0503020204020204" charset="-122"/>
                <a:ea typeface="微软雅黑" panose="020B0503020204020204" charset="-122"/>
                <a:cs typeface="微软雅黑" panose="020B0503020204020204" charset="-122"/>
              </a:rPr>
              <a:t>10.62%</a:t>
            </a:r>
            <a:endParaRPr sz="127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2571750" y="5886450"/>
            <a:ext cx="2428875" cy="209550"/>
          </a:xfrm>
          <a:prstGeom prst="rect">
            <a:avLst/>
          </a:prstGeom>
          <a:noFill/>
          <a:ln w="0">
            <a:noFill/>
            <a:prstDash val="solid"/>
          </a:ln>
        </p:spPr>
        <p:txBody>
          <a:bodyPr wrap="square" lIns="0" tIns="0" rIns="0" bIns="0" anchor="t">
            <a:normAutofit/>
          </a:bodyPr>
          <a:lstStyle/>
          <a:p>
            <a:pPr algn="ctr">
              <a:lnSpc>
                <a:spcPct val="105000"/>
              </a:lnSpc>
              <a:buNone/>
              <a:defRPr sz="1275" b="1">
                <a:solidFill>
                  <a:srgbClr val="17222E"/>
                </a:solidFill>
                <a:latin typeface="微软雅黑" panose="020B0503020204020204" charset="-122"/>
                <a:ea typeface="微软雅黑" panose="020B0503020204020204" charset="-122"/>
                <a:cs typeface="微软雅黑" panose="020B0503020204020204" charset="-122"/>
              </a:defRPr>
            </a:pPr>
            <a:r>
              <a:rPr sz="1275" b="1">
                <a:solidFill>
                  <a:srgbClr val="17222E"/>
                </a:solidFill>
                <a:latin typeface="微软雅黑" panose="020B0503020204020204" charset="-122"/>
                <a:ea typeface="微软雅黑" panose="020B0503020204020204" charset="-122"/>
                <a:cs typeface="微软雅黑" panose="020B0503020204020204" charset="-122"/>
              </a:rPr>
              <a:t>0.57%</a:t>
            </a:r>
            <a:endParaRPr sz="127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5476875" y="5314950"/>
            <a:ext cx="2428875" cy="228600"/>
          </a:xfrm>
          <a:prstGeom prst="rect">
            <a:avLst/>
          </a:prstGeom>
          <a:noFill/>
          <a:ln w="0">
            <a:noFill/>
            <a:prstDash val="solid"/>
          </a:ln>
        </p:spPr>
        <p:txBody>
          <a:bodyPr wrap="square" lIns="0" tIns="0" rIns="0" bIns="0" anchor="t">
            <a:normAutofit/>
          </a:bodyPr>
          <a:lstStyle/>
          <a:p>
            <a:pPr algn="ctr">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男装邮件</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5476875" y="5619750"/>
            <a:ext cx="2428875" cy="209550"/>
          </a:xfrm>
          <a:prstGeom prst="rect">
            <a:avLst/>
          </a:prstGeom>
          <a:noFill/>
          <a:ln w="0">
            <a:noFill/>
            <a:prstDash val="solid"/>
          </a:ln>
        </p:spPr>
        <p:txBody>
          <a:bodyPr wrap="square" lIns="0" tIns="0" rIns="0" bIns="0" anchor="t">
            <a:normAutofit/>
          </a:bodyPr>
          <a:lstStyle/>
          <a:p>
            <a:pPr algn="ctr">
              <a:lnSpc>
                <a:spcPct val="105000"/>
              </a:lnSpc>
              <a:buNone/>
              <a:defRPr sz="1275" b="1">
                <a:solidFill>
                  <a:srgbClr val="17222E"/>
                </a:solidFill>
                <a:latin typeface="微软雅黑" panose="020B0503020204020204" charset="-122"/>
                <a:ea typeface="微软雅黑" panose="020B0503020204020204" charset="-122"/>
                <a:cs typeface="微软雅黑" panose="020B0503020204020204" charset="-122"/>
              </a:defRPr>
            </a:pPr>
            <a:r>
              <a:rPr sz="1275" b="1">
                <a:solidFill>
                  <a:srgbClr val="17222E"/>
                </a:solidFill>
                <a:latin typeface="微软雅黑" panose="020B0503020204020204" charset="-122"/>
                <a:ea typeface="微软雅黑" panose="020B0503020204020204" charset="-122"/>
                <a:cs typeface="微软雅黑" panose="020B0503020204020204" charset="-122"/>
              </a:rPr>
              <a:t>18.28%</a:t>
            </a:r>
            <a:endParaRPr sz="127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30" name="矩形 29"/>
          <p:cNvSpPr>
            <a:spLocks noGrp="1"/>
          </p:cNvSpPr>
          <p:nvPr/>
        </p:nvSpPr>
        <p:spPr>
          <a:xfrm>
            <a:off x="5476875" y="5886450"/>
            <a:ext cx="2428875" cy="209550"/>
          </a:xfrm>
          <a:prstGeom prst="rect">
            <a:avLst/>
          </a:prstGeom>
          <a:noFill/>
          <a:ln w="0">
            <a:noFill/>
            <a:prstDash val="solid"/>
          </a:ln>
        </p:spPr>
        <p:txBody>
          <a:bodyPr wrap="square" lIns="0" tIns="0" rIns="0" bIns="0" anchor="t">
            <a:normAutofit/>
          </a:bodyPr>
          <a:lstStyle/>
          <a:p>
            <a:pPr algn="ctr">
              <a:lnSpc>
                <a:spcPct val="105000"/>
              </a:lnSpc>
              <a:buNone/>
              <a:defRPr sz="1275" b="1">
                <a:solidFill>
                  <a:srgbClr val="17222E"/>
                </a:solidFill>
                <a:latin typeface="微软雅黑" panose="020B0503020204020204" charset="-122"/>
                <a:ea typeface="微软雅黑" panose="020B0503020204020204" charset="-122"/>
                <a:cs typeface="微软雅黑" panose="020B0503020204020204" charset="-122"/>
              </a:defRPr>
            </a:pPr>
            <a:r>
              <a:rPr sz="1275" b="1">
                <a:solidFill>
                  <a:srgbClr val="17222E"/>
                </a:solidFill>
                <a:latin typeface="微软雅黑" panose="020B0503020204020204" charset="-122"/>
                <a:ea typeface="微软雅黑" panose="020B0503020204020204" charset="-122"/>
                <a:cs typeface="微软雅黑" panose="020B0503020204020204" charset="-122"/>
              </a:rPr>
              <a:t>1.25%</a:t>
            </a:r>
            <a:endParaRPr sz="127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31" name="矩形 30"/>
          <p:cNvSpPr>
            <a:spLocks noGrp="1"/>
          </p:cNvSpPr>
          <p:nvPr/>
        </p:nvSpPr>
        <p:spPr>
          <a:xfrm>
            <a:off x="8382000" y="5314950"/>
            <a:ext cx="2428875" cy="228600"/>
          </a:xfrm>
          <a:prstGeom prst="rect">
            <a:avLst/>
          </a:prstGeom>
          <a:noFill/>
          <a:ln w="0">
            <a:noFill/>
            <a:prstDash val="solid"/>
          </a:ln>
        </p:spPr>
        <p:txBody>
          <a:bodyPr wrap="square" lIns="0" tIns="0" rIns="0" bIns="0" anchor="t">
            <a:normAutofit/>
          </a:bodyPr>
          <a:lstStyle/>
          <a:p>
            <a:pPr algn="ctr">
              <a:lnSpc>
                <a:spcPct val="105000"/>
              </a:lnSpc>
              <a:buNone/>
              <a:defRPr sz="1050" b="1">
                <a:solidFill>
                  <a:srgbClr val="173A5E"/>
                </a:solidFill>
                <a:latin typeface="微软雅黑" panose="020B0503020204020204" charset="-122"/>
                <a:ea typeface="微软雅黑" panose="020B0503020204020204" charset="-122"/>
                <a:cs typeface="微软雅黑" panose="020B0503020204020204" charset="-122"/>
              </a:defRPr>
            </a:pPr>
            <a:r>
              <a:rPr sz="1050" b="1">
                <a:solidFill>
                  <a:srgbClr val="173A5E"/>
                </a:solidFill>
                <a:latin typeface="微软雅黑" panose="020B0503020204020204" charset="-122"/>
                <a:ea typeface="微软雅黑" panose="020B0503020204020204" charset="-122"/>
                <a:cs typeface="微软雅黑" panose="020B0503020204020204" charset="-122"/>
              </a:rPr>
              <a:t>女装邮件</a:t>
            </a:r>
            <a:endParaRPr sz="1050" b="1">
              <a:solidFill>
                <a:srgbClr val="173A5E"/>
              </a:solidFill>
              <a:latin typeface="微软雅黑" panose="020B0503020204020204" charset="-122"/>
              <a:ea typeface="微软雅黑" panose="020B0503020204020204" charset="-122"/>
              <a:cs typeface="微软雅黑" panose="020B0503020204020204" charset="-122"/>
            </a:endParaRPr>
          </a:p>
        </p:txBody>
      </p:sp>
      <p:sp>
        <p:nvSpPr>
          <p:cNvPr id="32" name="矩形 31"/>
          <p:cNvSpPr>
            <a:spLocks noGrp="1"/>
          </p:cNvSpPr>
          <p:nvPr/>
        </p:nvSpPr>
        <p:spPr>
          <a:xfrm>
            <a:off x="8382000" y="5619750"/>
            <a:ext cx="2428875" cy="209550"/>
          </a:xfrm>
          <a:prstGeom prst="rect">
            <a:avLst/>
          </a:prstGeom>
          <a:noFill/>
          <a:ln w="0">
            <a:noFill/>
            <a:prstDash val="solid"/>
          </a:ln>
        </p:spPr>
        <p:txBody>
          <a:bodyPr wrap="square" lIns="0" tIns="0" rIns="0" bIns="0" anchor="t">
            <a:normAutofit/>
          </a:bodyPr>
          <a:lstStyle/>
          <a:p>
            <a:pPr algn="ctr">
              <a:lnSpc>
                <a:spcPct val="105000"/>
              </a:lnSpc>
              <a:buNone/>
              <a:defRPr sz="1275" b="1">
                <a:solidFill>
                  <a:srgbClr val="17222E"/>
                </a:solidFill>
                <a:latin typeface="微软雅黑" panose="020B0503020204020204" charset="-122"/>
                <a:ea typeface="微软雅黑" panose="020B0503020204020204" charset="-122"/>
                <a:cs typeface="微软雅黑" panose="020B0503020204020204" charset="-122"/>
              </a:defRPr>
            </a:pPr>
            <a:r>
              <a:rPr sz="1275" b="1">
                <a:solidFill>
                  <a:srgbClr val="17222E"/>
                </a:solidFill>
                <a:latin typeface="微软雅黑" panose="020B0503020204020204" charset="-122"/>
                <a:ea typeface="微软雅黑" panose="020B0503020204020204" charset="-122"/>
                <a:cs typeface="微软雅黑" panose="020B0503020204020204" charset="-122"/>
              </a:rPr>
              <a:t>15.14%</a:t>
            </a:r>
            <a:endParaRPr sz="127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8382000" y="5886450"/>
            <a:ext cx="2428875" cy="209550"/>
          </a:xfrm>
          <a:prstGeom prst="rect">
            <a:avLst/>
          </a:prstGeom>
          <a:noFill/>
          <a:ln w="0">
            <a:noFill/>
            <a:prstDash val="solid"/>
          </a:ln>
        </p:spPr>
        <p:txBody>
          <a:bodyPr wrap="square" lIns="0" tIns="0" rIns="0" bIns="0" anchor="t">
            <a:normAutofit/>
          </a:bodyPr>
          <a:lstStyle/>
          <a:p>
            <a:pPr algn="ctr">
              <a:lnSpc>
                <a:spcPct val="105000"/>
              </a:lnSpc>
              <a:buNone/>
              <a:defRPr sz="1275" b="1">
                <a:solidFill>
                  <a:srgbClr val="17222E"/>
                </a:solidFill>
                <a:latin typeface="微软雅黑" panose="020B0503020204020204" charset="-122"/>
                <a:ea typeface="微软雅黑" panose="020B0503020204020204" charset="-122"/>
                <a:cs typeface="微软雅黑" panose="020B0503020204020204" charset="-122"/>
              </a:defRPr>
            </a:pPr>
            <a:r>
              <a:rPr sz="1275" b="1">
                <a:solidFill>
                  <a:srgbClr val="17222E"/>
                </a:solidFill>
                <a:latin typeface="微软雅黑" panose="020B0503020204020204" charset="-122"/>
                <a:ea typeface="微软雅黑" panose="020B0503020204020204" charset="-122"/>
                <a:cs typeface="微软雅黑" panose="020B0503020204020204" charset="-122"/>
              </a:rPr>
              <a:t>0.88%</a:t>
            </a:r>
            <a:endParaRPr sz="1275" b="1">
              <a:solidFill>
                <a:srgbClr val="17222E"/>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51" name="矩形 50"/>
          <p:cNvSpPr>
            <a:spLocks noGrp="1"/>
          </p:cNvSpPr>
          <p:nvPr/>
        </p:nvSpPr>
        <p:spPr>
          <a:xfrm>
            <a:off x="647700" y="371475"/>
            <a:ext cx="495300" cy="57150"/>
          </a:xfrm>
          <a:prstGeom prst="rect">
            <a:avLst/>
          </a:prstGeom>
          <a:solidFill>
            <a:srgbClr val="00A6A6"/>
          </a:solidFill>
          <a:ln w="0">
            <a:noFill/>
            <a:prstDash val="solid"/>
          </a:ln>
        </p:spPr>
      </p:sp>
      <p:sp>
        <p:nvSpPr>
          <p:cNvPr id="2" name="矩形 1"/>
          <p:cNvSpPr>
            <a:spLocks noGrp="1"/>
          </p:cNvSpPr>
          <p:nvPr/>
        </p:nvSpPr>
        <p:spPr>
          <a:xfrm>
            <a:off x="647700" y="495300"/>
            <a:ext cx="3429000" cy="228600"/>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00A6A6"/>
                </a:solidFill>
                <a:latin typeface="微软雅黑" panose="020B0503020204020204" charset="-122"/>
                <a:ea typeface="微软雅黑" panose="020B0503020204020204" charset="-122"/>
                <a:cs typeface="微软雅黑" panose="020B0503020204020204" charset="-122"/>
              </a:defRPr>
            </a:pPr>
            <a:r>
              <a:rPr sz="975" b="1">
                <a:solidFill>
                  <a:srgbClr val="00A6A6"/>
                </a:solidFill>
                <a:latin typeface="微软雅黑" panose="020B0503020204020204" charset="-122"/>
                <a:ea typeface="微软雅黑" panose="020B0503020204020204" charset="-122"/>
                <a:cs typeface="微软雅黑" panose="020B0503020204020204" charset="-122"/>
              </a:rPr>
              <a:t>稳健性与不确定性</a:t>
            </a:r>
            <a:endParaRPr sz="9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47700" y="742950"/>
            <a:ext cx="10287000" cy="495300"/>
          </a:xfrm>
          <a:prstGeom prst="rect">
            <a:avLst/>
          </a:prstGeom>
          <a:noFill/>
          <a:ln w="0">
            <a:noFill/>
            <a:prstDash val="solid"/>
          </a:ln>
        </p:spPr>
        <p:txBody>
          <a:bodyPr wrap="none" lIns="0" tIns="0" rIns="0" bIns="0" anchor="ctr">
            <a:normAutofit/>
          </a:bodyPr>
          <a:lstStyle/>
          <a:p>
            <a:pPr algn="l">
              <a:lnSpc>
                <a:spcPct val="105000"/>
              </a:lnSpc>
              <a:buNone/>
              <a:defRPr sz="2850" b="1">
                <a:solidFill>
                  <a:srgbClr val="0B1F33"/>
                </a:solidFill>
                <a:latin typeface="微软雅黑" panose="020B0503020204020204" charset="-122"/>
                <a:ea typeface="微软雅黑" panose="020B0503020204020204" charset="-122"/>
                <a:cs typeface="微软雅黑" panose="020B0503020204020204" charset="-122"/>
              </a:defRPr>
            </a:pPr>
            <a:r>
              <a:rPr sz="2850" b="1">
                <a:solidFill>
                  <a:srgbClr val="0B1F33"/>
                </a:solidFill>
                <a:latin typeface="微软雅黑" panose="020B0503020204020204" charset="-122"/>
                <a:ea typeface="微软雅黑" panose="020B0503020204020204" charset="-122"/>
                <a:cs typeface="微软雅黑" panose="020B0503020204020204" charset="-122"/>
              </a:rPr>
              <a:t>相对不发邮件的增量稳健；两种邮件的优劣仍有不确定性</a:t>
            </a:r>
            <a:endParaRPr sz="28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4" name="矩形 3"/>
          <p:cNvSpPr>
            <a:spLocks noGrp="1"/>
          </p:cNvSpPr>
          <p:nvPr/>
        </p:nvSpPr>
        <p:spPr>
          <a:xfrm>
            <a:off x="11125200" y="495300"/>
            <a:ext cx="419100" cy="209550"/>
          </a:xfrm>
          <a:prstGeom prst="rect">
            <a:avLst/>
          </a:prstGeom>
          <a:noFill/>
          <a:ln w="0">
            <a:noFill/>
            <a:prstDash val="solid"/>
          </a:ln>
        </p:spPr>
        <p:txBody>
          <a:bodyPr wrap="square" lIns="0" tIns="0" rIns="0" bIns="0" anchor="ctr">
            <a:normAutofit/>
          </a:bodyPr>
          <a:lstStyle/>
          <a:p>
            <a:pPr algn="r">
              <a:lnSpc>
                <a:spcPct val="105000"/>
              </a:lnSpc>
              <a:buNone/>
              <a:defRPr sz="975" b="1">
                <a:solidFill>
                  <a:srgbClr val="6B7B88"/>
                </a:solidFill>
                <a:latin typeface="微软雅黑" panose="020B0503020204020204" charset="-122"/>
                <a:ea typeface="微软雅黑" panose="020B0503020204020204" charset="-122"/>
                <a:cs typeface="微软雅黑" panose="020B0503020204020204" charset="-122"/>
              </a:defRPr>
            </a:pPr>
            <a:r>
              <a:rPr sz="975" b="1">
                <a:solidFill>
                  <a:srgbClr val="6B7B88"/>
                </a:solidFill>
                <a:latin typeface="微软雅黑" panose="020B0503020204020204" charset="-122"/>
                <a:ea typeface="微软雅黑" panose="020B0503020204020204" charset="-122"/>
                <a:cs typeface="微软雅黑" panose="020B0503020204020204" charset="-122"/>
              </a:rPr>
              <a:t>05</a:t>
            </a:r>
            <a:endParaRPr sz="975"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5" name="直接连接符 4"/>
          <p:cNvSpPr>
            <a:spLocks noGrp="1"/>
          </p:cNvSpPr>
          <p:nvPr/>
        </p:nvSpPr>
        <p:spPr>
          <a:xfrm>
            <a:off x="647700" y="6276975"/>
            <a:ext cx="10896600" cy="953"/>
          </a:xfrm>
          <a:prstGeom prst="line">
            <a:avLst/>
          </a:prstGeom>
          <a:noFill/>
          <a:ln w="9525">
            <a:solidFill>
              <a:srgbClr val="E6ECEF"/>
            </a:solidFill>
            <a:prstDash val="solid"/>
          </a:ln>
        </p:spPr>
      </p:sp>
      <p:sp>
        <p:nvSpPr>
          <p:cNvPr id="6" name="矩形 5"/>
          <p:cNvSpPr>
            <a:spLocks noGrp="1"/>
          </p:cNvSpPr>
          <p:nvPr/>
        </p:nvSpPr>
        <p:spPr>
          <a:xfrm>
            <a:off x="647700" y="6381750"/>
            <a:ext cx="4857750" cy="190500"/>
          </a:xfrm>
          <a:prstGeom prst="rect">
            <a:avLst/>
          </a:prstGeom>
          <a:noFill/>
          <a:ln w="0">
            <a:noFill/>
            <a:prstDash val="solid"/>
          </a:ln>
        </p:spPr>
        <p:txBody>
          <a:bodyPr wrap="square" lIns="0" tIns="0" rIns="0" bIns="0" anchor="t">
            <a:normAutofit/>
          </a:bodyPr>
          <a:lstStyle/>
          <a:p>
            <a:pPr algn="l">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来源：经验证的Hillstorm最终分析结果</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nvSpPr>
        <p:spPr>
          <a:xfrm>
            <a:off x="7886700" y="6381750"/>
            <a:ext cx="3657600" cy="190500"/>
          </a:xfrm>
          <a:prstGeom prst="rect">
            <a:avLst/>
          </a:prstGeom>
          <a:noFill/>
          <a:ln w="0">
            <a:noFill/>
            <a:prstDash val="solid"/>
          </a:ln>
        </p:spPr>
        <p:txBody>
          <a:bodyPr wrap="square" lIns="0" tIns="0" rIns="0" bIns="0" anchor="t">
            <a:normAutofit/>
          </a:bodyPr>
          <a:lstStyle/>
          <a:p>
            <a:pPr algn="r">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每名随机客户的消费金额｜并非投资回报率</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66750" y="1390650"/>
            <a:ext cx="4953000" cy="22860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6B7B88"/>
                </a:solidFill>
                <a:latin typeface="微软雅黑" panose="020B0503020204020204" charset="-122"/>
                <a:ea typeface="微软雅黑" panose="020B0503020204020204" charset="-122"/>
                <a:cs typeface="微软雅黑" panose="020B0503020204020204" charset="-122"/>
              </a:defRPr>
            </a:pPr>
            <a:r>
              <a:rPr sz="1050" b="1">
                <a:solidFill>
                  <a:srgbClr val="6B7B88"/>
                </a:solidFill>
                <a:latin typeface="微软雅黑" panose="020B0503020204020204" charset="-122"/>
                <a:ea typeface="微软雅黑" panose="020B0503020204020204" charset="-122"/>
                <a:cs typeface="微软雅黑" panose="020B0503020204020204" charset="-122"/>
              </a:rPr>
              <a:t>韦尔奇 95%置信区间（深蓝）｜自助法 95%置信区间（青绿）</a:t>
            </a:r>
            <a:endParaRPr sz="1050"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9" name="直接连接符 8"/>
          <p:cNvSpPr>
            <a:spLocks noGrp="1"/>
          </p:cNvSpPr>
          <p:nvPr/>
        </p:nvSpPr>
        <p:spPr>
          <a:xfrm>
            <a:off x="2886808" y="1752600"/>
            <a:ext cx="953" cy="3409950"/>
          </a:xfrm>
          <a:prstGeom prst="line">
            <a:avLst/>
          </a:prstGeom>
          <a:noFill/>
          <a:ln w="17145">
            <a:solidFill>
              <a:srgbClr val="EF6A5B"/>
            </a:solidFill>
            <a:prstDash val="solid"/>
          </a:ln>
        </p:spPr>
      </p:sp>
      <p:sp>
        <p:nvSpPr>
          <p:cNvPr id="10" name="矩形 9"/>
          <p:cNvSpPr>
            <a:spLocks noGrp="1"/>
          </p:cNvSpPr>
          <p:nvPr/>
        </p:nvSpPr>
        <p:spPr>
          <a:xfrm>
            <a:off x="2677258" y="5238750"/>
            <a:ext cx="419100" cy="209550"/>
          </a:xfrm>
          <a:prstGeom prst="rect">
            <a:avLst/>
          </a:prstGeom>
          <a:noFill/>
          <a:ln w="0">
            <a:noFill/>
            <a:prstDash val="solid"/>
          </a:ln>
        </p:spPr>
        <p:txBody>
          <a:bodyPr wrap="square" lIns="0" tIns="0" rIns="0" bIns="0" anchor="t">
            <a:normAutofit/>
          </a:bodyPr>
          <a:lstStyle/>
          <a:p>
            <a:pPr algn="ctr">
              <a:lnSpc>
                <a:spcPct val="105000"/>
              </a:lnSpc>
              <a:buNone/>
              <a:defRPr sz="900" b="0">
                <a:solidFill>
                  <a:srgbClr val="6B7B88"/>
                </a:solidFill>
                <a:latin typeface="微软雅黑" panose="020B0503020204020204" charset="-122"/>
                <a:ea typeface="微软雅黑" panose="020B0503020204020204" charset="-122"/>
                <a:cs typeface="微软雅黑" panose="020B0503020204020204" charset="-122"/>
              </a:defRPr>
            </a:pPr>
            <a:r>
              <a:rPr sz="900" b="0">
                <a:solidFill>
                  <a:srgbClr val="6B7B88"/>
                </a:solidFill>
                <a:latin typeface="微软雅黑" panose="020B0503020204020204" charset="-122"/>
                <a:ea typeface="微软雅黑" panose="020B0503020204020204" charset="-122"/>
                <a:cs typeface="微软雅黑" panose="020B0503020204020204" charset="-122"/>
              </a:rPr>
              <a:t>0.0</a:t>
            </a:r>
            <a:endParaRPr sz="900"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11" name="直接连接符 10"/>
          <p:cNvSpPr>
            <a:spLocks noGrp="1"/>
          </p:cNvSpPr>
          <p:nvPr/>
        </p:nvSpPr>
        <p:spPr>
          <a:xfrm>
            <a:off x="4938346" y="1752600"/>
            <a:ext cx="953" cy="3409950"/>
          </a:xfrm>
          <a:prstGeom prst="line">
            <a:avLst/>
          </a:prstGeom>
          <a:noFill/>
          <a:ln w="9525">
            <a:solidFill>
              <a:srgbClr val="E6ECEF"/>
            </a:solidFill>
            <a:prstDash val="solid"/>
          </a:ln>
        </p:spPr>
      </p:sp>
      <p:sp>
        <p:nvSpPr>
          <p:cNvPr id="12" name="矩形 11"/>
          <p:cNvSpPr>
            <a:spLocks noGrp="1"/>
          </p:cNvSpPr>
          <p:nvPr/>
        </p:nvSpPr>
        <p:spPr>
          <a:xfrm>
            <a:off x="4728796" y="5238750"/>
            <a:ext cx="419100" cy="209550"/>
          </a:xfrm>
          <a:prstGeom prst="rect">
            <a:avLst/>
          </a:prstGeom>
          <a:noFill/>
          <a:ln w="0">
            <a:noFill/>
            <a:prstDash val="solid"/>
          </a:ln>
        </p:spPr>
        <p:txBody>
          <a:bodyPr wrap="square" lIns="0" tIns="0" rIns="0" bIns="0" anchor="t">
            <a:normAutofit/>
          </a:bodyPr>
          <a:lstStyle/>
          <a:p>
            <a:pPr algn="ctr">
              <a:lnSpc>
                <a:spcPct val="105000"/>
              </a:lnSpc>
              <a:buNone/>
              <a:defRPr sz="900" b="0">
                <a:solidFill>
                  <a:srgbClr val="6B7B88"/>
                </a:solidFill>
                <a:latin typeface="微软雅黑" panose="020B0503020204020204" charset="-122"/>
                <a:ea typeface="微软雅黑" panose="020B0503020204020204" charset="-122"/>
                <a:cs typeface="微软雅黑" panose="020B0503020204020204" charset="-122"/>
              </a:defRPr>
            </a:pPr>
            <a:r>
              <a:rPr sz="900" b="0">
                <a:solidFill>
                  <a:srgbClr val="6B7B88"/>
                </a:solidFill>
                <a:latin typeface="微软雅黑" panose="020B0503020204020204" charset="-122"/>
                <a:ea typeface="微软雅黑" panose="020B0503020204020204" charset="-122"/>
                <a:cs typeface="微软雅黑" panose="020B0503020204020204" charset="-122"/>
              </a:rPr>
              <a:t>0.5</a:t>
            </a:r>
            <a:endParaRPr sz="900"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13" name="直接连接符 12"/>
          <p:cNvSpPr>
            <a:spLocks noGrp="1"/>
          </p:cNvSpPr>
          <p:nvPr/>
        </p:nvSpPr>
        <p:spPr>
          <a:xfrm>
            <a:off x="6989885" y="1752600"/>
            <a:ext cx="953" cy="3409950"/>
          </a:xfrm>
          <a:prstGeom prst="line">
            <a:avLst/>
          </a:prstGeom>
          <a:noFill/>
          <a:ln w="9525">
            <a:solidFill>
              <a:srgbClr val="E6ECEF"/>
            </a:solidFill>
            <a:prstDash val="solid"/>
          </a:ln>
        </p:spPr>
      </p:sp>
      <p:sp>
        <p:nvSpPr>
          <p:cNvPr id="14" name="矩形 13"/>
          <p:cNvSpPr>
            <a:spLocks noGrp="1"/>
          </p:cNvSpPr>
          <p:nvPr/>
        </p:nvSpPr>
        <p:spPr>
          <a:xfrm>
            <a:off x="6780335" y="5238750"/>
            <a:ext cx="419100" cy="209550"/>
          </a:xfrm>
          <a:prstGeom prst="rect">
            <a:avLst/>
          </a:prstGeom>
          <a:noFill/>
          <a:ln w="0">
            <a:noFill/>
            <a:prstDash val="solid"/>
          </a:ln>
        </p:spPr>
        <p:txBody>
          <a:bodyPr wrap="square" lIns="0" tIns="0" rIns="0" bIns="0" anchor="t">
            <a:normAutofit/>
          </a:bodyPr>
          <a:lstStyle/>
          <a:p>
            <a:pPr algn="ctr">
              <a:lnSpc>
                <a:spcPct val="105000"/>
              </a:lnSpc>
              <a:buNone/>
              <a:defRPr sz="900" b="0">
                <a:solidFill>
                  <a:srgbClr val="6B7B88"/>
                </a:solidFill>
                <a:latin typeface="微软雅黑" panose="020B0503020204020204" charset="-122"/>
                <a:ea typeface="微软雅黑" panose="020B0503020204020204" charset="-122"/>
                <a:cs typeface="微软雅黑" panose="020B0503020204020204" charset="-122"/>
              </a:defRPr>
            </a:pPr>
            <a:r>
              <a:rPr sz="900" b="0">
                <a:solidFill>
                  <a:srgbClr val="6B7B88"/>
                </a:solidFill>
                <a:latin typeface="微软雅黑" panose="020B0503020204020204" charset="-122"/>
                <a:ea typeface="微软雅黑" panose="020B0503020204020204" charset="-122"/>
                <a:cs typeface="微软雅黑" panose="020B0503020204020204" charset="-122"/>
              </a:rPr>
              <a:t>1.0</a:t>
            </a:r>
            <a:endParaRPr sz="900"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666750" y="1905000"/>
            <a:ext cx="1676400" cy="457200"/>
          </a:xfrm>
          <a:prstGeom prst="rect">
            <a:avLst/>
          </a:prstGeom>
          <a:noFill/>
          <a:ln w="0">
            <a:noFill/>
            <a:prstDash val="solid"/>
          </a:ln>
        </p:spPr>
        <p:txBody>
          <a:bodyPr wrap="square" lIns="0" tIns="0" rIns="0" bIns="0" anchor="ctr">
            <a:normAutofit/>
          </a:bodyPr>
          <a:lstStyle/>
          <a:p>
            <a:pPr algn="l">
              <a:lnSpc>
                <a:spcPct val="105000"/>
              </a:lnSpc>
              <a:buNone/>
              <a:defRPr sz="1200" b="1">
                <a:solidFill>
                  <a:srgbClr val="17222E"/>
                </a:solidFill>
                <a:latin typeface="微软雅黑" panose="020B0503020204020204" charset="-122"/>
                <a:ea typeface="微软雅黑" panose="020B0503020204020204" charset="-122"/>
                <a:cs typeface="微软雅黑" panose="020B0503020204020204" charset="-122"/>
              </a:defRPr>
            </a:pPr>
            <a:r>
              <a:rPr sz="1200" b="1">
                <a:solidFill>
                  <a:srgbClr val="17222E"/>
                </a:solidFill>
                <a:latin typeface="微软雅黑" panose="020B0503020204020204" charset="-122"/>
                <a:ea typeface="微软雅黑" panose="020B0503020204020204" charset="-122"/>
                <a:cs typeface="微软雅黑" panose="020B0503020204020204" charset="-122"/>
              </a:rPr>
              <a:t>男装邮件－不发邮件</a:t>
            </a:r>
            <a:endParaRPr sz="120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16" name="直接连接符 15"/>
          <p:cNvSpPr>
            <a:spLocks noGrp="1"/>
          </p:cNvSpPr>
          <p:nvPr/>
        </p:nvSpPr>
        <p:spPr>
          <a:xfrm>
            <a:off x="4877374" y="2076450"/>
            <a:ext cx="2336189" cy="953"/>
          </a:xfrm>
          <a:prstGeom prst="line">
            <a:avLst/>
          </a:prstGeom>
          <a:noFill/>
          <a:ln w="38100">
            <a:solidFill>
              <a:srgbClr val="173A5E"/>
            </a:solidFill>
            <a:prstDash val="solid"/>
          </a:ln>
        </p:spPr>
      </p:sp>
      <p:sp>
        <p:nvSpPr>
          <p:cNvPr id="17" name="直接连接符 16"/>
          <p:cNvSpPr>
            <a:spLocks noGrp="1"/>
          </p:cNvSpPr>
          <p:nvPr/>
        </p:nvSpPr>
        <p:spPr>
          <a:xfrm>
            <a:off x="4877374" y="2009775"/>
            <a:ext cx="953" cy="133350"/>
          </a:xfrm>
          <a:prstGeom prst="line">
            <a:avLst/>
          </a:prstGeom>
          <a:noFill/>
          <a:ln w="19050">
            <a:solidFill>
              <a:srgbClr val="173A5E"/>
            </a:solidFill>
            <a:prstDash val="solid"/>
          </a:ln>
        </p:spPr>
      </p:sp>
      <p:sp>
        <p:nvSpPr>
          <p:cNvPr id="18" name="直接连接符 17"/>
          <p:cNvSpPr>
            <a:spLocks noGrp="1"/>
          </p:cNvSpPr>
          <p:nvPr/>
        </p:nvSpPr>
        <p:spPr>
          <a:xfrm>
            <a:off x="7213564" y="2009775"/>
            <a:ext cx="953" cy="133350"/>
          </a:xfrm>
          <a:prstGeom prst="line">
            <a:avLst/>
          </a:prstGeom>
          <a:noFill/>
          <a:ln w="19050">
            <a:solidFill>
              <a:srgbClr val="173A5E"/>
            </a:solidFill>
            <a:prstDash val="solid"/>
          </a:ln>
        </p:spPr>
      </p:sp>
      <p:sp>
        <p:nvSpPr>
          <p:cNvPr id="19" name="椭圆 18"/>
          <p:cNvSpPr>
            <a:spLocks noGrp="1"/>
          </p:cNvSpPr>
          <p:nvPr/>
        </p:nvSpPr>
        <p:spPr>
          <a:xfrm>
            <a:off x="5983555" y="2014538"/>
            <a:ext cx="123825" cy="123825"/>
          </a:xfrm>
          <a:prstGeom prst="ellipse">
            <a:avLst/>
          </a:prstGeom>
          <a:solidFill>
            <a:srgbClr val="00A6A6"/>
          </a:solidFill>
          <a:ln w="9525">
            <a:solidFill>
              <a:srgbClr val="FFFFFF"/>
            </a:solidFill>
            <a:prstDash val="solid"/>
          </a:ln>
        </p:spPr>
      </p:sp>
      <p:sp>
        <p:nvSpPr>
          <p:cNvPr id="20" name="直接连接符 19"/>
          <p:cNvSpPr>
            <a:spLocks noGrp="1"/>
          </p:cNvSpPr>
          <p:nvPr/>
        </p:nvSpPr>
        <p:spPr>
          <a:xfrm>
            <a:off x="4906806" y="2324100"/>
            <a:ext cx="2316462" cy="953"/>
          </a:xfrm>
          <a:prstGeom prst="line">
            <a:avLst/>
          </a:prstGeom>
          <a:noFill/>
          <a:ln w="28575">
            <a:solidFill>
              <a:srgbClr val="2BB8B3"/>
            </a:solidFill>
            <a:prstDash val="solid"/>
          </a:ln>
        </p:spPr>
      </p:sp>
      <p:sp>
        <p:nvSpPr>
          <p:cNvPr id="21" name="椭圆 20"/>
          <p:cNvSpPr>
            <a:spLocks noGrp="1"/>
          </p:cNvSpPr>
          <p:nvPr/>
        </p:nvSpPr>
        <p:spPr>
          <a:xfrm>
            <a:off x="6007367" y="2286000"/>
            <a:ext cx="76200" cy="76200"/>
          </a:xfrm>
          <a:prstGeom prst="ellipse">
            <a:avLst/>
          </a:prstGeom>
          <a:solidFill>
            <a:srgbClr val="2BB8B3"/>
          </a:solidFill>
          <a:ln w="0">
            <a:noFill/>
            <a:prstDash val="solid"/>
          </a:ln>
        </p:spPr>
      </p:sp>
      <p:sp>
        <p:nvSpPr>
          <p:cNvPr id="22" name="矩形 21"/>
          <p:cNvSpPr>
            <a:spLocks noGrp="1"/>
          </p:cNvSpPr>
          <p:nvPr/>
        </p:nvSpPr>
        <p:spPr>
          <a:xfrm>
            <a:off x="7915275" y="1933575"/>
            <a:ext cx="685800" cy="247650"/>
          </a:xfrm>
          <a:prstGeom prst="rect">
            <a:avLst/>
          </a:prstGeom>
          <a:noFill/>
          <a:ln w="0">
            <a:noFill/>
            <a:prstDash val="solid"/>
          </a:ln>
        </p:spPr>
        <p:txBody>
          <a:bodyPr wrap="square" lIns="0" tIns="0" rIns="0" bIns="0" anchor="t">
            <a:normAutofit/>
          </a:bodyPr>
          <a:lstStyle/>
          <a:p>
            <a:pPr algn="r">
              <a:lnSpc>
                <a:spcPct val="105000"/>
              </a:lnSpc>
              <a:buNone/>
              <a:defRPr sz="1050" b="1">
                <a:solidFill>
                  <a:srgbClr val="0B1F33"/>
                </a:solidFill>
                <a:latin typeface="微软雅黑" panose="020B0503020204020204" charset="-122"/>
                <a:ea typeface="微软雅黑" panose="020B0503020204020204" charset="-122"/>
                <a:cs typeface="微软雅黑" panose="020B0503020204020204" charset="-122"/>
              </a:defRPr>
            </a:pPr>
            <a:r>
              <a:rPr sz="1050" b="1">
                <a:solidFill>
                  <a:srgbClr val="0B1F33"/>
                </a:solidFill>
                <a:latin typeface="微软雅黑" panose="020B0503020204020204" charset="-122"/>
                <a:ea typeface="微软雅黑" panose="020B0503020204020204" charset="-122"/>
                <a:cs typeface="微软雅黑" panose="020B0503020204020204" charset="-122"/>
              </a:rPr>
              <a:t>0.770</a:t>
            </a:r>
            <a:endParaRPr sz="10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8763000" y="1914525"/>
            <a:ext cx="1095375" cy="228600"/>
          </a:xfrm>
          <a:prstGeom prst="rect">
            <a:avLst/>
          </a:prstGeom>
          <a:noFill/>
          <a:ln w="0">
            <a:noFill/>
            <a:prstDash val="solid"/>
          </a:ln>
        </p:spPr>
        <p:txBody>
          <a:bodyPr wrap="square" lIns="0" tIns="0" rIns="0" bIns="0" anchor="t">
            <a:normAutofit/>
          </a:bodyPr>
          <a:lstStyle/>
          <a:p>
            <a:pPr algn="l">
              <a:lnSpc>
                <a:spcPct val="105000"/>
              </a:lnSpc>
              <a:buNone/>
              <a:defRPr sz="975" b="0">
                <a:solidFill>
                  <a:srgbClr val="314252"/>
                </a:solidFill>
                <a:latin typeface="微软雅黑" panose="020B0503020204020204" charset="-122"/>
                <a:ea typeface="微软雅黑" panose="020B0503020204020204" charset="-122"/>
                <a:cs typeface="微软雅黑" panose="020B0503020204020204" charset="-122"/>
              </a:defRPr>
            </a:pPr>
            <a:r>
              <a:rPr sz="975" b="0">
                <a:solidFill>
                  <a:srgbClr val="314252"/>
                </a:solidFill>
                <a:latin typeface="微软雅黑" panose="020B0503020204020204" charset="-122"/>
                <a:ea typeface="微软雅黑" panose="020B0503020204020204" charset="-122"/>
                <a:cs typeface="微软雅黑" panose="020B0503020204020204" charset="-122"/>
              </a:rPr>
              <a:t>霍尔姆校正 &lt;0.001</a:t>
            </a:r>
            <a:endParaRPr sz="9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9858375" y="1914525"/>
            <a:ext cx="1381125" cy="228600"/>
          </a:xfrm>
          <a:prstGeom prst="rect">
            <a:avLst/>
          </a:prstGeom>
          <a:noFill/>
          <a:ln w="0">
            <a:noFill/>
            <a:prstDash val="solid"/>
          </a:ln>
        </p:spPr>
        <p:txBody>
          <a:bodyPr wrap="square" lIns="0" tIns="0" rIns="0" bIns="0" anchor="t">
            <a:normAutofit/>
          </a:bodyPr>
          <a:lstStyle/>
          <a:p>
            <a:pPr algn="l">
              <a:lnSpc>
                <a:spcPct val="105000"/>
              </a:lnSpc>
              <a:buNone/>
              <a:defRPr sz="975" b="0">
                <a:solidFill>
                  <a:srgbClr val="314252"/>
                </a:solidFill>
                <a:latin typeface="微软雅黑" panose="020B0503020204020204" charset="-122"/>
                <a:ea typeface="微软雅黑" panose="020B0503020204020204" charset="-122"/>
                <a:cs typeface="微软雅黑" panose="020B0503020204020204" charset="-122"/>
              </a:defRPr>
            </a:pPr>
            <a:r>
              <a:rPr sz="975" b="0">
                <a:solidFill>
                  <a:srgbClr val="314252"/>
                </a:solidFill>
                <a:latin typeface="微软雅黑" panose="020B0503020204020204" charset="-122"/>
                <a:ea typeface="微软雅黑" panose="020B0503020204020204" charset="-122"/>
                <a:cs typeface="微软雅黑" panose="020B0503020204020204" charset="-122"/>
              </a:rPr>
              <a:t>严格置换检验 &lt;0.001</a:t>
            </a:r>
            <a:endParaRPr sz="9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10001250" y="2228850"/>
            <a:ext cx="1238250" cy="266700"/>
          </a:xfrm>
          <a:prstGeom prst="rect">
            <a:avLst/>
          </a:prstGeom>
          <a:noFill/>
          <a:ln w="0">
            <a:noFill/>
            <a:prstDash val="solid"/>
          </a:ln>
        </p:spPr>
        <p:txBody>
          <a:bodyPr wrap="square" lIns="0" tIns="0" rIns="0" bIns="0" anchor="t">
            <a:normAutofit/>
          </a:bodyPr>
          <a:lstStyle/>
          <a:p>
            <a:pPr algn="r">
              <a:lnSpc>
                <a:spcPct val="105000"/>
              </a:lnSpc>
              <a:buNone/>
              <a:defRPr sz="975" b="1">
                <a:solidFill>
                  <a:srgbClr val="00A6A6"/>
                </a:solidFill>
                <a:latin typeface="微软雅黑" panose="020B0503020204020204" charset="-122"/>
                <a:ea typeface="微软雅黑" panose="020B0503020204020204" charset="-122"/>
                <a:cs typeface="微软雅黑" panose="020B0503020204020204" charset="-122"/>
              </a:defRPr>
            </a:pPr>
            <a:r>
              <a:rPr sz="975" b="1">
                <a:solidFill>
                  <a:srgbClr val="00A6A6"/>
                </a:solidFill>
                <a:latin typeface="微软雅黑" panose="020B0503020204020204" charset="-122"/>
                <a:ea typeface="微软雅黑" panose="020B0503020204020204" charset="-122"/>
                <a:cs typeface="微软雅黑" panose="020B0503020204020204" charset="-122"/>
              </a:rPr>
              <a:t>稳健</a:t>
            </a:r>
            <a:endParaRPr sz="9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26" name="矩形 25"/>
          <p:cNvSpPr>
            <a:spLocks noGrp="1"/>
          </p:cNvSpPr>
          <p:nvPr/>
        </p:nvSpPr>
        <p:spPr>
          <a:xfrm>
            <a:off x="666750" y="3105150"/>
            <a:ext cx="1676400" cy="457200"/>
          </a:xfrm>
          <a:prstGeom prst="rect">
            <a:avLst/>
          </a:prstGeom>
          <a:noFill/>
          <a:ln w="0">
            <a:noFill/>
            <a:prstDash val="solid"/>
          </a:ln>
        </p:spPr>
        <p:txBody>
          <a:bodyPr wrap="square" lIns="0" tIns="0" rIns="0" bIns="0" anchor="ctr">
            <a:normAutofit/>
          </a:bodyPr>
          <a:lstStyle/>
          <a:p>
            <a:pPr algn="l">
              <a:lnSpc>
                <a:spcPct val="105000"/>
              </a:lnSpc>
              <a:buNone/>
              <a:defRPr sz="1200" b="1">
                <a:solidFill>
                  <a:srgbClr val="17222E"/>
                </a:solidFill>
                <a:latin typeface="微软雅黑" panose="020B0503020204020204" charset="-122"/>
                <a:ea typeface="微软雅黑" panose="020B0503020204020204" charset="-122"/>
                <a:cs typeface="微软雅黑" panose="020B0503020204020204" charset="-122"/>
              </a:defRPr>
            </a:pPr>
            <a:r>
              <a:rPr sz="1200" b="1">
                <a:solidFill>
                  <a:srgbClr val="17222E"/>
                </a:solidFill>
                <a:latin typeface="微软雅黑" panose="020B0503020204020204" charset="-122"/>
                <a:ea typeface="微软雅黑" panose="020B0503020204020204" charset="-122"/>
                <a:cs typeface="微软雅黑" panose="020B0503020204020204" charset="-122"/>
              </a:rPr>
              <a:t>女装邮件－不发邮件</a:t>
            </a:r>
            <a:endParaRPr sz="120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27" name="直接连接符 26"/>
          <p:cNvSpPr>
            <a:spLocks noGrp="1"/>
          </p:cNvSpPr>
          <p:nvPr/>
        </p:nvSpPr>
        <p:spPr>
          <a:xfrm>
            <a:off x="3580051" y="3276600"/>
            <a:ext cx="2096307" cy="953"/>
          </a:xfrm>
          <a:prstGeom prst="line">
            <a:avLst/>
          </a:prstGeom>
          <a:noFill/>
          <a:ln w="38100">
            <a:solidFill>
              <a:srgbClr val="173A5E"/>
            </a:solidFill>
            <a:prstDash val="solid"/>
          </a:ln>
        </p:spPr>
      </p:sp>
      <p:sp>
        <p:nvSpPr>
          <p:cNvPr id="28" name="直接连接符 27"/>
          <p:cNvSpPr>
            <a:spLocks noGrp="1"/>
          </p:cNvSpPr>
          <p:nvPr/>
        </p:nvSpPr>
        <p:spPr>
          <a:xfrm>
            <a:off x="3580051" y="3209925"/>
            <a:ext cx="953" cy="133350"/>
          </a:xfrm>
          <a:prstGeom prst="line">
            <a:avLst/>
          </a:prstGeom>
          <a:noFill/>
          <a:ln w="19050">
            <a:solidFill>
              <a:srgbClr val="173A5E"/>
            </a:solidFill>
            <a:prstDash val="solid"/>
          </a:ln>
        </p:spPr>
      </p:sp>
      <p:sp>
        <p:nvSpPr>
          <p:cNvPr id="29" name="直接连接符 28"/>
          <p:cNvSpPr>
            <a:spLocks noGrp="1"/>
          </p:cNvSpPr>
          <p:nvPr/>
        </p:nvSpPr>
        <p:spPr>
          <a:xfrm>
            <a:off x="5676358" y="3209925"/>
            <a:ext cx="953" cy="133350"/>
          </a:xfrm>
          <a:prstGeom prst="line">
            <a:avLst/>
          </a:prstGeom>
          <a:noFill/>
          <a:ln w="19050">
            <a:solidFill>
              <a:srgbClr val="173A5E"/>
            </a:solidFill>
            <a:prstDash val="solid"/>
          </a:ln>
        </p:spPr>
      </p:sp>
      <p:sp>
        <p:nvSpPr>
          <p:cNvPr id="30" name="椭圆 29"/>
          <p:cNvSpPr>
            <a:spLocks noGrp="1"/>
          </p:cNvSpPr>
          <p:nvPr/>
        </p:nvSpPr>
        <p:spPr>
          <a:xfrm>
            <a:off x="4566290" y="3214688"/>
            <a:ext cx="123825" cy="123825"/>
          </a:xfrm>
          <a:prstGeom prst="ellipse">
            <a:avLst/>
          </a:prstGeom>
          <a:solidFill>
            <a:srgbClr val="173A5E"/>
          </a:solidFill>
          <a:ln w="9525">
            <a:solidFill>
              <a:srgbClr val="FFFFFF"/>
            </a:solidFill>
            <a:prstDash val="solid"/>
          </a:ln>
        </p:spPr>
      </p:sp>
      <p:sp>
        <p:nvSpPr>
          <p:cNvPr id="31" name="直接连接符 30"/>
          <p:cNvSpPr>
            <a:spLocks noGrp="1"/>
          </p:cNvSpPr>
          <p:nvPr/>
        </p:nvSpPr>
        <p:spPr>
          <a:xfrm>
            <a:off x="3569855" y="3524250"/>
            <a:ext cx="2106749" cy="953"/>
          </a:xfrm>
          <a:prstGeom prst="line">
            <a:avLst/>
          </a:prstGeom>
          <a:noFill/>
          <a:ln w="28575">
            <a:solidFill>
              <a:srgbClr val="2BB8B3"/>
            </a:solidFill>
            <a:prstDash val="solid"/>
          </a:ln>
        </p:spPr>
      </p:sp>
      <p:sp>
        <p:nvSpPr>
          <p:cNvPr id="32" name="椭圆 31"/>
          <p:cNvSpPr>
            <a:spLocks noGrp="1"/>
          </p:cNvSpPr>
          <p:nvPr/>
        </p:nvSpPr>
        <p:spPr>
          <a:xfrm>
            <a:off x="4590103" y="3486150"/>
            <a:ext cx="76200" cy="76200"/>
          </a:xfrm>
          <a:prstGeom prst="ellipse">
            <a:avLst/>
          </a:prstGeom>
          <a:solidFill>
            <a:srgbClr val="2BB8B3"/>
          </a:solidFill>
          <a:ln w="0">
            <a:noFill/>
            <a:prstDash val="solid"/>
          </a:ln>
        </p:spPr>
      </p:sp>
      <p:sp>
        <p:nvSpPr>
          <p:cNvPr id="33" name="矩形 32"/>
          <p:cNvSpPr>
            <a:spLocks noGrp="1"/>
          </p:cNvSpPr>
          <p:nvPr/>
        </p:nvSpPr>
        <p:spPr>
          <a:xfrm>
            <a:off x="7915275" y="3133725"/>
            <a:ext cx="685800" cy="247650"/>
          </a:xfrm>
          <a:prstGeom prst="rect">
            <a:avLst/>
          </a:prstGeom>
          <a:noFill/>
          <a:ln w="0">
            <a:noFill/>
            <a:prstDash val="solid"/>
          </a:ln>
        </p:spPr>
        <p:txBody>
          <a:bodyPr wrap="square" lIns="0" tIns="0" rIns="0" bIns="0" anchor="t">
            <a:normAutofit/>
          </a:bodyPr>
          <a:lstStyle/>
          <a:p>
            <a:pPr algn="r">
              <a:lnSpc>
                <a:spcPct val="105000"/>
              </a:lnSpc>
              <a:buNone/>
              <a:defRPr sz="1050" b="1">
                <a:solidFill>
                  <a:srgbClr val="0B1F33"/>
                </a:solidFill>
                <a:latin typeface="微软雅黑" panose="020B0503020204020204" charset="-122"/>
                <a:ea typeface="微软雅黑" panose="020B0503020204020204" charset="-122"/>
                <a:cs typeface="微软雅黑" panose="020B0503020204020204" charset="-122"/>
              </a:defRPr>
            </a:pPr>
            <a:r>
              <a:rPr sz="1050" b="1">
                <a:solidFill>
                  <a:srgbClr val="0B1F33"/>
                </a:solidFill>
                <a:latin typeface="微软雅黑" panose="020B0503020204020204" charset="-122"/>
                <a:ea typeface="微软雅黑" panose="020B0503020204020204" charset="-122"/>
                <a:cs typeface="微软雅黑" panose="020B0503020204020204" charset="-122"/>
              </a:rPr>
              <a:t>0.424</a:t>
            </a:r>
            <a:endParaRPr sz="10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34" name="矩形 33"/>
          <p:cNvSpPr>
            <a:spLocks noGrp="1"/>
          </p:cNvSpPr>
          <p:nvPr/>
        </p:nvSpPr>
        <p:spPr>
          <a:xfrm>
            <a:off x="8763000" y="3114675"/>
            <a:ext cx="1095375" cy="228600"/>
          </a:xfrm>
          <a:prstGeom prst="rect">
            <a:avLst/>
          </a:prstGeom>
          <a:noFill/>
          <a:ln w="0">
            <a:noFill/>
            <a:prstDash val="solid"/>
          </a:ln>
        </p:spPr>
        <p:txBody>
          <a:bodyPr wrap="square" lIns="0" tIns="0" rIns="0" bIns="0" anchor="t">
            <a:normAutofit/>
          </a:bodyPr>
          <a:lstStyle/>
          <a:p>
            <a:pPr algn="l">
              <a:lnSpc>
                <a:spcPct val="105000"/>
              </a:lnSpc>
              <a:buNone/>
              <a:defRPr sz="975" b="0">
                <a:solidFill>
                  <a:srgbClr val="314252"/>
                </a:solidFill>
                <a:latin typeface="微软雅黑" panose="020B0503020204020204" charset="-122"/>
                <a:ea typeface="微软雅黑" panose="020B0503020204020204" charset="-122"/>
                <a:cs typeface="微软雅黑" panose="020B0503020204020204" charset="-122"/>
              </a:defRPr>
            </a:pPr>
            <a:r>
              <a:rPr sz="975" b="0">
                <a:solidFill>
                  <a:srgbClr val="314252"/>
                </a:solidFill>
                <a:latin typeface="微软雅黑" panose="020B0503020204020204" charset="-122"/>
                <a:ea typeface="微软雅黑" panose="020B0503020204020204" charset="-122"/>
                <a:cs typeface="微软雅黑" panose="020B0503020204020204" charset="-122"/>
              </a:rPr>
              <a:t>霍尔姆校正 0.0023</a:t>
            </a:r>
            <a:endParaRPr sz="9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5" name="矩形 34"/>
          <p:cNvSpPr>
            <a:spLocks noGrp="1"/>
          </p:cNvSpPr>
          <p:nvPr/>
        </p:nvSpPr>
        <p:spPr>
          <a:xfrm>
            <a:off x="9858375" y="3114675"/>
            <a:ext cx="1381125" cy="228600"/>
          </a:xfrm>
          <a:prstGeom prst="rect">
            <a:avLst/>
          </a:prstGeom>
          <a:noFill/>
          <a:ln w="0">
            <a:noFill/>
            <a:prstDash val="solid"/>
          </a:ln>
        </p:spPr>
        <p:txBody>
          <a:bodyPr wrap="square" lIns="0" tIns="0" rIns="0" bIns="0" anchor="t">
            <a:normAutofit/>
          </a:bodyPr>
          <a:lstStyle/>
          <a:p>
            <a:pPr algn="l">
              <a:lnSpc>
                <a:spcPct val="105000"/>
              </a:lnSpc>
              <a:buNone/>
              <a:defRPr sz="975" b="0">
                <a:solidFill>
                  <a:srgbClr val="314252"/>
                </a:solidFill>
                <a:latin typeface="微软雅黑" panose="020B0503020204020204" charset="-122"/>
                <a:ea typeface="微软雅黑" panose="020B0503020204020204" charset="-122"/>
                <a:cs typeface="微软雅黑" panose="020B0503020204020204" charset="-122"/>
              </a:defRPr>
            </a:pPr>
            <a:r>
              <a:rPr sz="975" b="0">
                <a:solidFill>
                  <a:srgbClr val="314252"/>
                </a:solidFill>
                <a:latin typeface="微软雅黑" panose="020B0503020204020204" charset="-122"/>
                <a:ea typeface="微软雅黑" panose="020B0503020204020204" charset="-122"/>
                <a:cs typeface="微软雅黑" panose="020B0503020204020204" charset="-122"/>
              </a:rPr>
              <a:t>严格置换检验 0.0037</a:t>
            </a:r>
            <a:endParaRPr sz="9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6" name="矩形 35"/>
          <p:cNvSpPr>
            <a:spLocks noGrp="1"/>
          </p:cNvSpPr>
          <p:nvPr/>
        </p:nvSpPr>
        <p:spPr>
          <a:xfrm>
            <a:off x="10001250" y="3429000"/>
            <a:ext cx="1238250" cy="266700"/>
          </a:xfrm>
          <a:prstGeom prst="rect">
            <a:avLst/>
          </a:prstGeom>
          <a:noFill/>
          <a:ln w="0">
            <a:noFill/>
            <a:prstDash val="solid"/>
          </a:ln>
        </p:spPr>
        <p:txBody>
          <a:bodyPr wrap="square" lIns="0" tIns="0" rIns="0" bIns="0" anchor="t">
            <a:normAutofit/>
          </a:bodyPr>
          <a:lstStyle/>
          <a:p>
            <a:pPr algn="r">
              <a:lnSpc>
                <a:spcPct val="105000"/>
              </a:lnSpc>
              <a:buNone/>
              <a:defRPr sz="975" b="1">
                <a:solidFill>
                  <a:srgbClr val="173A5E"/>
                </a:solidFill>
                <a:latin typeface="微软雅黑" panose="020B0503020204020204" charset="-122"/>
                <a:ea typeface="微软雅黑" panose="020B0503020204020204" charset="-122"/>
                <a:cs typeface="微软雅黑" panose="020B0503020204020204" charset="-122"/>
              </a:defRPr>
            </a:pPr>
            <a:r>
              <a:rPr sz="975" b="1">
                <a:solidFill>
                  <a:srgbClr val="173A5E"/>
                </a:solidFill>
                <a:latin typeface="微软雅黑" panose="020B0503020204020204" charset="-122"/>
                <a:ea typeface="微软雅黑" panose="020B0503020204020204" charset="-122"/>
                <a:cs typeface="微软雅黑" panose="020B0503020204020204" charset="-122"/>
              </a:rPr>
              <a:t>稳健</a:t>
            </a:r>
            <a:endParaRPr sz="975" b="1">
              <a:solidFill>
                <a:srgbClr val="173A5E"/>
              </a:solidFill>
              <a:latin typeface="微软雅黑" panose="020B0503020204020204" charset="-122"/>
              <a:ea typeface="微软雅黑" panose="020B0503020204020204" charset="-122"/>
              <a:cs typeface="微软雅黑" panose="020B0503020204020204" charset="-122"/>
            </a:endParaRPr>
          </a:p>
        </p:txBody>
      </p:sp>
      <p:sp>
        <p:nvSpPr>
          <p:cNvPr id="37" name="矩形 36"/>
          <p:cNvSpPr>
            <a:spLocks noGrp="1"/>
          </p:cNvSpPr>
          <p:nvPr/>
        </p:nvSpPr>
        <p:spPr>
          <a:xfrm>
            <a:off x="666750" y="4305300"/>
            <a:ext cx="1676400" cy="457200"/>
          </a:xfrm>
          <a:prstGeom prst="rect">
            <a:avLst/>
          </a:prstGeom>
          <a:noFill/>
          <a:ln w="0">
            <a:noFill/>
            <a:prstDash val="solid"/>
          </a:ln>
        </p:spPr>
        <p:txBody>
          <a:bodyPr wrap="square" lIns="0" tIns="0" rIns="0" bIns="0" anchor="ctr">
            <a:normAutofit/>
          </a:bodyPr>
          <a:lstStyle/>
          <a:p>
            <a:pPr algn="l">
              <a:lnSpc>
                <a:spcPct val="105000"/>
              </a:lnSpc>
              <a:buNone/>
              <a:defRPr sz="1200" b="1">
                <a:solidFill>
                  <a:srgbClr val="17222E"/>
                </a:solidFill>
                <a:latin typeface="微软雅黑" panose="020B0503020204020204" charset="-122"/>
                <a:ea typeface="微软雅黑" panose="020B0503020204020204" charset="-122"/>
                <a:cs typeface="微软雅黑" panose="020B0503020204020204" charset="-122"/>
              </a:defRPr>
            </a:pPr>
            <a:r>
              <a:rPr sz="1200" b="1">
                <a:solidFill>
                  <a:srgbClr val="17222E"/>
                </a:solidFill>
                <a:latin typeface="微软雅黑" panose="020B0503020204020204" charset="-122"/>
                <a:ea typeface="微软雅黑" panose="020B0503020204020204" charset="-122"/>
                <a:cs typeface="微软雅黑" panose="020B0503020204020204" charset="-122"/>
              </a:rPr>
              <a:t>男装邮件－女装邮件</a:t>
            </a:r>
            <a:endParaRPr sz="120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38" name="直接连接符 37"/>
          <p:cNvSpPr>
            <a:spLocks noGrp="1"/>
          </p:cNvSpPr>
          <p:nvPr/>
        </p:nvSpPr>
        <p:spPr>
          <a:xfrm>
            <a:off x="3020408" y="4476750"/>
            <a:ext cx="2567324" cy="953"/>
          </a:xfrm>
          <a:prstGeom prst="line">
            <a:avLst/>
          </a:prstGeom>
          <a:noFill/>
          <a:ln w="38100">
            <a:solidFill>
              <a:srgbClr val="173A5E"/>
            </a:solidFill>
            <a:prstDash val="solid"/>
          </a:ln>
        </p:spPr>
      </p:sp>
      <p:sp>
        <p:nvSpPr>
          <p:cNvPr id="39" name="直接连接符 38"/>
          <p:cNvSpPr>
            <a:spLocks noGrp="1"/>
          </p:cNvSpPr>
          <p:nvPr/>
        </p:nvSpPr>
        <p:spPr>
          <a:xfrm>
            <a:off x="3020408" y="4410075"/>
            <a:ext cx="953" cy="133350"/>
          </a:xfrm>
          <a:prstGeom prst="line">
            <a:avLst/>
          </a:prstGeom>
          <a:noFill/>
          <a:ln w="19050">
            <a:solidFill>
              <a:srgbClr val="173A5E"/>
            </a:solidFill>
            <a:prstDash val="solid"/>
          </a:ln>
        </p:spPr>
      </p:sp>
      <p:sp>
        <p:nvSpPr>
          <p:cNvPr id="40" name="直接连接符 39"/>
          <p:cNvSpPr>
            <a:spLocks noGrp="1"/>
          </p:cNvSpPr>
          <p:nvPr/>
        </p:nvSpPr>
        <p:spPr>
          <a:xfrm>
            <a:off x="5587732" y="4410075"/>
            <a:ext cx="953" cy="133350"/>
          </a:xfrm>
          <a:prstGeom prst="line">
            <a:avLst/>
          </a:prstGeom>
          <a:noFill/>
          <a:ln w="19050">
            <a:solidFill>
              <a:srgbClr val="173A5E"/>
            </a:solidFill>
            <a:prstDash val="solid"/>
          </a:ln>
        </p:spPr>
      </p:sp>
      <p:sp>
        <p:nvSpPr>
          <p:cNvPr id="41" name="椭圆 40"/>
          <p:cNvSpPr>
            <a:spLocks noGrp="1"/>
          </p:cNvSpPr>
          <p:nvPr/>
        </p:nvSpPr>
        <p:spPr>
          <a:xfrm>
            <a:off x="4242160" y="4414838"/>
            <a:ext cx="123825" cy="123825"/>
          </a:xfrm>
          <a:prstGeom prst="ellipse">
            <a:avLst/>
          </a:prstGeom>
          <a:solidFill>
            <a:srgbClr val="EF6A5B"/>
          </a:solidFill>
          <a:ln w="9525">
            <a:solidFill>
              <a:srgbClr val="FFFFFF"/>
            </a:solidFill>
            <a:prstDash val="solid"/>
          </a:ln>
        </p:spPr>
      </p:sp>
      <p:sp>
        <p:nvSpPr>
          <p:cNvPr id="42" name="直接连接符 41"/>
          <p:cNvSpPr>
            <a:spLocks noGrp="1"/>
          </p:cNvSpPr>
          <p:nvPr/>
        </p:nvSpPr>
        <p:spPr>
          <a:xfrm>
            <a:off x="3052703" y="4724400"/>
            <a:ext cx="2539993" cy="953"/>
          </a:xfrm>
          <a:prstGeom prst="line">
            <a:avLst/>
          </a:prstGeom>
          <a:noFill/>
          <a:ln w="28575">
            <a:solidFill>
              <a:srgbClr val="2BB8B3"/>
            </a:solidFill>
            <a:prstDash val="solid"/>
          </a:ln>
        </p:spPr>
      </p:sp>
      <p:sp>
        <p:nvSpPr>
          <p:cNvPr id="43" name="椭圆 42"/>
          <p:cNvSpPr>
            <a:spLocks noGrp="1"/>
          </p:cNvSpPr>
          <p:nvPr/>
        </p:nvSpPr>
        <p:spPr>
          <a:xfrm>
            <a:off x="4265972" y="4686300"/>
            <a:ext cx="76200" cy="76200"/>
          </a:xfrm>
          <a:prstGeom prst="ellipse">
            <a:avLst/>
          </a:prstGeom>
          <a:solidFill>
            <a:srgbClr val="2BB8B3"/>
          </a:solidFill>
          <a:ln w="0">
            <a:noFill/>
            <a:prstDash val="solid"/>
          </a:ln>
        </p:spPr>
      </p:sp>
      <p:sp>
        <p:nvSpPr>
          <p:cNvPr id="44" name="矩形 43"/>
          <p:cNvSpPr>
            <a:spLocks noGrp="1"/>
          </p:cNvSpPr>
          <p:nvPr/>
        </p:nvSpPr>
        <p:spPr>
          <a:xfrm>
            <a:off x="7915275" y="4333875"/>
            <a:ext cx="685800" cy="247650"/>
          </a:xfrm>
          <a:prstGeom prst="rect">
            <a:avLst/>
          </a:prstGeom>
          <a:noFill/>
          <a:ln w="0">
            <a:noFill/>
            <a:prstDash val="solid"/>
          </a:ln>
        </p:spPr>
        <p:txBody>
          <a:bodyPr wrap="square" lIns="0" tIns="0" rIns="0" bIns="0" anchor="t">
            <a:normAutofit/>
          </a:bodyPr>
          <a:lstStyle/>
          <a:p>
            <a:pPr algn="r">
              <a:lnSpc>
                <a:spcPct val="105000"/>
              </a:lnSpc>
              <a:buNone/>
              <a:defRPr sz="1050" b="1">
                <a:solidFill>
                  <a:srgbClr val="0B1F33"/>
                </a:solidFill>
                <a:latin typeface="微软雅黑" panose="020B0503020204020204" charset="-122"/>
                <a:ea typeface="微软雅黑" panose="020B0503020204020204" charset="-122"/>
                <a:cs typeface="微软雅黑" panose="020B0503020204020204" charset="-122"/>
              </a:defRPr>
            </a:pPr>
            <a:r>
              <a:rPr sz="1050" b="1">
                <a:solidFill>
                  <a:srgbClr val="0B1F33"/>
                </a:solidFill>
                <a:latin typeface="微软雅黑" panose="020B0503020204020204" charset="-122"/>
                <a:ea typeface="微软雅黑" panose="020B0503020204020204" charset="-122"/>
                <a:cs typeface="微软雅黑" panose="020B0503020204020204" charset="-122"/>
              </a:rPr>
              <a:t>0.345</a:t>
            </a:r>
            <a:endParaRPr sz="10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45" name="矩形 44"/>
          <p:cNvSpPr>
            <a:spLocks noGrp="1"/>
          </p:cNvSpPr>
          <p:nvPr/>
        </p:nvSpPr>
        <p:spPr>
          <a:xfrm>
            <a:off x="8763000" y="4314825"/>
            <a:ext cx="1095375" cy="228600"/>
          </a:xfrm>
          <a:prstGeom prst="rect">
            <a:avLst/>
          </a:prstGeom>
          <a:noFill/>
          <a:ln w="0">
            <a:noFill/>
            <a:prstDash val="solid"/>
          </a:ln>
        </p:spPr>
        <p:txBody>
          <a:bodyPr wrap="square" lIns="0" tIns="0" rIns="0" bIns="0" anchor="t">
            <a:normAutofit/>
          </a:bodyPr>
          <a:lstStyle/>
          <a:p>
            <a:pPr algn="l">
              <a:lnSpc>
                <a:spcPct val="105000"/>
              </a:lnSpc>
              <a:buNone/>
              <a:defRPr sz="975" b="0">
                <a:solidFill>
                  <a:srgbClr val="314252"/>
                </a:solidFill>
                <a:latin typeface="微软雅黑" panose="020B0503020204020204" charset="-122"/>
                <a:ea typeface="微软雅黑" panose="020B0503020204020204" charset="-122"/>
                <a:cs typeface="微软雅黑" panose="020B0503020204020204" charset="-122"/>
              </a:defRPr>
            </a:pPr>
            <a:r>
              <a:rPr sz="975" b="0">
                <a:solidFill>
                  <a:srgbClr val="314252"/>
                </a:solidFill>
                <a:latin typeface="微软雅黑" panose="020B0503020204020204" charset="-122"/>
                <a:ea typeface="微软雅黑" panose="020B0503020204020204" charset="-122"/>
                <a:cs typeface="微软雅黑" panose="020B0503020204020204" charset="-122"/>
              </a:rPr>
              <a:t>霍尔姆校正 0.0305</a:t>
            </a:r>
            <a:endParaRPr sz="9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46" name="矩形 45"/>
          <p:cNvSpPr>
            <a:spLocks noGrp="1"/>
          </p:cNvSpPr>
          <p:nvPr/>
        </p:nvSpPr>
        <p:spPr>
          <a:xfrm>
            <a:off x="9858375" y="4314825"/>
            <a:ext cx="1381125" cy="228600"/>
          </a:xfrm>
          <a:prstGeom prst="rect">
            <a:avLst/>
          </a:prstGeom>
          <a:noFill/>
          <a:ln w="0">
            <a:noFill/>
            <a:prstDash val="solid"/>
          </a:ln>
        </p:spPr>
        <p:txBody>
          <a:bodyPr wrap="square" lIns="0" tIns="0" rIns="0" bIns="0" anchor="t">
            <a:normAutofit/>
          </a:bodyPr>
          <a:lstStyle/>
          <a:p>
            <a:pPr algn="l">
              <a:lnSpc>
                <a:spcPct val="105000"/>
              </a:lnSpc>
              <a:buNone/>
              <a:defRPr sz="975" b="1">
                <a:solidFill>
                  <a:srgbClr val="EF6A5B"/>
                </a:solidFill>
                <a:latin typeface="微软雅黑" panose="020B0503020204020204" charset="-122"/>
                <a:ea typeface="微软雅黑" panose="020B0503020204020204" charset="-122"/>
                <a:cs typeface="微软雅黑" panose="020B0503020204020204" charset="-122"/>
              </a:defRPr>
            </a:pPr>
            <a:r>
              <a:rPr sz="975" b="1">
                <a:solidFill>
                  <a:srgbClr val="EF6A5B"/>
                </a:solidFill>
                <a:latin typeface="微软雅黑" panose="020B0503020204020204" charset="-122"/>
                <a:ea typeface="微软雅黑" panose="020B0503020204020204" charset="-122"/>
                <a:cs typeface="微软雅黑" panose="020B0503020204020204" charset="-122"/>
              </a:rPr>
              <a:t>严格置换检验 0.0811</a:t>
            </a:r>
            <a:endParaRPr sz="975" b="1">
              <a:solidFill>
                <a:srgbClr val="EF6A5B"/>
              </a:solidFill>
              <a:latin typeface="微软雅黑" panose="020B0503020204020204" charset="-122"/>
              <a:ea typeface="微软雅黑" panose="020B0503020204020204" charset="-122"/>
              <a:cs typeface="微软雅黑" panose="020B0503020204020204" charset="-122"/>
            </a:endParaRPr>
          </a:p>
        </p:txBody>
      </p:sp>
      <p:sp>
        <p:nvSpPr>
          <p:cNvPr id="47" name="矩形 46"/>
          <p:cNvSpPr>
            <a:spLocks noGrp="1"/>
          </p:cNvSpPr>
          <p:nvPr/>
        </p:nvSpPr>
        <p:spPr>
          <a:xfrm>
            <a:off x="10001250" y="4629150"/>
            <a:ext cx="1238250" cy="266700"/>
          </a:xfrm>
          <a:prstGeom prst="rect">
            <a:avLst/>
          </a:prstGeom>
          <a:noFill/>
          <a:ln w="0">
            <a:noFill/>
            <a:prstDash val="solid"/>
          </a:ln>
        </p:spPr>
        <p:txBody>
          <a:bodyPr wrap="square" lIns="0" tIns="0" rIns="0" bIns="0" anchor="t">
            <a:normAutofit/>
          </a:bodyPr>
          <a:lstStyle/>
          <a:p>
            <a:pPr algn="r">
              <a:lnSpc>
                <a:spcPct val="105000"/>
              </a:lnSpc>
              <a:buNone/>
              <a:defRPr sz="975" b="1">
                <a:solidFill>
                  <a:srgbClr val="EF6A5B"/>
                </a:solidFill>
                <a:latin typeface="微软雅黑" panose="020B0503020204020204" charset="-122"/>
                <a:ea typeface="微软雅黑" panose="020B0503020204020204" charset="-122"/>
                <a:cs typeface="微软雅黑" panose="020B0503020204020204" charset="-122"/>
              </a:defRPr>
            </a:pPr>
            <a:r>
              <a:rPr sz="975" b="1">
                <a:solidFill>
                  <a:srgbClr val="EF6A5B"/>
                </a:solidFill>
                <a:latin typeface="微软雅黑" panose="020B0503020204020204" charset="-122"/>
                <a:ea typeface="微软雅黑" panose="020B0503020204020204" charset="-122"/>
                <a:cs typeface="微软雅黑" panose="020B0503020204020204" charset="-122"/>
              </a:rPr>
              <a:t>谨慎解读</a:t>
            </a:r>
            <a:endParaRPr sz="975" b="1">
              <a:solidFill>
                <a:srgbClr val="EF6A5B"/>
              </a:solidFill>
              <a:latin typeface="微软雅黑" panose="020B0503020204020204" charset="-122"/>
              <a:ea typeface="微软雅黑" panose="020B0503020204020204" charset="-122"/>
              <a:cs typeface="微软雅黑" panose="020B0503020204020204" charset="-122"/>
            </a:endParaRPr>
          </a:p>
        </p:txBody>
      </p:sp>
      <p:sp>
        <p:nvSpPr>
          <p:cNvPr id="48" name="圆角矩形 47"/>
          <p:cNvSpPr>
            <a:spLocks noGrp="1"/>
          </p:cNvSpPr>
          <p:nvPr/>
        </p:nvSpPr>
        <p:spPr>
          <a:xfrm>
            <a:off x="685800" y="5629275"/>
            <a:ext cx="10801350" cy="476250"/>
          </a:xfrm>
          <a:prstGeom prst="roundRect">
            <a:avLst>
              <a:gd name="adj" fmla="val 24000"/>
            </a:avLst>
          </a:prstGeom>
          <a:solidFill>
            <a:srgbClr val="F4F7F8"/>
          </a:solidFill>
          <a:ln w="0">
            <a:noFill/>
            <a:prstDash val="solid"/>
          </a:ln>
        </p:spPr>
      </p:sp>
      <p:sp>
        <p:nvSpPr>
          <p:cNvPr id="49" name="矩形 48"/>
          <p:cNvSpPr>
            <a:spLocks noGrp="1"/>
          </p:cNvSpPr>
          <p:nvPr/>
        </p:nvSpPr>
        <p:spPr>
          <a:xfrm>
            <a:off x="876300" y="5762625"/>
            <a:ext cx="1047750"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正确表述</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50" name="矩形 49"/>
          <p:cNvSpPr>
            <a:spLocks noGrp="1"/>
          </p:cNvSpPr>
          <p:nvPr/>
        </p:nvSpPr>
        <p:spPr>
          <a:xfrm>
            <a:off x="1952625" y="5724525"/>
            <a:ext cx="9286875" cy="266700"/>
          </a:xfrm>
          <a:prstGeom prst="rect">
            <a:avLst/>
          </a:prstGeom>
          <a:noFill/>
          <a:ln w="0">
            <a:noFill/>
            <a:prstDash val="solid"/>
          </a:ln>
        </p:spPr>
        <p:txBody>
          <a:bodyPr wrap="square" lIns="0" tIns="0" rIns="0" bIns="0" anchor="ctr">
            <a:normAutofit/>
          </a:bodyPr>
          <a:lstStyle/>
          <a:p>
            <a:pPr algn="l">
              <a:lnSpc>
                <a:spcPct val="105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男装邮件的平均效果更高，但两种邮件的相对优劣证据弱于它们各自相对不发邮件的增量证据。</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54" name="矩形 53"/>
          <p:cNvSpPr>
            <a:spLocks noGrp="1"/>
          </p:cNvSpPr>
          <p:nvPr/>
        </p:nvSpPr>
        <p:spPr>
          <a:xfrm>
            <a:off x="647700" y="371475"/>
            <a:ext cx="495300" cy="57150"/>
          </a:xfrm>
          <a:prstGeom prst="rect">
            <a:avLst/>
          </a:prstGeom>
          <a:solidFill>
            <a:srgbClr val="00A6A6"/>
          </a:solidFill>
          <a:ln w="0">
            <a:noFill/>
            <a:prstDash val="solid"/>
          </a:ln>
        </p:spPr>
      </p:sp>
      <p:sp>
        <p:nvSpPr>
          <p:cNvPr id="2" name="矩形 1"/>
          <p:cNvSpPr>
            <a:spLocks noGrp="1"/>
          </p:cNvSpPr>
          <p:nvPr/>
        </p:nvSpPr>
        <p:spPr>
          <a:xfrm>
            <a:off x="647700" y="495300"/>
            <a:ext cx="3429000" cy="228600"/>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00A6A6"/>
                </a:solidFill>
                <a:latin typeface="微软雅黑" panose="020B0503020204020204" charset="-122"/>
                <a:ea typeface="微软雅黑" panose="020B0503020204020204" charset="-122"/>
                <a:cs typeface="微软雅黑" panose="020B0503020204020204" charset="-122"/>
              </a:defRPr>
            </a:pPr>
            <a:r>
              <a:rPr sz="975" b="1">
                <a:solidFill>
                  <a:srgbClr val="00A6A6"/>
                </a:solidFill>
                <a:latin typeface="微软雅黑" panose="020B0503020204020204" charset="-122"/>
                <a:ea typeface="微软雅黑" panose="020B0503020204020204" charset="-122"/>
                <a:cs typeface="微软雅黑" panose="020B0503020204020204" charset="-122"/>
              </a:rPr>
              <a:t>处理效应异质性与增益模型验证</a:t>
            </a:r>
            <a:endParaRPr sz="9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47700" y="742950"/>
            <a:ext cx="10287000" cy="495300"/>
          </a:xfrm>
          <a:prstGeom prst="rect">
            <a:avLst/>
          </a:prstGeom>
          <a:noFill/>
          <a:ln w="0">
            <a:noFill/>
            <a:prstDash val="solid"/>
          </a:ln>
        </p:spPr>
        <p:txBody>
          <a:bodyPr wrap="none" lIns="0" tIns="0" rIns="0" bIns="0" anchor="ctr">
            <a:normAutofit/>
          </a:bodyPr>
          <a:lstStyle/>
          <a:p>
            <a:pPr algn="l">
              <a:lnSpc>
                <a:spcPct val="105000"/>
              </a:lnSpc>
              <a:buNone/>
              <a:defRPr sz="2850" b="1">
                <a:solidFill>
                  <a:srgbClr val="0B1F33"/>
                </a:solidFill>
                <a:latin typeface="微软雅黑" panose="020B0503020204020204" charset="-122"/>
                <a:ea typeface="微软雅黑" panose="020B0503020204020204" charset="-122"/>
                <a:cs typeface="微软雅黑" panose="020B0503020204020204" charset="-122"/>
              </a:defRPr>
            </a:pPr>
            <a:r>
              <a:rPr sz="2850" b="1">
                <a:solidFill>
                  <a:srgbClr val="0B1F33"/>
                </a:solidFill>
                <a:latin typeface="微软雅黑" panose="020B0503020204020204" charset="-122"/>
                <a:ea typeface="微软雅黑" panose="020B0503020204020204" charset="-122"/>
                <a:cs typeface="微软雅黑" panose="020B0503020204020204" charset="-122"/>
              </a:rPr>
              <a:t>单变量与样本外增益模型均未发现可运营的排序信号</a:t>
            </a:r>
            <a:endParaRPr sz="28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4" name="矩形 3"/>
          <p:cNvSpPr>
            <a:spLocks noGrp="1"/>
          </p:cNvSpPr>
          <p:nvPr/>
        </p:nvSpPr>
        <p:spPr>
          <a:xfrm>
            <a:off x="11125200" y="495300"/>
            <a:ext cx="419100" cy="209550"/>
          </a:xfrm>
          <a:prstGeom prst="rect">
            <a:avLst/>
          </a:prstGeom>
          <a:noFill/>
          <a:ln w="0">
            <a:noFill/>
            <a:prstDash val="solid"/>
          </a:ln>
        </p:spPr>
        <p:txBody>
          <a:bodyPr wrap="square" lIns="0" tIns="0" rIns="0" bIns="0" anchor="ctr">
            <a:normAutofit/>
          </a:bodyPr>
          <a:lstStyle/>
          <a:p>
            <a:pPr algn="r">
              <a:lnSpc>
                <a:spcPct val="105000"/>
              </a:lnSpc>
              <a:buNone/>
              <a:defRPr sz="975" b="1">
                <a:solidFill>
                  <a:srgbClr val="6B7B88"/>
                </a:solidFill>
                <a:latin typeface="微软雅黑" panose="020B0503020204020204" charset="-122"/>
                <a:ea typeface="微软雅黑" panose="020B0503020204020204" charset="-122"/>
                <a:cs typeface="微软雅黑" panose="020B0503020204020204" charset="-122"/>
              </a:defRPr>
            </a:pPr>
            <a:r>
              <a:rPr sz="975" b="1">
                <a:solidFill>
                  <a:srgbClr val="6B7B88"/>
                </a:solidFill>
                <a:latin typeface="微软雅黑" panose="020B0503020204020204" charset="-122"/>
                <a:ea typeface="微软雅黑" panose="020B0503020204020204" charset="-122"/>
                <a:cs typeface="微软雅黑" panose="020B0503020204020204" charset="-122"/>
              </a:rPr>
              <a:t>06</a:t>
            </a:r>
            <a:endParaRPr sz="975"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5" name="直接连接符 4"/>
          <p:cNvSpPr>
            <a:spLocks noGrp="1"/>
          </p:cNvSpPr>
          <p:nvPr/>
        </p:nvSpPr>
        <p:spPr>
          <a:xfrm>
            <a:off x="647700" y="6276975"/>
            <a:ext cx="10896600" cy="953"/>
          </a:xfrm>
          <a:prstGeom prst="line">
            <a:avLst/>
          </a:prstGeom>
          <a:noFill/>
          <a:ln w="9525">
            <a:solidFill>
              <a:srgbClr val="E6ECEF"/>
            </a:solidFill>
            <a:prstDash val="solid"/>
          </a:ln>
        </p:spPr>
      </p:sp>
      <p:sp>
        <p:nvSpPr>
          <p:cNvPr id="6" name="矩形 5"/>
          <p:cNvSpPr>
            <a:spLocks noGrp="1"/>
          </p:cNvSpPr>
          <p:nvPr/>
        </p:nvSpPr>
        <p:spPr>
          <a:xfrm>
            <a:off x="647700" y="6381750"/>
            <a:ext cx="4857750" cy="190500"/>
          </a:xfrm>
          <a:prstGeom prst="rect">
            <a:avLst/>
          </a:prstGeom>
          <a:noFill/>
          <a:ln w="0">
            <a:noFill/>
            <a:prstDash val="solid"/>
          </a:ln>
        </p:spPr>
        <p:txBody>
          <a:bodyPr wrap="square" lIns="0" tIns="0" rIns="0" bIns="0" anchor="t">
            <a:normAutofit/>
          </a:bodyPr>
          <a:lstStyle/>
          <a:p>
            <a:pPr algn="l">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来源：经验证的Hillstorm最终分析结果</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nvSpPr>
        <p:spPr>
          <a:xfrm>
            <a:off x="7886700" y="6381750"/>
            <a:ext cx="3657600" cy="190500"/>
          </a:xfrm>
          <a:prstGeom prst="rect">
            <a:avLst/>
          </a:prstGeom>
          <a:noFill/>
          <a:ln w="0">
            <a:noFill/>
            <a:prstDash val="solid"/>
          </a:ln>
        </p:spPr>
        <p:txBody>
          <a:bodyPr wrap="square" lIns="0" tIns="0" rIns="0" bIns="0" anchor="t">
            <a:normAutofit/>
          </a:bodyPr>
          <a:lstStyle/>
          <a:p>
            <a:pPr algn="r">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每名随机客户的消费金额｜并非投资回报率</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66750" y="1438275"/>
            <a:ext cx="2286000"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预设处理效应异质性</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66750" y="1790700"/>
            <a:ext cx="2190750" cy="704850"/>
          </a:xfrm>
          <a:prstGeom prst="rect">
            <a:avLst/>
          </a:prstGeom>
          <a:noFill/>
          <a:ln w="0">
            <a:noFill/>
            <a:prstDash val="solid"/>
          </a:ln>
        </p:spPr>
        <p:txBody>
          <a:bodyPr wrap="square" lIns="0" tIns="0" rIns="0" bIns="0" anchor="t">
            <a:normAutofit/>
          </a:bodyPr>
          <a:lstStyle/>
          <a:p>
            <a:pPr algn="l">
              <a:lnSpc>
                <a:spcPct val="105000"/>
              </a:lnSpc>
              <a:buNone/>
              <a:defRPr sz="4050" b="1">
                <a:solidFill>
                  <a:srgbClr val="0B1F33"/>
                </a:solidFill>
                <a:latin typeface="微软雅黑" panose="020B0503020204020204" charset="-122"/>
                <a:ea typeface="微软雅黑" panose="020B0503020204020204" charset="-122"/>
                <a:cs typeface="微软雅黑" panose="020B0503020204020204" charset="-122"/>
              </a:defRPr>
            </a:pPr>
            <a:r>
              <a:rPr sz="4050" b="1">
                <a:solidFill>
                  <a:srgbClr val="0B1F33"/>
                </a:solidFill>
                <a:latin typeface="微软雅黑" panose="020B0503020204020204" charset="-122"/>
                <a:ea typeface="微软雅黑" panose="020B0503020204020204" charset="-122"/>
                <a:cs typeface="微软雅黑" panose="020B0503020204020204" charset="-122"/>
              </a:rPr>
              <a:t>0 / 7</a:t>
            </a:r>
            <a:endParaRPr sz="40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666750" y="2543175"/>
            <a:ext cx="4000500" cy="266700"/>
          </a:xfrm>
          <a:prstGeom prst="rect">
            <a:avLst/>
          </a:prstGeom>
          <a:noFill/>
          <a:ln w="0">
            <a:noFill/>
            <a:prstDash val="solid"/>
          </a:ln>
        </p:spPr>
        <p:txBody>
          <a:bodyPr wrap="square" lIns="0" tIns="0" rIns="0" bIns="0" anchor="t">
            <a:normAutofit/>
          </a:bodyPr>
          <a:lstStyle/>
          <a:p>
            <a:pPr algn="l">
              <a:lnSpc>
                <a:spcPct val="105000"/>
              </a:lnSpc>
              <a:buNone/>
              <a:defRPr sz="1275" b="0">
                <a:solidFill>
                  <a:srgbClr val="314252"/>
                </a:solidFill>
                <a:latin typeface="微软雅黑" panose="020B0503020204020204" charset="-122"/>
                <a:ea typeface="微软雅黑" panose="020B0503020204020204" charset="-122"/>
                <a:cs typeface="微软雅黑" panose="020B0503020204020204" charset="-122"/>
              </a:defRPr>
            </a:pPr>
            <a:r>
              <a:rPr sz="1275" b="0">
                <a:solidFill>
                  <a:srgbClr val="314252"/>
                </a:solidFill>
                <a:latin typeface="微软雅黑" panose="020B0503020204020204" charset="-122"/>
                <a:ea typeface="微软雅黑" panose="020B0503020204020204" charset="-122"/>
                <a:cs typeface="微软雅黑" panose="020B0503020204020204" charset="-122"/>
              </a:rPr>
              <a:t>经霍尔姆校正后获支持的调节变量</a:t>
            </a:r>
            <a:endParaRPr sz="12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1" name="椭圆 10"/>
          <p:cNvSpPr>
            <a:spLocks noGrp="1"/>
          </p:cNvSpPr>
          <p:nvPr/>
        </p:nvSpPr>
        <p:spPr>
          <a:xfrm>
            <a:off x="704850" y="3200400"/>
            <a:ext cx="76200" cy="76200"/>
          </a:xfrm>
          <a:prstGeom prst="ellipse">
            <a:avLst/>
          </a:prstGeom>
          <a:solidFill>
            <a:srgbClr val="E6ECEF"/>
          </a:solidFill>
          <a:ln w="0">
            <a:noFill/>
            <a:prstDash val="solid"/>
          </a:ln>
        </p:spPr>
      </p:sp>
      <p:sp>
        <p:nvSpPr>
          <p:cNvPr id="12" name="矩形 11"/>
          <p:cNvSpPr>
            <a:spLocks noGrp="1"/>
          </p:cNvSpPr>
          <p:nvPr/>
        </p:nvSpPr>
        <p:spPr>
          <a:xfrm>
            <a:off x="876300" y="3143250"/>
            <a:ext cx="1952625" cy="228600"/>
          </a:xfrm>
          <a:prstGeom prst="rect">
            <a:avLst/>
          </a:prstGeom>
          <a:noFill/>
          <a:ln w="0">
            <a:noFill/>
            <a:prstDash val="solid"/>
          </a:ln>
        </p:spPr>
        <p:txBody>
          <a:bodyPr wrap="square" lIns="0" tIns="0" rIns="0" bIns="0" anchor="t">
            <a:normAutofit/>
          </a:bodyPr>
          <a:lstStyle/>
          <a:p>
            <a:pPr algn="l">
              <a:lnSpc>
                <a:spcPct val="105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最近购买间隔</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3" name="椭圆 12"/>
          <p:cNvSpPr>
            <a:spLocks noGrp="1"/>
          </p:cNvSpPr>
          <p:nvPr/>
        </p:nvSpPr>
        <p:spPr>
          <a:xfrm>
            <a:off x="2895600" y="3200400"/>
            <a:ext cx="76200" cy="76200"/>
          </a:xfrm>
          <a:prstGeom prst="ellipse">
            <a:avLst/>
          </a:prstGeom>
          <a:solidFill>
            <a:srgbClr val="E6ECEF"/>
          </a:solidFill>
          <a:ln w="0">
            <a:noFill/>
            <a:prstDash val="solid"/>
          </a:ln>
        </p:spPr>
      </p:sp>
      <p:sp>
        <p:nvSpPr>
          <p:cNvPr id="14" name="矩形 13"/>
          <p:cNvSpPr>
            <a:spLocks noGrp="1"/>
          </p:cNvSpPr>
          <p:nvPr/>
        </p:nvSpPr>
        <p:spPr>
          <a:xfrm>
            <a:off x="3067050" y="3143250"/>
            <a:ext cx="1952625" cy="228600"/>
          </a:xfrm>
          <a:prstGeom prst="rect">
            <a:avLst/>
          </a:prstGeom>
          <a:noFill/>
          <a:ln w="0">
            <a:noFill/>
            <a:prstDash val="solid"/>
          </a:ln>
        </p:spPr>
        <p:txBody>
          <a:bodyPr wrap="square" lIns="0" tIns="0" rIns="0" bIns="0" anchor="t">
            <a:normAutofit/>
          </a:bodyPr>
          <a:lstStyle/>
          <a:p>
            <a:pPr algn="l">
              <a:lnSpc>
                <a:spcPct val="105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历史消费分层</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5" name="椭圆 14"/>
          <p:cNvSpPr>
            <a:spLocks noGrp="1"/>
          </p:cNvSpPr>
          <p:nvPr/>
        </p:nvSpPr>
        <p:spPr>
          <a:xfrm>
            <a:off x="704850" y="3695700"/>
            <a:ext cx="76200" cy="76200"/>
          </a:xfrm>
          <a:prstGeom prst="ellipse">
            <a:avLst/>
          </a:prstGeom>
          <a:solidFill>
            <a:srgbClr val="E6ECEF"/>
          </a:solidFill>
          <a:ln w="0">
            <a:noFill/>
            <a:prstDash val="solid"/>
          </a:ln>
        </p:spPr>
      </p:sp>
      <p:sp>
        <p:nvSpPr>
          <p:cNvPr id="16" name="矩形 15"/>
          <p:cNvSpPr>
            <a:spLocks noGrp="1"/>
          </p:cNvSpPr>
          <p:nvPr/>
        </p:nvSpPr>
        <p:spPr>
          <a:xfrm>
            <a:off x="876300" y="3638550"/>
            <a:ext cx="1952625" cy="228600"/>
          </a:xfrm>
          <a:prstGeom prst="rect">
            <a:avLst/>
          </a:prstGeom>
          <a:noFill/>
          <a:ln w="0">
            <a:noFill/>
            <a:prstDash val="solid"/>
          </a:ln>
        </p:spPr>
        <p:txBody>
          <a:bodyPr wrap="square" lIns="0" tIns="0" rIns="0" bIns="0" anchor="t">
            <a:normAutofit/>
          </a:bodyPr>
          <a:lstStyle/>
          <a:p>
            <a:pPr algn="l">
              <a:lnSpc>
                <a:spcPct val="105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既往男装购买</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7" name="椭圆 16"/>
          <p:cNvSpPr>
            <a:spLocks noGrp="1"/>
          </p:cNvSpPr>
          <p:nvPr/>
        </p:nvSpPr>
        <p:spPr>
          <a:xfrm>
            <a:off x="2895600" y="3695700"/>
            <a:ext cx="76200" cy="76200"/>
          </a:xfrm>
          <a:prstGeom prst="ellipse">
            <a:avLst/>
          </a:prstGeom>
          <a:solidFill>
            <a:srgbClr val="E6ECEF"/>
          </a:solidFill>
          <a:ln w="0">
            <a:noFill/>
            <a:prstDash val="solid"/>
          </a:ln>
        </p:spPr>
      </p:sp>
      <p:sp>
        <p:nvSpPr>
          <p:cNvPr id="18" name="矩形 17"/>
          <p:cNvSpPr>
            <a:spLocks noGrp="1"/>
          </p:cNvSpPr>
          <p:nvPr/>
        </p:nvSpPr>
        <p:spPr>
          <a:xfrm>
            <a:off x="3067050" y="3638550"/>
            <a:ext cx="1952625" cy="228600"/>
          </a:xfrm>
          <a:prstGeom prst="rect">
            <a:avLst/>
          </a:prstGeom>
          <a:noFill/>
          <a:ln w="0">
            <a:noFill/>
            <a:prstDash val="solid"/>
          </a:ln>
        </p:spPr>
        <p:txBody>
          <a:bodyPr wrap="square" lIns="0" tIns="0" rIns="0" bIns="0" anchor="t">
            <a:normAutofit/>
          </a:bodyPr>
          <a:lstStyle/>
          <a:p>
            <a:pPr algn="l">
              <a:lnSpc>
                <a:spcPct val="105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既往女装购买</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9" name="椭圆 18"/>
          <p:cNvSpPr>
            <a:spLocks noGrp="1"/>
          </p:cNvSpPr>
          <p:nvPr/>
        </p:nvSpPr>
        <p:spPr>
          <a:xfrm>
            <a:off x="704850" y="4191000"/>
            <a:ext cx="76200" cy="76200"/>
          </a:xfrm>
          <a:prstGeom prst="ellipse">
            <a:avLst/>
          </a:prstGeom>
          <a:solidFill>
            <a:srgbClr val="E6ECEF"/>
          </a:solidFill>
          <a:ln w="0">
            <a:noFill/>
            <a:prstDash val="solid"/>
          </a:ln>
        </p:spPr>
      </p:sp>
      <p:sp>
        <p:nvSpPr>
          <p:cNvPr id="20" name="矩形 19"/>
          <p:cNvSpPr>
            <a:spLocks noGrp="1"/>
          </p:cNvSpPr>
          <p:nvPr/>
        </p:nvSpPr>
        <p:spPr>
          <a:xfrm>
            <a:off x="876300" y="4133850"/>
            <a:ext cx="1952625" cy="228600"/>
          </a:xfrm>
          <a:prstGeom prst="rect">
            <a:avLst/>
          </a:prstGeom>
          <a:noFill/>
          <a:ln w="0">
            <a:noFill/>
            <a:prstDash val="solid"/>
          </a:ln>
        </p:spPr>
        <p:txBody>
          <a:bodyPr wrap="square" lIns="0" tIns="0" rIns="0" bIns="0" anchor="t">
            <a:normAutofit/>
          </a:bodyPr>
          <a:lstStyle/>
          <a:p>
            <a:pPr algn="l">
              <a:lnSpc>
                <a:spcPct val="105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新客户</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1" name="椭圆 20"/>
          <p:cNvSpPr>
            <a:spLocks noGrp="1"/>
          </p:cNvSpPr>
          <p:nvPr/>
        </p:nvSpPr>
        <p:spPr>
          <a:xfrm>
            <a:off x="2895600" y="4191000"/>
            <a:ext cx="76200" cy="76200"/>
          </a:xfrm>
          <a:prstGeom prst="ellipse">
            <a:avLst/>
          </a:prstGeom>
          <a:solidFill>
            <a:srgbClr val="E6ECEF"/>
          </a:solidFill>
          <a:ln w="0">
            <a:noFill/>
            <a:prstDash val="solid"/>
          </a:ln>
        </p:spPr>
      </p:sp>
      <p:sp>
        <p:nvSpPr>
          <p:cNvPr id="22" name="矩形 21"/>
          <p:cNvSpPr>
            <a:spLocks noGrp="1"/>
          </p:cNvSpPr>
          <p:nvPr/>
        </p:nvSpPr>
        <p:spPr>
          <a:xfrm>
            <a:off x="3067050" y="4133850"/>
            <a:ext cx="1952625" cy="228600"/>
          </a:xfrm>
          <a:prstGeom prst="rect">
            <a:avLst/>
          </a:prstGeom>
          <a:noFill/>
          <a:ln w="0">
            <a:noFill/>
            <a:prstDash val="solid"/>
          </a:ln>
        </p:spPr>
        <p:txBody>
          <a:bodyPr wrap="square" lIns="0" tIns="0" rIns="0" bIns="0" anchor="t">
            <a:normAutofit/>
          </a:bodyPr>
          <a:lstStyle/>
          <a:p>
            <a:pPr algn="l">
              <a:lnSpc>
                <a:spcPct val="105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历史渠道</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3" name="椭圆 22"/>
          <p:cNvSpPr>
            <a:spLocks noGrp="1"/>
          </p:cNvSpPr>
          <p:nvPr/>
        </p:nvSpPr>
        <p:spPr>
          <a:xfrm>
            <a:off x="704850" y="4686300"/>
            <a:ext cx="76200" cy="76200"/>
          </a:xfrm>
          <a:prstGeom prst="ellipse">
            <a:avLst/>
          </a:prstGeom>
          <a:solidFill>
            <a:srgbClr val="E6ECEF"/>
          </a:solidFill>
          <a:ln w="0">
            <a:noFill/>
            <a:prstDash val="solid"/>
          </a:ln>
        </p:spPr>
      </p:sp>
      <p:sp>
        <p:nvSpPr>
          <p:cNvPr id="24" name="矩形 23"/>
          <p:cNvSpPr>
            <a:spLocks noGrp="1"/>
          </p:cNvSpPr>
          <p:nvPr/>
        </p:nvSpPr>
        <p:spPr>
          <a:xfrm>
            <a:off x="876300" y="4629150"/>
            <a:ext cx="1952625" cy="228600"/>
          </a:xfrm>
          <a:prstGeom prst="rect">
            <a:avLst/>
          </a:prstGeom>
          <a:noFill/>
          <a:ln w="0">
            <a:noFill/>
            <a:prstDash val="solid"/>
          </a:ln>
        </p:spPr>
        <p:txBody>
          <a:bodyPr wrap="square" lIns="0" tIns="0" rIns="0" bIns="0" anchor="t">
            <a:normAutofit/>
          </a:bodyPr>
          <a:lstStyle/>
          <a:p>
            <a:pPr algn="l">
              <a:lnSpc>
                <a:spcPct val="105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邮编类型</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5" name="圆角矩形 24"/>
          <p:cNvSpPr>
            <a:spLocks noGrp="1"/>
          </p:cNvSpPr>
          <p:nvPr/>
        </p:nvSpPr>
        <p:spPr>
          <a:xfrm>
            <a:off x="666750" y="5314950"/>
            <a:ext cx="4286250" cy="628650"/>
          </a:xfrm>
          <a:prstGeom prst="roundRect">
            <a:avLst>
              <a:gd name="adj" fmla="val 18182"/>
            </a:avLst>
          </a:prstGeom>
          <a:solidFill>
            <a:srgbClr val="F4F7F8"/>
          </a:solidFill>
          <a:ln w="0">
            <a:noFill/>
            <a:prstDash val="solid"/>
          </a:ln>
        </p:spPr>
      </p:sp>
      <p:sp>
        <p:nvSpPr>
          <p:cNvPr id="26" name="矩形 25"/>
          <p:cNvSpPr>
            <a:spLocks noGrp="1"/>
          </p:cNvSpPr>
          <p:nvPr/>
        </p:nvSpPr>
        <p:spPr>
          <a:xfrm>
            <a:off x="857250" y="5505450"/>
            <a:ext cx="666750"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EF6A5B"/>
                </a:solidFill>
                <a:latin typeface="微软雅黑" panose="020B0503020204020204" charset="-122"/>
                <a:ea typeface="微软雅黑" panose="020B0503020204020204" charset="-122"/>
                <a:cs typeface="微软雅黑" panose="020B0503020204020204" charset="-122"/>
              </a:defRPr>
            </a:pPr>
            <a:r>
              <a:rPr sz="1050" b="1">
                <a:solidFill>
                  <a:srgbClr val="EF6A5B"/>
                </a:solidFill>
                <a:latin typeface="微软雅黑" panose="020B0503020204020204" charset="-122"/>
                <a:ea typeface="微软雅黑" panose="020B0503020204020204" charset="-122"/>
                <a:cs typeface="微软雅黑" panose="020B0503020204020204" charset="-122"/>
              </a:rPr>
              <a:t>边界</a:t>
            </a:r>
            <a:endParaRPr sz="1050" b="1">
              <a:solidFill>
                <a:srgbClr val="EF6A5B"/>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1524000" y="5467350"/>
            <a:ext cx="3200400" cy="285750"/>
          </a:xfrm>
          <a:prstGeom prst="rect">
            <a:avLst/>
          </a:prstGeom>
          <a:noFill/>
          <a:ln w="0">
            <a:noFill/>
            <a:prstDash val="solid"/>
          </a:ln>
        </p:spPr>
        <p:txBody>
          <a:bodyPr wrap="square" lIns="0" tIns="0" rIns="0" bIns="0" anchor="ctr">
            <a:normAutofit/>
          </a:bodyPr>
          <a:lstStyle/>
          <a:p>
            <a:pPr algn="l">
              <a:lnSpc>
                <a:spcPct val="105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“证据不足”不等于客户真实异质性为零。</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8" name="直接连接符 27"/>
          <p:cNvSpPr>
            <a:spLocks noGrp="1"/>
          </p:cNvSpPr>
          <p:nvPr/>
        </p:nvSpPr>
        <p:spPr>
          <a:xfrm>
            <a:off x="5410200" y="1457325"/>
            <a:ext cx="953" cy="4505325"/>
          </a:xfrm>
          <a:prstGeom prst="line">
            <a:avLst/>
          </a:prstGeom>
          <a:noFill/>
          <a:ln w="9525">
            <a:solidFill>
              <a:srgbClr val="E6ECEF"/>
            </a:solidFill>
            <a:prstDash val="solid"/>
          </a:ln>
        </p:spPr>
      </p:sp>
      <p:sp>
        <p:nvSpPr>
          <p:cNvPr id="29" name="矩形 28"/>
          <p:cNvSpPr>
            <a:spLocks noGrp="1"/>
          </p:cNvSpPr>
          <p:nvPr/>
        </p:nvSpPr>
        <p:spPr>
          <a:xfrm>
            <a:off x="5810250" y="1438275"/>
            <a:ext cx="4095750"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173A5E"/>
                </a:solidFill>
                <a:latin typeface="微软雅黑" panose="020B0503020204020204" charset="-122"/>
                <a:ea typeface="微软雅黑" panose="020B0503020204020204" charset="-122"/>
                <a:cs typeface="微软雅黑" panose="020B0503020204020204" charset="-122"/>
              </a:defRPr>
            </a:pPr>
            <a:r>
              <a:rPr sz="1050" b="1">
                <a:solidFill>
                  <a:srgbClr val="173A5E"/>
                </a:solidFill>
                <a:latin typeface="微软雅黑" panose="020B0503020204020204" charset="-122"/>
                <a:ea typeface="微软雅黑" panose="020B0503020204020204" charset="-122"/>
                <a:cs typeface="微软雅黑" panose="020B0503020204020204" charset="-122"/>
              </a:rPr>
              <a:t>五折交叉拟合折外验证｜主模型：双重稳健学习器</a:t>
            </a:r>
            <a:endParaRPr sz="1050" b="1">
              <a:solidFill>
                <a:srgbClr val="173A5E"/>
              </a:solidFill>
              <a:latin typeface="微软雅黑" panose="020B0503020204020204" charset="-122"/>
              <a:ea typeface="微软雅黑" panose="020B0503020204020204" charset="-122"/>
              <a:cs typeface="微软雅黑" panose="020B0503020204020204" charset="-122"/>
            </a:endParaRPr>
          </a:p>
        </p:txBody>
      </p:sp>
      <p:sp>
        <p:nvSpPr>
          <p:cNvPr id="30" name="矩形 29"/>
          <p:cNvSpPr>
            <a:spLocks noGrp="1"/>
          </p:cNvSpPr>
          <p:nvPr/>
        </p:nvSpPr>
        <p:spPr>
          <a:xfrm>
            <a:off x="5810250" y="1809750"/>
            <a:ext cx="4476750" cy="266700"/>
          </a:xfrm>
          <a:prstGeom prst="rect">
            <a:avLst/>
          </a:prstGeom>
          <a:noFill/>
          <a:ln w="0">
            <a:noFill/>
            <a:prstDash val="solid"/>
          </a:ln>
        </p:spPr>
        <p:txBody>
          <a:bodyPr wrap="square" lIns="0" tIns="0" rIns="0" bIns="0" anchor="t">
            <a:normAutofit/>
          </a:bodyPr>
          <a:lstStyle/>
          <a:p>
            <a:pPr algn="l">
              <a:lnSpc>
                <a:spcPct val="105000"/>
              </a:lnSpc>
              <a:buNone/>
              <a:defRPr sz="1350" b="1">
                <a:solidFill>
                  <a:srgbClr val="17222E"/>
                </a:solidFill>
                <a:latin typeface="微软雅黑" panose="020B0503020204020204" charset="-122"/>
                <a:ea typeface="微软雅黑" panose="020B0503020204020204" charset="-122"/>
                <a:cs typeface="微软雅黑" panose="020B0503020204020204" charset="-122"/>
              </a:defRPr>
            </a:pPr>
            <a:r>
              <a:rPr sz="1350" b="1">
                <a:solidFill>
                  <a:srgbClr val="17222E"/>
                </a:solidFill>
                <a:latin typeface="微软雅黑" panose="020B0503020204020204" charset="-122"/>
                <a:ea typeface="微软雅黑" panose="020B0503020204020204" charset="-122"/>
                <a:cs typeface="微软雅黑" panose="020B0503020204020204" charset="-122"/>
              </a:rPr>
              <a:t>预测前 30%－后 30%的实际处理效应</a:t>
            </a:r>
            <a:endParaRPr sz="135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31" name="直接连接符 30"/>
          <p:cNvSpPr>
            <a:spLocks noGrp="1"/>
          </p:cNvSpPr>
          <p:nvPr/>
        </p:nvSpPr>
        <p:spPr>
          <a:xfrm>
            <a:off x="7231856" y="2333625"/>
            <a:ext cx="953" cy="1819275"/>
          </a:xfrm>
          <a:prstGeom prst="line">
            <a:avLst/>
          </a:prstGeom>
          <a:noFill/>
          <a:ln w="9525">
            <a:solidFill>
              <a:srgbClr val="E6ECEF"/>
            </a:solidFill>
            <a:prstDash val="solid"/>
          </a:ln>
        </p:spPr>
      </p:sp>
      <p:sp>
        <p:nvSpPr>
          <p:cNvPr id="32" name="矩形 31"/>
          <p:cNvSpPr>
            <a:spLocks noGrp="1"/>
          </p:cNvSpPr>
          <p:nvPr/>
        </p:nvSpPr>
        <p:spPr>
          <a:xfrm>
            <a:off x="7022306" y="4210050"/>
            <a:ext cx="419100" cy="190500"/>
          </a:xfrm>
          <a:prstGeom prst="rect">
            <a:avLst/>
          </a:prstGeom>
          <a:noFill/>
          <a:ln w="0">
            <a:noFill/>
            <a:prstDash val="solid"/>
          </a:ln>
        </p:spPr>
        <p:txBody>
          <a:bodyPr wrap="square" lIns="0" tIns="0" rIns="0" bIns="0" anchor="t">
            <a:normAutofit/>
          </a:bodyPr>
          <a:lstStyle/>
          <a:p>
            <a:pPr algn="ctr">
              <a:lnSpc>
                <a:spcPct val="105000"/>
              </a:lnSpc>
              <a:buNone/>
              <a:defRPr sz="900" b="0">
                <a:solidFill>
                  <a:srgbClr val="6B7B88"/>
                </a:solidFill>
                <a:latin typeface="微软雅黑" panose="020B0503020204020204" charset="-122"/>
                <a:ea typeface="微软雅黑" panose="020B0503020204020204" charset="-122"/>
                <a:cs typeface="微软雅黑" panose="020B0503020204020204" charset="-122"/>
              </a:defRPr>
            </a:pPr>
            <a:r>
              <a:rPr sz="900" b="0">
                <a:solidFill>
                  <a:srgbClr val="6B7B88"/>
                </a:solidFill>
                <a:latin typeface="微软雅黑" panose="020B0503020204020204" charset="-122"/>
                <a:ea typeface="微软雅黑" panose="020B0503020204020204" charset="-122"/>
                <a:cs typeface="微软雅黑" panose="020B0503020204020204" charset="-122"/>
              </a:rPr>
              <a:t>-1.0</a:t>
            </a:r>
            <a:endParaRPr sz="900"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33" name="直接连接符 32"/>
          <p:cNvSpPr>
            <a:spLocks noGrp="1"/>
          </p:cNvSpPr>
          <p:nvPr/>
        </p:nvSpPr>
        <p:spPr>
          <a:xfrm>
            <a:off x="9065419" y="2333625"/>
            <a:ext cx="953" cy="1819275"/>
          </a:xfrm>
          <a:prstGeom prst="line">
            <a:avLst/>
          </a:prstGeom>
          <a:noFill/>
          <a:ln w="16193">
            <a:solidFill>
              <a:srgbClr val="EF6A5B"/>
            </a:solidFill>
            <a:prstDash val="solid"/>
          </a:ln>
        </p:spPr>
      </p:sp>
      <p:sp>
        <p:nvSpPr>
          <p:cNvPr id="34" name="矩形 33"/>
          <p:cNvSpPr>
            <a:spLocks noGrp="1"/>
          </p:cNvSpPr>
          <p:nvPr/>
        </p:nvSpPr>
        <p:spPr>
          <a:xfrm>
            <a:off x="8855869" y="4210050"/>
            <a:ext cx="419100" cy="190500"/>
          </a:xfrm>
          <a:prstGeom prst="rect">
            <a:avLst/>
          </a:prstGeom>
          <a:noFill/>
          <a:ln w="0">
            <a:noFill/>
            <a:prstDash val="solid"/>
          </a:ln>
        </p:spPr>
        <p:txBody>
          <a:bodyPr wrap="square" lIns="0" tIns="0" rIns="0" bIns="0" anchor="t">
            <a:normAutofit/>
          </a:bodyPr>
          <a:lstStyle/>
          <a:p>
            <a:pPr algn="ctr">
              <a:lnSpc>
                <a:spcPct val="105000"/>
              </a:lnSpc>
              <a:buNone/>
              <a:defRPr sz="900" b="0">
                <a:solidFill>
                  <a:srgbClr val="6B7B88"/>
                </a:solidFill>
                <a:latin typeface="微软雅黑" panose="020B0503020204020204" charset="-122"/>
                <a:ea typeface="微软雅黑" panose="020B0503020204020204" charset="-122"/>
                <a:cs typeface="微软雅黑" panose="020B0503020204020204" charset="-122"/>
              </a:defRPr>
            </a:pPr>
            <a:r>
              <a:rPr sz="900" b="0">
                <a:solidFill>
                  <a:srgbClr val="6B7B88"/>
                </a:solidFill>
                <a:latin typeface="微软雅黑" panose="020B0503020204020204" charset="-122"/>
                <a:ea typeface="微软雅黑" panose="020B0503020204020204" charset="-122"/>
                <a:cs typeface="微软雅黑" panose="020B0503020204020204" charset="-122"/>
              </a:rPr>
              <a:t>0.0</a:t>
            </a:r>
            <a:endParaRPr sz="900"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35" name="直接连接符 34"/>
          <p:cNvSpPr>
            <a:spLocks noGrp="1"/>
          </p:cNvSpPr>
          <p:nvPr/>
        </p:nvSpPr>
        <p:spPr>
          <a:xfrm>
            <a:off x="10532269" y="2333625"/>
            <a:ext cx="953" cy="1819275"/>
          </a:xfrm>
          <a:prstGeom prst="line">
            <a:avLst/>
          </a:prstGeom>
          <a:noFill/>
          <a:ln w="9525">
            <a:solidFill>
              <a:srgbClr val="E6ECEF"/>
            </a:solidFill>
            <a:prstDash val="solid"/>
          </a:ln>
        </p:spPr>
      </p:sp>
      <p:sp>
        <p:nvSpPr>
          <p:cNvPr id="36" name="矩形 35"/>
          <p:cNvSpPr>
            <a:spLocks noGrp="1"/>
          </p:cNvSpPr>
          <p:nvPr/>
        </p:nvSpPr>
        <p:spPr>
          <a:xfrm>
            <a:off x="10322719" y="4210050"/>
            <a:ext cx="419100" cy="190500"/>
          </a:xfrm>
          <a:prstGeom prst="rect">
            <a:avLst/>
          </a:prstGeom>
          <a:noFill/>
          <a:ln w="0">
            <a:noFill/>
            <a:prstDash val="solid"/>
          </a:ln>
        </p:spPr>
        <p:txBody>
          <a:bodyPr wrap="square" lIns="0" tIns="0" rIns="0" bIns="0" anchor="t">
            <a:normAutofit/>
          </a:bodyPr>
          <a:lstStyle/>
          <a:p>
            <a:pPr algn="ctr">
              <a:lnSpc>
                <a:spcPct val="105000"/>
              </a:lnSpc>
              <a:buNone/>
              <a:defRPr sz="900" b="0">
                <a:solidFill>
                  <a:srgbClr val="6B7B88"/>
                </a:solidFill>
                <a:latin typeface="微软雅黑" panose="020B0503020204020204" charset="-122"/>
                <a:ea typeface="微软雅黑" panose="020B0503020204020204" charset="-122"/>
                <a:cs typeface="微软雅黑" panose="020B0503020204020204" charset="-122"/>
              </a:defRPr>
            </a:pPr>
            <a:r>
              <a:rPr sz="900" b="0">
                <a:solidFill>
                  <a:srgbClr val="6B7B88"/>
                </a:solidFill>
                <a:latin typeface="微软雅黑" panose="020B0503020204020204" charset="-122"/>
                <a:ea typeface="微软雅黑" panose="020B0503020204020204" charset="-122"/>
                <a:cs typeface="微软雅黑" panose="020B0503020204020204" charset="-122"/>
              </a:rPr>
              <a:t>0.8</a:t>
            </a:r>
            <a:endParaRPr sz="900"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37" name="矩形 36"/>
          <p:cNvSpPr>
            <a:spLocks noGrp="1"/>
          </p:cNvSpPr>
          <p:nvPr/>
        </p:nvSpPr>
        <p:spPr>
          <a:xfrm>
            <a:off x="5810250" y="2695575"/>
            <a:ext cx="1095375" cy="285750"/>
          </a:xfrm>
          <a:prstGeom prst="rect">
            <a:avLst/>
          </a:prstGeom>
          <a:noFill/>
          <a:ln w="0">
            <a:noFill/>
            <a:prstDash val="solid"/>
          </a:ln>
        </p:spPr>
        <p:txBody>
          <a:bodyPr wrap="square" lIns="0" tIns="0" rIns="0" bIns="0" anchor="ctr">
            <a:normAutofit/>
          </a:bodyPr>
          <a:lstStyle/>
          <a:p>
            <a:pPr algn="l">
              <a:lnSpc>
                <a:spcPct val="105000"/>
              </a:lnSpc>
              <a:buNone/>
              <a:defRPr sz="1275" b="1">
                <a:solidFill>
                  <a:srgbClr val="00A6A6"/>
                </a:solidFill>
                <a:latin typeface="微软雅黑" panose="020B0503020204020204" charset="-122"/>
                <a:ea typeface="微软雅黑" panose="020B0503020204020204" charset="-122"/>
                <a:cs typeface="微软雅黑" panose="020B0503020204020204" charset="-122"/>
              </a:defRPr>
            </a:pPr>
            <a:r>
              <a:rPr sz="1275" b="1">
                <a:solidFill>
                  <a:srgbClr val="00A6A6"/>
                </a:solidFill>
                <a:latin typeface="微软雅黑" panose="020B0503020204020204" charset="-122"/>
                <a:ea typeface="微软雅黑" panose="020B0503020204020204" charset="-122"/>
                <a:cs typeface="微软雅黑" panose="020B0503020204020204" charset="-122"/>
              </a:rPr>
              <a:t>男装邮件</a:t>
            </a:r>
            <a:endParaRPr sz="12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8" name="直接连接符 37"/>
          <p:cNvSpPr>
            <a:spLocks noGrp="1"/>
          </p:cNvSpPr>
          <p:nvPr/>
        </p:nvSpPr>
        <p:spPr>
          <a:xfrm>
            <a:off x="7265416" y="2838450"/>
            <a:ext cx="2864993" cy="953"/>
          </a:xfrm>
          <a:prstGeom prst="line">
            <a:avLst/>
          </a:prstGeom>
          <a:noFill/>
          <a:ln w="38100">
            <a:solidFill>
              <a:srgbClr val="173A5E"/>
            </a:solidFill>
            <a:prstDash val="solid"/>
          </a:ln>
        </p:spPr>
      </p:sp>
      <p:sp>
        <p:nvSpPr>
          <p:cNvPr id="39" name="直接连接符 38"/>
          <p:cNvSpPr>
            <a:spLocks noGrp="1"/>
          </p:cNvSpPr>
          <p:nvPr/>
        </p:nvSpPr>
        <p:spPr>
          <a:xfrm>
            <a:off x="7265416" y="2762250"/>
            <a:ext cx="953" cy="152400"/>
          </a:xfrm>
          <a:prstGeom prst="line">
            <a:avLst/>
          </a:prstGeom>
          <a:noFill/>
          <a:ln w="19050">
            <a:solidFill>
              <a:srgbClr val="173A5E"/>
            </a:solidFill>
            <a:prstDash val="solid"/>
          </a:ln>
        </p:spPr>
      </p:sp>
      <p:sp>
        <p:nvSpPr>
          <p:cNvPr id="40" name="直接连接符 39"/>
          <p:cNvSpPr>
            <a:spLocks noGrp="1"/>
          </p:cNvSpPr>
          <p:nvPr/>
        </p:nvSpPr>
        <p:spPr>
          <a:xfrm>
            <a:off x="10130409" y="2762250"/>
            <a:ext cx="953" cy="152400"/>
          </a:xfrm>
          <a:prstGeom prst="line">
            <a:avLst/>
          </a:prstGeom>
          <a:noFill/>
          <a:ln w="19050">
            <a:solidFill>
              <a:srgbClr val="173A5E"/>
            </a:solidFill>
            <a:prstDash val="solid"/>
          </a:ln>
        </p:spPr>
      </p:sp>
      <p:sp>
        <p:nvSpPr>
          <p:cNvPr id="41" name="椭圆 40"/>
          <p:cNvSpPr>
            <a:spLocks noGrp="1"/>
          </p:cNvSpPr>
          <p:nvPr/>
        </p:nvSpPr>
        <p:spPr>
          <a:xfrm>
            <a:off x="8615850" y="2771775"/>
            <a:ext cx="133350" cy="133350"/>
          </a:xfrm>
          <a:prstGeom prst="ellipse">
            <a:avLst/>
          </a:prstGeom>
          <a:solidFill>
            <a:srgbClr val="00A6A6"/>
          </a:solidFill>
          <a:ln w="9525">
            <a:solidFill>
              <a:srgbClr val="FFFFFF"/>
            </a:solidFill>
            <a:prstDash val="solid"/>
          </a:ln>
        </p:spPr>
      </p:sp>
      <p:sp>
        <p:nvSpPr>
          <p:cNvPr id="42" name="矩形 41"/>
          <p:cNvSpPr>
            <a:spLocks noGrp="1"/>
          </p:cNvSpPr>
          <p:nvPr/>
        </p:nvSpPr>
        <p:spPr>
          <a:xfrm>
            <a:off x="7191375" y="3009900"/>
            <a:ext cx="3429000" cy="228600"/>
          </a:xfrm>
          <a:prstGeom prst="rect">
            <a:avLst/>
          </a:prstGeom>
          <a:noFill/>
          <a:ln w="0">
            <a:noFill/>
            <a:prstDash val="solid"/>
          </a:ln>
        </p:spPr>
        <p:txBody>
          <a:bodyPr wrap="square" lIns="0" tIns="0" rIns="0" bIns="0" anchor="t">
            <a:normAutofit/>
          </a:bodyPr>
          <a:lstStyle/>
          <a:p>
            <a:pPr algn="ctr">
              <a:lnSpc>
                <a:spcPct val="105000"/>
              </a:lnSpc>
              <a:buNone/>
              <a:defRPr sz="975" b="0">
                <a:solidFill>
                  <a:srgbClr val="314252"/>
                </a:solidFill>
                <a:latin typeface="微软雅黑" panose="020B0503020204020204" charset="-122"/>
                <a:ea typeface="微软雅黑" panose="020B0503020204020204" charset="-122"/>
                <a:cs typeface="微软雅黑" panose="020B0503020204020204" charset="-122"/>
              </a:defRPr>
            </a:pPr>
            <a:r>
              <a:rPr sz="975" b="0">
                <a:solidFill>
                  <a:srgbClr val="314252"/>
                </a:solidFill>
                <a:latin typeface="微软雅黑" panose="020B0503020204020204" charset="-122"/>
                <a:ea typeface="微软雅黑" panose="020B0503020204020204" charset="-122"/>
                <a:cs typeface="微软雅黑" panose="020B0503020204020204" charset="-122"/>
              </a:rPr>
              <a:t>-0.209  [-0.982, 0.581]</a:t>
            </a:r>
            <a:endParaRPr sz="9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43" name="矩形 42"/>
          <p:cNvSpPr>
            <a:spLocks noGrp="1"/>
          </p:cNvSpPr>
          <p:nvPr/>
        </p:nvSpPr>
        <p:spPr>
          <a:xfrm>
            <a:off x="10191750" y="2466975"/>
            <a:ext cx="1285875" cy="209550"/>
          </a:xfrm>
          <a:prstGeom prst="rect">
            <a:avLst/>
          </a:prstGeom>
          <a:noFill/>
          <a:ln w="0">
            <a:noFill/>
            <a:prstDash val="solid"/>
          </a:ln>
        </p:spPr>
        <p:txBody>
          <a:bodyPr wrap="square" lIns="0" tIns="0" rIns="0" bIns="0" anchor="t">
            <a:normAutofit fontScale="77062"/>
          </a:bodyPr>
          <a:lstStyle/>
          <a:p>
            <a:pPr algn="r">
              <a:lnSpc>
                <a:spcPct val="105000"/>
              </a:lnSpc>
              <a:buNone/>
              <a:defRPr sz="900" b="0">
                <a:solidFill>
                  <a:srgbClr val="6B7B88"/>
                </a:solidFill>
                <a:latin typeface="微软雅黑" panose="020B0503020204020204" charset="-122"/>
                <a:ea typeface="微软雅黑" panose="020B0503020204020204" charset="-122"/>
                <a:cs typeface="微软雅黑" panose="020B0503020204020204" charset="-122"/>
              </a:defRPr>
            </a:pPr>
            <a:r>
              <a:rPr sz="900" b="0">
                <a:solidFill>
                  <a:srgbClr val="6B7B88"/>
                </a:solidFill>
                <a:latin typeface="微软雅黑" panose="020B0503020204020204" charset="-122"/>
                <a:ea typeface="微软雅黑" panose="020B0503020204020204" charset="-122"/>
                <a:cs typeface="微软雅黑" panose="020B0503020204020204" charset="-122"/>
              </a:rPr>
              <a:t>超越随机排序的曲线面积 −0.037</a:t>
            </a:r>
            <a:endParaRPr sz="900"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44" name="矩形 43"/>
          <p:cNvSpPr>
            <a:spLocks noGrp="1"/>
          </p:cNvSpPr>
          <p:nvPr/>
        </p:nvSpPr>
        <p:spPr>
          <a:xfrm>
            <a:off x="5810250" y="3571875"/>
            <a:ext cx="1095375" cy="285750"/>
          </a:xfrm>
          <a:prstGeom prst="rect">
            <a:avLst/>
          </a:prstGeom>
          <a:noFill/>
          <a:ln w="0">
            <a:noFill/>
            <a:prstDash val="solid"/>
          </a:ln>
        </p:spPr>
        <p:txBody>
          <a:bodyPr wrap="square" lIns="0" tIns="0" rIns="0" bIns="0" anchor="ctr">
            <a:normAutofit/>
          </a:bodyPr>
          <a:lstStyle/>
          <a:p>
            <a:pPr algn="l">
              <a:lnSpc>
                <a:spcPct val="105000"/>
              </a:lnSpc>
              <a:buNone/>
              <a:defRPr sz="1275" b="1">
                <a:solidFill>
                  <a:srgbClr val="173A5E"/>
                </a:solidFill>
                <a:latin typeface="微软雅黑" panose="020B0503020204020204" charset="-122"/>
                <a:ea typeface="微软雅黑" panose="020B0503020204020204" charset="-122"/>
                <a:cs typeface="微软雅黑" panose="020B0503020204020204" charset="-122"/>
              </a:defRPr>
            </a:pPr>
            <a:r>
              <a:rPr sz="1275" b="1">
                <a:solidFill>
                  <a:srgbClr val="173A5E"/>
                </a:solidFill>
                <a:latin typeface="微软雅黑" panose="020B0503020204020204" charset="-122"/>
                <a:ea typeface="微软雅黑" panose="020B0503020204020204" charset="-122"/>
                <a:cs typeface="微软雅黑" panose="020B0503020204020204" charset="-122"/>
              </a:rPr>
              <a:t>女装邮件</a:t>
            </a:r>
            <a:endParaRPr sz="1275" b="1">
              <a:solidFill>
                <a:srgbClr val="173A5E"/>
              </a:solidFill>
              <a:latin typeface="微软雅黑" panose="020B0503020204020204" charset="-122"/>
              <a:ea typeface="微软雅黑" panose="020B0503020204020204" charset="-122"/>
              <a:cs typeface="微软雅黑" panose="020B0503020204020204" charset="-122"/>
            </a:endParaRPr>
          </a:p>
        </p:txBody>
      </p:sp>
      <p:sp>
        <p:nvSpPr>
          <p:cNvPr id="45" name="直接连接符 44"/>
          <p:cNvSpPr>
            <a:spLocks noGrp="1"/>
          </p:cNvSpPr>
          <p:nvPr/>
        </p:nvSpPr>
        <p:spPr>
          <a:xfrm>
            <a:off x="8078487" y="3714750"/>
            <a:ext cx="2408388" cy="953"/>
          </a:xfrm>
          <a:prstGeom prst="line">
            <a:avLst/>
          </a:prstGeom>
          <a:noFill/>
          <a:ln w="38100">
            <a:solidFill>
              <a:srgbClr val="173A5E"/>
            </a:solidFill>
            <a:prstDash val="solid"/>
          </a:ln>
        </p:spPr>
      </p:sp>
      <p:sp>
        <p:nvSpPr>
          <p:cNvPr id="46" name="直接连接符 45"/>
          <p:cNvSpPr>
            <a:spLocks noGrp="1"/>
          </p:cNvSpPr>
          <p:nvPr/>
        </p:nvSpPr>
        <p:spPr>
          <a:xfrm>
            <a:off x="8078487" y="3638550"/>
            <a:ext cx="953" cy="152400"/>
          </a:xfrm>
          <a:prstGeom prst="line">
            <a:avLst/>
          </a:prstGeom>
          <a:noFill/>
          <a:ln w="19050">
            <a:solidFill>
              <a:srgbClr val="173A5E"/>
            </a:solidFill>
            <a:prstDash val="solid"/>
          </a:ln>
        </p:spPr>
      </p:sp>
      <p:sp>
        <p:nvSpPr>
          <p:cNvPr id="47" name="直接连接符 46"/>
          <p:cNvSpPr>
            <a:spLocks noGrp="1"/>
          </p:cNvSpPr>
          <p:nvPr/>
        </p:nvSpPr>
        <p:spPr>
          <a:xfrm>
            <a:off x="10486875" y="3638550"/>
            <a:ext cx="953" cy="152400"/>
          </a:xfrm>
          <a:prstGeom prst="line">
            <a:avLst/>
          </a:prstGeom>
          <a:noFill/>
          <a:ln w="19050">
            <a:solidFill>
              <a:srgbClr val="173A5E"/>
            </a:solidFill>
            <a:prstDash val="solid"/>
          </a:ln>
        </p:spPr>
      </p:sp>
      <p:sp>
        <p:nvSpPr>
          <p:cNvPr id="48" name="椭圆 47"/>
          <p:cNvSpPr>
            <a:spLocks noGrp="1"/>
          </p:cNvSpPr>
          <p:nvPr/>
        </p:nvSpPr>
        <p:spPr>
          <a:xfrm>
            <a:off x="9233658" y="3648075"/>
            <a:ext cx="133350" cy="133350"/>
          </a:xfrm>
          <a:prstGeom prst="ellipse">
            <a:avLst/>
          </a:prstGeom>
          <a:solidFill>
            <a:srgbClr val="173A5E"/>
          </a:solidFill>
          <a:ln w="9525">
            <a:solidFill>
              <a:srgbClr val="FFFFFF"/>
            </a:solidFill>
            <a:prstDash val="solid"/>
          </a:ln>
        </p:spPr>
      </p:sp>
      <p:sp>
        <p:nvSpPr>
          <p:cNvPr id="49" name="矩形 48"/>
          <p:cNvSpPr>
            <a:spLocks noGrp="1"/>
          </p:cNvSpPr>
          <p:nvPr/>
        </p:nvSpPr>
        <p:spPr>
          <a:xfrm>
            <a:off x="7191375" y="3886200"/>
            <a:ext cx="3429000" cy="228600"/>
          </a:xfrm>
          <a:prstGeom prst="rect">
            <a:avLst/>
          </a:prstGeom>
          <a:noFill/>
          <a:ln w="0">
            <a:noFill/>
            <a:prstDash val="solid"/>
          </a:ln>
        </p:spPr>
        <p:txBody>
          <a:bodyPr wrap="square" lIns="0" tIns="0" rIns="0" bIns="0" anchor="t">
            <a:normAutofit/>
          </a:bodyPr>
          <a:lstStyle/>
          <a:p>
            <a:pPr algn="ctr">
              <a:lnSpc>
                <a:spcPct val="105000"/>
              </a:lnSpc>
              <a:buNone/>
              <a:defRPr sz="975" b="0">
                <a:solidFill>
                  <a:srgbClr val="314252"/>
                </a:solidFill>
                <a:latin typeface="微软雅黑" panose="020B0503020204020204" charset="-122"/>
                <a:ea typeface="微软雅黑" panose="020B0503020204020204" charset="-122"/>
                <a:cs typeface="微软雅黑" panose="020B0503020204020204" charset="-122"/>
              </a:defRPr>
            </a:pPr>
            <a:r>
              <a:rPr sz="975" b="0">
                <a:solidFill>
                  <a:srgbClr val="314252"/>
                </a:solidFill>
                <a:latin typeface="微软雅黑" panose="020B0503020204020204" charset="-122"/>
                <a:ea typeface="微软雅黑" panose="020B0503020204020204" charset="-122"/>
                <a:cs typeface="微软雅黑" panose="020B0503020204020204" charset="-122"/>
              </a:rPr>
              <a:t>+0.128  [-0.538, 0.775]</a:t>
            </a:r>
            <a:endParaRPr sz="9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50" name="矩形 49"/>
          <p:cNvSpPr>
            <a:spLocks noGrp="1"/>
          </p:cNvSpPr>
          <p:nvPr/>
        </p:nvSpPr>
        <p:spPr>
          <a:xfrm>
            <a:off x="10191750" y="3343275"/>
            <a:ext cx="1285875" cy="209550"/>
          </a:xfrm>
          <a:prstGeom prst="rect">
            <a:avLst/>
          </a:prstGeom>
          <a:noFill/>
          <a:ln w="0">
            <a:noFill/>
            <a:prstDash val="solid"/>
          </a:ln>
        </p:spPr>
        <p:txBody>
          <a:bodyPr wrap="square" lIns="0" tIns="0" rIns="0" bIns="0" anchor="t">
            <a:normAutofit fontScale="77062"/>
          </a:bodyPr>
          <a:lstStyle/>
          <a:p>
            <a:pPr algn="r">
              <a:lnSpc>
                <a:spcPct val="105000"/>
              </a:lnSpc>
              <a:buNone/>
              <a:defRPr sz="900" b="0">
                <a:solidFill>
                  <a:srgbClr val="6B7B88"/>
                </a:solidFill>
                <a:latin typeface="微软雅黑" panose="020B0503020204020204" charset="-122"/>
                <a:ea typeface="微软雅黑" panose="020B0503020204020204" charset="-122"/>
                <a:cs typeface="微软雅黑" panose="020B0503020204020204" charset="-122"/>
              </a:defRPr>
            </a:pPr>
            <a:r>
              <a:rPr sz="900" b="0">
                <a:solidFill>
                  <a:srgbClr val="6B7B88"/>
                </a:solidFill>
                <a:latin typeface="微软雅黑" panose="020B0503020204020204" charset="-122"/>
                <a:ea typeface="微软雅黑" panose="020B0503020204020204" charset="-122"/>
                <a:cs typeface="微软雅黑" panose="020B0503020204020204" charset="-122"/>
              </a:rPr>
              <a:t>超越随机排序的曲线面积 +0.017</a:t>
            </a:r>
            <a:endParaRPr sz="900"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51" name="圆角矩形 50"/>
          <p:cNvSpPr>
            <a:spLocks noGrp="1"/>
          </p:cNvSpPr>
          <p:nvPr/>
        </p:nvSpPr>
        <p:spPr>
          <a:xfrm>
            <a:off x="5810250" y="4743450"/>
            <a:ext cx="5667375" cy="1200150"/>
          </a:xfrm>
          <a:prstGeom prst="roundRect">
            <a:avLst>
              <a:gd name="adj" fmla="val 9524"/>
            </a:avLst>
          </a:prstGeom>
          <a:solidFill>
            <a:srgbClr val="FEF0ED"/>
          </a:solidFill>
          <a:ln w="0">
            <a:noFill/>
            <a:prstDash val="solid"/>
          </a:ln>
        </p:spPr>
      </p:sp>
      <p:sp>
        <p:nvSpPr>
          <p:cNvPr id="52" name="矩形 51"/>
          <p:cNvSpPr>
            <a:spLocks noGrp="1"/>
          </p:cNvSpPr>
          <p:nvPr/>
        </p:nvSpPr>
        <p:spPr>
          <a:xfrm>
            <a:off x="6000750" y="4953000"/>
            <a:ext cx="5048250" cy="266700"/>
          </a:xfrm>
          <a:prstGeom prst="rect">
            <a:avLst/>
          </a:prstGeom>
          <a:noFill/>
          <a:ln w="0">
            <a:noFill/>
            <a:prstDash val="solid"/>
          </a:ln>
        </p:spPr>
        <p:txBody>
          <a:bodyPr wrap="square" lIns="0" tIns="0" rIns="0" bIns="0" anchor="t">
            <a:normAutofit/>
          </a:bodyPr>
          <a:lstStyle/>
          <a:p>
            <a:pPr algn="l">
              <a:lnSpc>
                <a:spcPct val="105000"/>
              </a:lnSpc>
              <a:buNone/>
              <a:defRPr sz="1350" b="1">
                <a:solidFill>
                  <a:srgbClr val="EF6A5B"/>
                </a:solidFill>
                <a:latin typeface="微软雅黑" panose="020B0503020204020204" charset="-122"/>
                <a:ea typeface="微软雅黑" panose="020B0503020204020204" charset="-122"/>
                <a:cs typeface="微软雅黑" panose="020B0503020204020204" charset="-122"/>
              </a:defRPr>
            </a:pPr>
            <a:r>
              <a:rPr sz="1350" b="1">
                <a:solidFill>
                  <a:srgbClr val="EF6A5B"/>
                </a:solidFill>
                <a:latin typeface="微软雅黑" panose="020B0503020204020204" charset="-122"/>
                <a:ea typeface="微软雅黑" panose="020B0503020204020204" charset="-122"/>
                <a:cs typeface="微软雅黑" panose="020B0503020204020204" charset="-122"/>
              </a:rPr>
              <a:t>排序证据不足</a:t>
            </a:r>
            <a:endParaRPr sz="1350" b="1">
              <a:solidFill>
                <a:srgbClr val="EF6A5B"/>
              </a:solidFill>
              <a:latin typeface="微软雅黑" panose="020B0503020204020204" charset="-122"/>
              <a:ea typeface="微软雅黑" panose="020B0503020204020204" charset="-122"/>
              <a:cs typeface="微软雅黑" panose="020B0503020204020204" charset="-122"/>
            </a:endParaRPr>
          </a:p>
        </p:txBody>
      </p:sp>
      <p:sp>
        <p:nvSpPr>
          <p:cNvPr id="53" name="矩形 52"/>
          <p:cNvSpPr>
            <a:spLocks noGrp="1"/>
          </p:cNvSpPr>
          <p:nvPr/>
        </p:nvSpPr>
        <p:spPr>
          <a:xfrm>
            <a:off x="6000750" y="5343525"/>
            <a:ext cx="5143500" cy="457200"/>
          </a:xfrm>
          <a:prstGeom prst="rect">
            <a:avLst/>
          </a:prstGeom>
          <a:noFill/>
          <a:ln w="0">
            <a:noFill/>
            <a:prstDash val="solid"/>
          </a:ln>
        </p:spPr>
        <p:txBody>
          <a:bodyPr wrap="square" lIns="0" tIns="0" rIns="0" bIns="0" anchor="t">
            <a:normAutofit/>
          </a:bodyPr>
          <a:lstStyle/>
          <a:p>
            <a:pPr algn="l">
              <a:lnSpc>
                <a:spcPct val="112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两条前后分组差异区间均跨 0；霍尔姆校正显著性概率为 1.0。当前可观测特征不足以支持可靠、可泛化的精准投放。</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矩形 24"/>
          <p:cNvSpPr>
            <a:spLocks noGrp="1"/>
          </p:cNvSpPr>
          <p:nvPr/>
        </p:nvSpPr>
        <p:spPr>
          <a:xfrm>
            <a:off x="647700" y="371475"/>
            <a:ext cx="495300" cy="57150"/>
          </a:xfrm>
          <a:prstGeom prst="rect">
            <a:avLst/>
          </a:prstGeom>
          <a:solidFill>
            <a:srgbClr val="00A6A6"/>
          </a:solidFill>
          <a:ln w="0">
            <a:noFill/>
            <a:prstDash val="solid"/>
          </a:ln>
        </p:spPr>
      </p:sp>
      <p:sp>
        <p:nvSpPr>
          <p:cNvPr id="2" name="矩形 1"/>
          <p:cNvSpPr>
            <a:spLocks noGrp="1"/>
          </p:cNvSpPr>
          <p:nvPr/>
        </p:nvSpPr>
        <p:spPr>
          <a:xfrm>
            <a:off x="647700" y="495300"/>
            <a:ext cx="3429000" cy="228600"/>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00A6A6"/>
                </a:solidFill>
                <a:latin typeface="微软雅黑" panose="020B0503020204020204" charset="-122"/>
                <a:ea typeface="微软雅黑" panose="020B0503020204020204" charset="-122"/>
                <a:cs typeface="微软雅黑" panose="020B0503020204020204" charset="-122"/>
              </a:defRPr>
            </a:pPr>
            <a:r>
              <a:rPr sz="975" b="1">
                <a:solidFill>
                  <a:srgbClr val="00A6A6"/>
                </a:solidFill>
                <a:latin typeface="微软雅黑" panose="020B0503020204020204" charset="-122"/>
                <a:ea typeface="微软雅黑" panose="020B0503020204020204" charset="-122"/>
                <a:cs typeface="微软雅黑" panose="020B0503020204020204" charset="-122"/>
              </a:rPr>
              <a:t>多行动策略价值</a:t>
            </a:r>
            <a:endParaRPr sz="9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47700" y="742950"/>
            <a:ext cx="10287000" cy="495300"/>
          </a:xfrm>
          <a:prstGeom prst="rect">
            <a:avLst/>
          </a:prstGeom>
          <a:noFill/>
          <a:ln w="0">
            <a:noFill/>
            <a:prstDash val="solid"/>
          </a:ln>
        </p:spPr>
        <p:txBody>
          <a:bodyPr wrap="none" lIns="0" tIns="0" rIns="0" bIns="0" anchor="ctr">
            <a:normAutofit/>
          </a:bodyPr>
          <a:lstStyle/>
          <a:p>
            <a:pPr algn="l">
              <a:lnSpc>
                <a:spcPct val="105000"/>
              </a:lnSpc>
              <a:buNone/>
              <a:defRPr sz="2850" b="1">
                <a:solidFill>
                  <a:srgbClr val="0B1F33"/>
                </a:solidFill>
                <a:latin typeface="微软雅黑" panose="020B0503020204020204" charset="-122"/>
                <a:ea typeface="微软雅黑" panose="020B0503020204020204" charset="-122"/>
                <a:cs typeface="微软雅黑" panose="020B0503020204020204" charset="-122"/>
              </a:defRPr>
            </a:pPr>
            <a:r>
              <a:rPr sz="2850" b="1">
                <a:solidFill>
                  <a:srgbClr val="0B1F33"/>
                </a:solidFill>
                <a:latin typeface="微软雅黑" panose="020B0503020204020204" charset="-122"/>
                <a:ea typeface="微软雅黑" panose="020B0503020204020204" charset="-122"/>
                <a:cs typeface="微软雅黑" panose="020B0503020204020204" charset="-122"/>
              </a:rPr>
              <a:t>策略评估支持全量男装邮件；个性化未超越最佳静态策略</a:t>
            </a:r>
            <a:endParaRPr sz="28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4" name="矩形 3"/>
          <p:cNvSpPr>
            <a:spLocks noGrp="1"/>
          </p:cNvSpPr>
          <p:nvPr/>
        </p:nvSpPr>
        <p:spPr>
          <a:xfrm>
            <a:off x="11125200" y="495300"/>
            <a:ext cx="419100" cy="209550"/>
          </a:xfrm>
          <a:prstGeom prst="rect">
            <a:avLst/>
          </a:prstGeom>
          <a:noFill/>
          <a:ln w="0">
            <a:noFill/>
            <a:prstDash val="solid"/>
          </a:ln>
        </p:spPr>
        <p:txBody>
          <a:bodyPr wrap="square" lIns="0" tIns="0" rIns="0" bIns="0" anchor="ctr">
            <a:normAutofit/>
          </a:bodyPr>
          <a:lstStyle/>
          <a:p>
            <a:pPr algn="r">
              <a:lnSpc>
                <a:spcPct val="105000"/>
              </a:lnSpc>
              <a:buNone/>
              <a:defRPr sz="975" b="1">
                <a:solidFill>
                  <a:srgbClr val="6B7B88"/>
                </a:solidFill>
                <a:latin typeface="微软雅黑" panose="020B0503020204020204" charset="-122"/>
                <a:ea typeface="微软雅黑" panose="020B0503020204020204" charset="-122"/>
                <a:cs typeface="微软雅黑" panose="020B0503020204020204" charset="-122"/>
              </a:defRPr>
            </a:pPr>
            <a:r>
              <a:rPr sz="975" b="1">
                <a:solidFill>
                  <a:srgbClr val="6B7B88"/>
                </a:solidFill>
                <a:latin typeface="微软雅黑" panose="020B0503020204020204" charset="-122"/>
                <a:ea typeface="微软雅黑" panose="020B0503020204020204" charset="-122"/>
                <a:cs typeface="微软雅黑" panose="020B0503020204020204" charset="-122"/>
              </a:rPr>
              <a:t>07</a:t>
            </a:r>
            <a:endParaRPr sz="975"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5" name="直接连接符 4"/>
          <p:cNvSpPr>
            <a:spLocks noGrp="1"/>
          </p:cNvSpPr>
          <p:nvPr/>
        </p:nvSpPr>
        <p:spPr>
          <a:xfrm>
            <a:off x="647700" y="6276975"/>
            <a:ext cx="10896600" cy="953"/>
          </a:xfrm>
          <a:prstGeom prst="line">
            <a:avLst/>
          </a:prstGeom>
          <a:noFill/>
          <a:ln w="9525">
            <a:solidFill>
              <a:srgbClr val="E6ECEF"/>
            </a:solidFill>
            <a:prstDash val="solid"/>
          </a:ln>
        </p:spPr>
      </p:sp>
      <p:sp>
        <p:nvSpPr>
          <p:cNvPr id="6" name="矩形 5"/>
          <p:cNvSpPr>
            <a:spLocks noGrp="1"/>
          </p:cNvSpPr>
          <p:nvPr/>
        </p:nvSpPr>
        <p:spPr>
          <a:xfrm>
            <a:off x="647700" y="6381750"/>
            <a:ext cx="4857750" cy="190500"/>
          </a:xfrm>
          <a:prstGeom prst="rect">
            <a:avLst/>
          </a:prstGeom>
          <a:noFill/>
          <a:ln w="0">
            <a:noFill/>
            <a:prstDash val="solid"/>
          </a:ln>
        </p:spPr>
        <p:txBody>
          <a:bodyPr wrap="square" lIns="0" tIns="0" rIns="0" bIns="0" anchor="t">
            <a:normAutofit/>
          </a:bodyPr>
          <a:lstStyle/>
          <a:p>
            <a:pPr algn="l">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来源：经验证的Hillstorm最终分析结果</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nvSpPr>
        <p:spPr>
          <a:xfrm>
            <a:off x="7886700" y="6381750"/>
            <a:ext cx="3657600" cy="190500"/>
          </a:xfrm>
          <a:prstGeom prst="rect">
            <a:avLst/>
          </a:prstGeom>
          <a:noFill/>
          <a:ln w="0">
            <a:noFill/>
            <a:prstDash val="solid"/>
          </a:ln>
        </p:spPr>
        <p:txBody>
          <a:bodyPr wrap="square" lIns="0" tIns="0" rIns="0" bIns="0" anchor="t">
            <a:normAutofit/>
          </a:bodyPr>
          <a:lstStyle/>
          <a:p>
            <a:pPr algn="r">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每名随机客户的消费金额｜并非投资回报率</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66750" y="1419225"/>
            <a:ext cx="4857750" cy="228600"/>
          </a:xfrm>
          <a:prstGeom prst="rect">
            <a:avLst/>
          </a:prstGeom>
          <a:noFill/>
          <a:ln w="0">
            <a:noFill/>
            <a:prstDash val="solid"/>
          </a:ln>
        </p:spPr>
        <p:txBody>
          <a:bodyPr wrap="square" lIns="0" tIns="0" rIns="0" bIns="0" anchor="t">
            <a:normAutofit/>
          </a:bodyPr>
          <a:lstStyle/>
          <a:p>
            <a:pPr algn="l">
              <a:lnSpc>
                <a:spcPct val="105000"/>
              </a:lnSpc>
              <a:buNone/>
              <a:defRPr sz="1125" b="1">
                <a:solidFill>
                  <a:srgbClr val="6B7B88"/>
                </a:solidFill>
                <a:latin typeface="微软雅黑" panose="020B0503020204020204" charset="-122"/>
                <a:ea typeface="微软雅黑" panose="020B0503020204020204" charset="-122"/>
                <a:cs typeface="微软雅黑" panose="020B0503020204020204" charset="-122"/>
              </a:defRPr>
            </a:pPr>
            <a:r>
              <a:rPr sz="1125" b="1">
                <a:solidFill>
                  <a:srgbClr val="6B7B88"/>
                </a:solidFill>
                <a:latin typeface="微软雅黑" panose="020B0503020204020204" charset="-122"/>
                <a:ea typeface="微软雅黑" panose="020B0503020204020204" charset="-122"/>
                <a:cs typeface="微软雅黑" panose="020B0503020204020204" charset="-122"/>
              </a:rPr>
              <a:t>增广逆概率加权预期人均消费金额</a:t>
            </a:r>
            <a:endParaRPr sz="1125" b="1">
              <a:solidFill>
                <a:srgbClr val="6B7B88"/>
              </a:solidFill>
              <a:latin typeface="微软雅黑" panose="020B0503020204020204" charset="-122"/>
              <a:ea typeface="微软雅黑" panose="020B0503020204020204" charset="-122"/>
              <a:cs typeface="微软雅黑" panose="020B0503020204020204" charset="-122"/>
            </a:endParaRPr>
          </a:p>
        </p:txBody>
      </p:sp>
      <p:graphicFrame>
        <p:nvGraphicFramePr>
          <p:cNvPr id="35" name="Chart"/>
          <p:cNvGraphicFramePr/>
          <p:nvPr/>
        </p:nvGraphicFramePr>
        <p:xfrm>
          <a:off x="609600" y="1733550"/>
          <a:ext cx="6096000" cy="3286125"/>
        </p:xfrm>
        <a:graphic>
          <a:graphicData uri="http://schemas.openxmlformats.org/drawingml/2006/chart">
            <c:chart xmlns:c="http://schemas.openxmlformats.org/drawingml/2006/chart" xmlns:r="http://schemas.openxmlformats.org/officeDocument/2006/relationships" r:id="rId1"/>
          </a:graphicData>
        </a:graphic>
      </p:graphicFrame>
      <p:sp>
        <p:nvSpPr>
          <p:cNvPr id="10" name="矩形 9"/>
          <p:cNvSpPr>
            <a:spLocks noGrp="1"/>
          </p:cNvSpPr>
          <p:nvPr/>
        </p:nvSpPr>
        <p:spPr>
          <a:xfrm>
            <a:off x="7219950" y="1438275"/>
            <a:ext cx="2190750"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核心对比</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7219950" y="1809750"/>
            <a:ext cx="2095500" cy="571500"/>
          </a:xfrm>
          <a:prstGeom prst="rect">
            <a:avLst/>
          </a:prstGeom>
          <a:noFill/>
          <a:ln w="0">
            <a:noFill/>
            <a:prstDash val="solid"/>
          </a:ln>
        </p:spPr>
        <p:txBody>
          <a:bodyPr wrap="square" lIns="0" tIns="0" rIns="0" bIns="0" anchor="t">
            <a:normAutofit/>
          </a:bodyPr>
          <a:lstStyle/>
          <a:p>
            <a:pPr algn="l">
              <a:lnSpc>
                <a:spcPct val="105000"/>
              </a:lnSpc>
              <a:buNone/>
              <a:defRPr sz="3300" b="1">
                <a:solidFill>
                  <a:srgbClr val="EF6A5B"/>
                </a:solidFill>
                <a:latin typeface="微软雅黑" panose="020B0503020204020204" charset="-122"/>
                <a:ea typeface="微软雅黑" panose="020B0503020204020204" charset="-122"/>
                <a:cs typeface="微软雅黑" panose="020B0503020204020204" charset="-122"/>
              </a:defRPr>
            </a:pPr>
            <a:r>
              <a:rPr sz="3300" b="1">
                <a:solidFill>
                  <a:srgbClr val="EF6A5B"/>
                </a:solidFill>
                <a:latin typeface="微软雅黑" panose="020B0503020204020204" charset="-122"/>
                <a:ea typeface="微软雅黑" panose="020B0503020204020204" charset="-122"/>
                <a:cs typeface="微软雅黑" panose="020B0503020204020204" charset="-122"/>
              </a:rPr>
              <a:t>−0.078</a:t>
            </a:r>
            <a:endParaRPr sz="3300" b="1">
              <a:solidFill>
                <a:srgbClr val="EF6A5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7219950" y="2428875"/>
            <a:ext cx="4048125" cy="266700"/>
          </a:xfrm>
          <a:prstGeom prst="rect">
            <a:avLst/>
          </a:prstGeom>
          <a:noFill/>
          <a:ln w="0">
            <a:noFill/>
            <a:prstDash val="solid"/>
          </a:ln>
        </p:spPr>
        <p:txBody>
          <a:bodyPr wrap="square" lIns="0" tIns="0" rIns="0" bIns="0" anchor="t">
            <a:normAutofit/>
          </a:bodyPr>
          <a:lstStyle/>
          <a:p>
            <a:pPr algn="l">
              <a:lnSpc>
                <a:spcPct val="105000"/>
              </a:lnSpc>
              <a:buNone/>
              <a:defRPr sz="1350" b="1">
                <a:solidFill>
                  <a:srgbClr val="17222E"/>
                </a:solidFill>
                <a:latin typeface="微软雅黑" panose="020B0503020204020204" charset="-122"/>
                <a:ea typeface="微软雅黑" panose="020B0503020204020204" charset="-122"/>
                <a:cs typeface="微软雅黑" panose="020B0503020204020204" charset="-122"/>
              </a:defRPr>
            </a:pPr>
            <a:r>
              <a:rPr sz="1350" b="1">
                <a:solidFill>
                  <a:srgbClr val="17222E"/>
                </a:solidFill>
                <a:latin typeface="微软雅黑" panose="020B0503020204020204" charset="-122"/>
                <a:ea typeface="微软雅黑" panose="020B0503020204020204" charset="-122"/>
                <a:cs typeface="微软雅黑" panose="020B0503020204020204" charset="-122"/>
              </a:rPr>
              <a:t>个性化双重稳健策略 对比 全量男装邮件</a:t>
            </a:r>
            <a:endParaRPr sz="135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7219950" y="2876550"/>
            <a:ext cx="4048125" cy="266700"/>
          </a:xfrm>
          <a:prstGeom prst="rect">
            <a:avLst/>
          </a:prstGeom>
          <a:noFill/>
          <a:ln w="0">
            <a:noFill/>
            <a:prstDash val="solid"/>
          </a:ln>
        </p:spPr>
        <p:txBody>
          <a:bodyPr wrap="square" lIns="0" tIns="0" rIns="0" bIns="0" anchor="t">
            <a:normAutofit/>
          </a:bodyPr>
          <a:lstStyle/>
          <a:p>
            <a:pPr algn="l">
              <a:lnSpc>
                <a:spcPct val="105000"/>
              </a:lnSpc>
              <a:buNone/>
              <a:defRPr sz="1275" b="0">
                <a:solidFill>
                  <a:srgbClr val="314252"/>
                </a:solidFill>
                <a:latin typeface="微软雅黑" panose="020B0503020204020204" charset="-122"/>
                <a:ea typeface="微软雅黑" panose="020B0503020204020204" charset="-122"/>
                <a:cs typeface="微软雅黑" panose="020B0503020204020204" charset="-122"/>
              </a:defRPr>
            </a:pPr>
            <a:r>
              <a:rPr sz="1275" b="0">
                <a:solidFill>
                  <a:srgbClr val="314252"/>
                </a:solidFill>
                <a:latin typeface="微软雅黑" panose="020B0503020204020204" charset="-122"/>
                <a:ea typeface="微软雅黑" panose="020B0503020204020204" charset="-122"/>
                <a:cs typeface="微软雅黑" panose="020B0503020204020204" charset="-122"/>
              </a:rPr>
              <a:t>95%置信区间 [−0.204, 0.047]</a:t>
            </a:r>
            <a:endParaRPr sz="12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7219950" y="3219450"/>
            <a:ext cx="4048125" cy="266700"/>
          </a:xfrm>
          <a:prstGeom prst="rect">
            <a:avLst/>
          </a:prstGeom>
          <a:noFill/>
          <a:ln w="0">
            <a:noFill/>
            <a:prstDash val="solid"/>
          </a:ln>
        </p:spPr>
        <p:txBody>
          <a:bodyPr wrap="square" lIns="0" tIns="0" rIns="0" bIns="0" anchor="t">
            <a:normAutofit/>
          </a:bodyPr>
          <a:lstStyle/>
          <a:p>
            <a:pPr algn="l">
              <a:lnSpc>
                <a:spcPct val="105000"/>
              </a:lnSpc>
              <a:buNone/>
              <a:defRPr sz="1275" b="0">
                <a:solidFill>
                  <a:srgbClr val="314252"/>
                </a:solidFill>
                <a:latin typeface="微软雅黑" panose="020B0503020204020204" charset="-122"/>
                <a:ea typeface="微软雅黑" panose="020B0503020204020204" charset="-122"/>
                <a:cs typeface="微软雅黑" panose="020B0503020204020204" charset="-122"/>
              </a:defRPr>
            </a:pPr>
            <a:r>
              <a:rPr sz="1275" b="0">
                <a:solidFill>
                  <a:srgbClr val="314252"/>
                </a:solidFill>
                <a:latin typeface="微软雅黑" panose="020B0503020204020204" charset="-122"/>
                <a:ea typeface="微软雅黑" panose="020B0503020204020204" charset="-122"/>
                <a:cs typeface="微软雅黑" panose="020B0503020204020204" charset="-122"/>
              </a:rPr>
              <a:t>霍尔姆校正显著性概率 = 0.2239</a:t>
            </a:r>
            <a:endParaRPr sz="12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5" name="圆角矩形 14"/>
          <p:cNvSpPr>
            <a:spLocks noGrp="1"/>
          </p:cNvSpPr>
          <p:nvPr/>
        </p:nvSpPr>
        <p:spPr>
          <a:xfrm>
            <a:off x="7219950" y="3743325"/>
            <a:ext cx="4095750" cy="1066800"/>
          </a:xfrm>
          <a:prstGeom prst="roundRect">
            <a:avLst>
              <a:gd name="adj" fmla="val 10714"/>
            </a:avLst>
          </a:prstGeom>
          <a:solidFill>
            <a:srgbClr val="FEF0ED"/>
          </a:solidFill>
          <a:ln w="0">
            <a:noFill/>
            <a:prstDash val="solid"/>
          </a:ln>
        </p:spPr>
      </p:sp>
      <p:sp>
        <p:nvSpPr>
          <p:cNvPr id="16" name="矩形 15"/>
          <p:cNvSpPr>
            <a:spLocks noGrp="1"/>
          </p:cNvSpPr>
          <p:nvPr/>
        </p:nvSpPr>
        <p:spPr>
          <a:xfrm>
            <a:off x="7410450" y="3943350"/>
            <a:ext cx="3714750" cy="266700"/>
          </a:xfrm>
          <a:prstGeom prst="rect">
            <a:avLst/>
          </a:prstGeom>
          <a:noFill/>
          <a:ln w="0">
            <a:noFill/>
            <a:prstDash val="solid"/>
          </a:ln>
        </p:spPr>
        <p:txBody>
          <a:bodyPr wrap="square" lIns="0" tIns="0" rIns="0" bIns="0" anchor="t">
            <a:normAutofit/>
          </a:bodyPr>
          <a:lstStyle/>
          <a:p>
            <a:pPr algn="l">
              <a:lnSpc>
                <a:spcPct val="105000"/>
              </a:lnSpc>
              <a:buNone/>
              <a:defRPr sz="1275" b="1">
                <a:solidFill>
                  <a:srgbClr val="EF6A5B"/>
                </a:solidFill>
                <a:latin typeface="微软雅黑" panose="020B0503020204020204" charset="-122"/>
                <a:ea typeface="微软雅黑" panose="020B0503020204020204" charset="-122"/>
                <a:cs typeface="微软雅黑" panose="020B0503020204020204" charset="-122"/>
              </a:defRPr>
            </a:pPr>
            <a:r>
              <a:rPr sz="1275" b="1">
                <a:solidFill>
                  <a:srgbClr val="EF6A5B"/>
                </a:solidFill>
                <a:latin typeface="微软雅黑" panose="020B0503020204020204" charset="-122"/>
                <a:ea typeface="微软雅黑" panose="020B0503020204020204" charset="-122"/>
                <a:cs typeface="微软雅黑" panose="020B0503020204020204" charset="-122"/>
              </a:rPr>
              <a:t>个性化价值未获支持</a:t>
            </a:r>
            <a:endParaRPr sz="1275" b="1">
              <a:solidFill>
                <a:srgbClr val="EF6A5B"/>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7410450" y="4314825"/>
            <a:ext cx="3638550" cy="361950"/>
          </a:xfrm>
          <a:prstGeom prst="rect">
            <a:avLst/>
          </a:prstGeom>
          <a:noFill/>
          <a:ln w="0">
            <a:noFill/>
            <a:prstDash val="solid"/>
          </a:ln>
        </p:spPr>
        <p:txBody>
          <a:bodyPr wrap="square" lIns="0" tIns="0" rIns="0" bIns="0" anchor="t">
            <a:normAutofit fontScale="89962"/>
          </a:bodyPr>
          <a:lstStyle/>
          <a:p>
            <a:pPr algn="l">
              <a:lnSpc>
                <a:spcPct val="110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点估计更低，且配对自助法区间跨 0；不满足运营部署规则。</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685800" y="5267325"/>
            <a:ext cx="3333750"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6B7B88"/>
                </a:solidFill>
                <a:latin typeface="微软雅黑" panose="020B0503020204020204" charset="-122"/>
                <a:ea typeface="微软雅黑" panose="020B0503020204020204" charset="-122"/>
                <a:cs typeface="微软雅黑" panose="020B0503020204020204" charset="-122"/>
              </a:defRPr>
            </a:pPr>
            <a:r>
              <a:rPr sz="1050" b="1">
                <a:solidFill>
                  <a:srgbClr val="6B7B88"/>
                </a:solidFill>
                <a:latin typeface="微软雅黑" panose="020B0503020204020204" charset="-122"/>
                <a:ea typeface="微软雅黑" panose="020B0503020204020204" charset="-122"/>
                <a:cs typeface="微软雅黑" panose="020B0503020204020204" charset="-122"/>
              </a:rPr>
              <a:t>假设邮件成本为 0 时的个性化分配</a:t>
            </a:r>
            <a:endParaRPr sz="1050"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685800" y="5600700"/>
            <a:ext cx="62396" cy="266700"/>
          </a:xfrm>
          <a:prstGeom prst="rect">
            <a:avLst/>
          </a:prstGeom>
          <a:solidFill>
            <a:srgbClr val="6B7B88"/>
          </a:solidFill>
          <a:ln w="0">
            <a:noFill/>
            <a:prstDash val="solid"/>
          </a:ln>
        </p:spPr>
      </p:sp>
      <p:sp>
        <p:nvSpPr>
          <p:cNvPr id="20" name="矩形 19"/>
          <p:cNvSpPr>
            <a:spLocks noGrp="1"/>
          </p:cNvSpPr>
          <p:nvPr/>
        </p:nvSpPr>
        <p:spPr>
          <a:xfrm>
            <a:off x="748196" y="5600700"/>
            <a:ext cx="9119994" cy="266700"/>
          </a:xfrm>
          <a:prstGeom prst="rect">
            <a:avLst/>
          </a:prstGeom>
          <a:solidFill>
            <a:srgbClr val="00A6A6"/>
          </a:solidFill>
          <a:ln w="0">
            <a:noFill/>
            <a:prstDash val="solid"/>
          </a:ln>
        </p:spPr>
      </p:sp>
      <p:sp>
        <p:nvSpPr>
          <p:cNvPr id="21" name="矩形 20"/>
          <p:cNvSpPr>
            <a:spLocks noGrp="1"/>
          </p:cNvSpPr>
          <p:nvPr/>
        </p:nvSpPr>
        <p:spPr>
          <a:xfrm>
            <a:off x="9868190" y="5600700"/>
            <a:ext cx="1466560" cy="266700"/>
          </a:xfrm>
          <a:prstGeom prst="rect">
            <a:avLst/>
          </a:prstGeom>
          <a:solidFill>
            <a:srgbClr val="173A5E"/>
          </a:solidFill>
          <a:ln w="0">
            <a:noFill/>
            <a:prstDash val="solid"/>
          </a:ln>
        </p:spPr>
      </p:sp>
      <p:sp>
        <p:nvSpPr>
          <p:cNvPr id="22" name="矩形 21"/>
          <p:cNvSpPr>
            <a:spLocks noGrp="1"/>
          </p:cNvSpPr>
          <p:nvPr/>
        </p:nvSpPr>
        <p:spPr>
          <a:xfrm>
            <a:off x="685800" y="5915025"/>
            <a:ext cx="1428750" cy="209550"/>
          </a:xfrm>
          <a:prstGeom prst="rect">
            <a:avLst/>
          </a:prstGeom>
          <a:noFill/>
          <a:ln w="0">
            <a:noFill/>
            <a:prstDash val="solid"/>
          </a:ln>
        </p:spPr>
        <p:txBody>
          <a:bodyPr wrap="square" lIns="0" tIns="0" rIns="0" bIns="0" anchor="t">
            <a:normAutofit/>
          </a:bodyPr>
          <a:lstStyle/>
          <a:p>
            <a:pPr algn="l">
              <a:lnSpc>
                <a:spcPct val="105000"/>
              </a:lnSpc>
              <a:buNone/>
              <a:defRPr sz="900" b="0">
                <a:solidFill>
                  <a:srgbClr val="6B7B88"/>
                </a:solidFill>
                <a:latin typeface="微软雅黑" panose="020B0503020204020204" charset="-122"/>
                <a:ea typeface="微软雅黑" panose="020B0503020204020204" charset="-122"/>
                <a:cs typeface="微软雅黑" panose="020B0503020204020204" charset="-122"/>
              </a:defRPr>
            </a:pPr>
            <a:r>
              <a:rPr sz="900" b="0">
                <a:solidFill>
                  <a:srgbClr val="6B7B88"/>
                </a:solidFill>
                <a:latin typeface="微软雅黑" panose="020B0503020204020204" charset="-122"/>
                <a:ea typeface="微软雅黑" panose="020B0503020204020204" charset="-122"/>
                <a:cs typeface="微软雅黑" panose="020B0503020204020204" charset="-122"/>
              </a:rPr>
              <a:t>不发邮件 0.6%</a:t>
            </a:r>
            <a:endParaRPr sz="900"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4810125" y="5915025"/>
            <a:ext cx="1428750" cy="209550"/>
          </a:xfrm>
          <a:prstGeom prst="rect">
            <a:avLst/>
          </a:prstGeom>
          <a:noFill/>
          <a:ln w="0">
            <a:noFill/>
            <a:prstDash val="solid"/>
          </a:ln>
        </p:spPr>
        <p:txBody>
          <a:bodyPr wrap="square" lIns="0" tIns="0" rIns="0" bIns="0" anchor="t">
            <a:normAutofit/>
          </a:bodyPr>
          <a:lstStyle/>
          <a:p>
            <a:pPr algn="ctr">
              <a:lnSpc>
                <a:spcPct val="105000"/>
              </a:lnSpc>
              <a:buNone/>
              <a:defRPr sz="900" b="1">
                <a:solidFill>
                  <a:srgbClr val="00A6A6"/>
                </a:solidFill>
                <a:latin typeface="微软雅黑" panose="020B0503020204020204" charset="-122"/>
                <a:ea typeface="微软雅黑" panose="020B0503020204020204" charset="-122"/>
                <a:cs typeface="微软雅黑" panose="020B0503020204020204" charset="-122"/>
              </a:defRPr>
            </a:pPr>
            <a:r>
              <a:rPr sz="900" b="1">
                <a:solidFill>
                  <a:srgbClr val="00A6A6"/>
                </a:solidFill>
                <a:latin typeface="微软雅黑" panose="020B0503020204020204" charset="-122"/>
                <a:ea typeface="微软雅黑" panose="020B0503020204020204" charset="-122"/>
                <a:cs typeface="微软雅黑" panose="020B0503020204020204" charset="-122"/>
              </a:rPr>
              <a:t>男装邮件 85.6%</a:t>
            </a:r>
            <a:endParaRPr sz="90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9715500" y="5915025"/>
            <a:ext cx="1619250" cy="209550"/>
          </a:xfrm>
          <a:prstGeom prst="rect">
            <a:avLst/>
          </a:prstGeom>
          <a:noFill/>
          <a:ln w="0">
            <a:noFill/>
            <a:prstDash val="solid"/>
          </a:ln>
        </p:spPr>
        <p:txBody>
          <a:bodyPr wrap="square" lIns="0" tIns="0" rIns="0" bIns="0" anchor="t">
            <a:normAutofit/>
          </a:bodyPr>
          <a:lstStyle/>
          <a:p>
            <a:pPr algn="r">
              <a:lnSpc>
                <a:spcPct val="105000"/>
              </a:lnSpc>
              <a:buNone/>
              <a:defRPr sz="900" b="1">
                <a:solidFill>
                  <a:srgbClr val="173A5E"/>
                </a:solidFill>
                <a:latin typeface="微软雅黑" panose="020B0503020204020204" charset="-122"/>
                <a:ea typeface="微软雅黑" panose="020B0503020204020204" charset="-122"/>
                <a:cs typeface="微软雅黑" panose="020B0503020204020204" charset="-122"/>
              </a:defRPr>
            </a:pPr>
            <a:r>
              <a:rPr sz="900" b="1">
                <a:solidFill>
                  <a:srgbClr val="173A5E"/>
                </a:solidFill>
                <a:latin typeface="微软雅黑" panose="020B0503020204020204" charset="-122"/>
                <a:ea typeface="微软雅黑" panose="020B0503020204020204" charset="-122"/>
                <a:cs typeface="微软雅黑" panose="020B0503020204020204" charset="-122"/>
              </a:rPr>
              <a:t>女装邮件 13.8%</a:t>
            </a:r>
            <a:endParaRPr sz="900" b="1">
              <a:solidFill>
                <a:srgbClr val="173A5E"/>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2" name="矩形 21"/>
          <p:cNvSpPr>
            <a:spLocks noGrp="1"/>
          </p:cNvSpPr>
          <p:nvPr/>
        </p:nvSpPr>
        <p:spPr>
          <a:xfrm>
            <a:off x="647700" y="371475"/>
            <a:ext cx="495300" cy="57150"/>
          </a:xfrm>
          <a:prstGeom prst="rect">
            <a:avLst/>
          </a:prstGeom>
          <a:solidFill>
            <a:srgbClr val="00A6A6"/>
          </a:solidFill>
          <a:ln w="0">
            <a:noFill/>
            <a:prstDash val="solid"/>
          </a:ln>
        </p:spPr>
      </p:sp>
      <p:sp>
        <p:nvSpPr>
          <p:cNvPr id="2" name="矩形 1"/>
          <p:cNvSpPr>
            <a:spLocks noGrp="1"/>
          </p:cNvSpPr>
          <p:nvPr/>
        </p:nvSpPr>
        <p:spPr>
          <a:xfrm>
            <a:off x="647700" y="495300"/>
            <a:ext cx="3429000" cy="228600"/>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00A6A6"/>
                </a:solidFill>
                <a:latin typeface="微软雅黑" panose="020B0503020204020204" charset="-122"/>
                <a:ea typeface="微软雅黑" panose="020B0503020204020204" charset="-122"/>
                <a:cs typeface="微软雅黑" panose="020B0503020204020204" charset="-122"/>
              </a:defRPr>
            </a:pPr>
            <a:r>
              <a:rPr sz="975" b="1">
                <a:solidFill>
                  <a:srgbClr val="00A6A6"/>
                </a:solidFill>
                <a:latin typeface="微软雅黑" panose="020B0503020204020204" charset="-122"/>
                <a:ea typeface="微软雅黑" panose="020B0503020204020204" charset="-122"/>
                <a:cs typeface="微软雅黑" panose="020B0503020204020204" charset="-122"/>
              </a:rPr>
              <a:t>成本敏感性｜基于消费金额的情景分析</a:t>
            </a:r>
            <a:endParaRPr sz="9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47700" y="742950"/>
            <a:ext cx="10287000" cy="495300"/>
          </a:xfrm>
          <a:prstGeom prst="rect">
            <a:avLst/>
          </a:prstGeom>
          <a:noFill/>
          <a:ln w="0">
            <a:noFill/>
            <a:prstDash val="solid"/>
          </a:ln>
        </p:spPr>
        <p:txBody>
          <a:bodyPr wrap="none" lIns="0" tIns="0" rIns="0" bIns="0" anchor="ctr">
            <a:normAutofit/>
          </a:bodyPr>
          <a:lstStyle/>
          <a:p>
            <a:pPr algn="l">
              <a:lnSpc>
                <a:spcPct val="105000"/>
              </a:lnSpc>
              <a:buNone/>
              <a:defRPr sz="2850" b="1">
                <a:solidFill>
                  <a:srgbClr val="0B1F33"/>
                </a:solidFill>
                <a:latin typeface="微软雅黑" panose="020B0503020204020204" charset="-122"/>
                <a:ea typeface="微软雅黑" panose="020B0503020204020204" charset="-122"/>
                <a:cs typeface="微软雅黑" panose="020B0503020204020204" charset="-122"/>
              </a:defRPr>
            </a:pPr>
            <a:r>
              <a:rPr sz="2850" b="1">
                <a:solidFill>
                  <a:srgbClr val="0B1F33"/>
                </a:solidFill>
                <a:latin typeface="微软雅黑" panose="020B0503020204020204" charset="-122"/>
                <a:ea typeface="微软雅黑" panose="020B0503020204020204" charset="-122"/>
                <a:cs typeface="微软雅黑" panose="020B0503020204020204" charset="-122"/>
              </a:rPr>
              <a:t>低成本情景下全量男装邮件最优；高成本时不发邮件反超</a:t>
            </a:r>
            <a:endParaRPr sz="28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4" name="矩形 3"/>
          <p:cNvSpPr>
            <a:spLocks noGrp="1"/>
          </p:cNvSpPr>
          <p:nvPr/>
        </p:nvSpPr>
        <p:spPr>
          <a:xfrm>
            <a:off x="11125200" y="495300"/>
            <a:ext cx="419100" cy="209550"/>
          </a:xfrm>
          <a:prstGeom prst="rect">
            <a:avLst/>
          </a:prstGeom>
          <a:noFill/>
          <a:ln w="0">
            <a:noFill/>
            <a:prstDash val="solid"/>
          </a:ln>
        </p:spPr>
        <p:txBody>
          <a:bodyPr wrap="square" lIns="0" tIns="0" rIns="0" bIns="0" anchor="ctr">
            <a:normAutofit/>
          </a:bodyPr>
          <a:lstStyle/>
          <a:p>
            <a:pPr algn="r">
              <a:lnSpc>
                <a:spcPct val="105000"/>
              </a:lnSpc>
              <a:buNone/>
              <a:defRPr sz="975" b="1">
                <a:solidFill>
                  <a:srgbClr val="6B7B88"/>
                </a:solidFill>
                <a:latin typeface="微软雅黑" panose="020B0503020204020204" charset="-122"/>
                <a:ea typeface="微软雅黑" panose="020B0503020204020204" charset="-122"/>
                <a:cs typeface="微软雅黑" panose="020B0503020204020204" charset="-122"/>
              </a:defRPr>
            </a:pPr>
            <a:r>
              <a:rPr sz="975" b="1">
                <a:solidFill>
                  <a:srgbClr val="6B7B88"/>
                </a:solidFill>
                <a:latin typeface="微软雅黑" panose="020B0503020204020204" charset="-122"/>
                <a:ea typeface="微软雅黑" panose="020B0503020204020204" charset="-122"/>
                <a:cs typeface="微软雅黑" panose="020B0503020204020204" charset="-122"/>
              </a:rPr>
              <a:t>08</a:t>
            </a:r>
            <a:endParaRPr sz="975"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5" name="直接连接符 4"/>
          <p:cNvSpPr>
            <a:spLocks noGrp="1"/>
          </p:cNvSpPr>
          <p:nvPr/>
        </p:nvSpPr>
        <p:spPr>
          <a:xfrm>
            <a:off x="647700" y="6276975"/>
            <a:ext cx="10896600" cy="953"/>
          </a:xfrm>
          <a:prstGeom prst="line">
            <a:avLst/>
          </a:prstGeom>
          <a:noFill/>
          <a:ln w="9525">
            <a:solidFill>
              <a:srgbClr val="E6ECEF"/>
            </a:solidFill>
            <a:prstDash val="solid"/>
          </a:ln>
        </p:spPr>
      </p:sp>
      <p:sp>
        <p:nvSpPr>
          <p:cNvPr id="6" name="矩形 5"/>
          <p:cNvSpPr>
            <a:spLocks noGrp="1"/>
          </p:cNvSpPr>
          <p:nvPr/>
        </p:nvSpPr>
        <p:spPr>
          <a:xfrm>
            <a:off x="647700" y="6381750"/>
            <a:ext cx="4857750" cy="190500"/>
          </a:xfrm>
          <a:prstGeom prst="rect">
            <a:avLst/>
          </a:prstGeom>
          <a:noFill/>
          <a:ln w="0">
            <a:noFill/>
            <a:prstDash val="solid"/>
          </a:ln>
        </p:spPr>
        <p:txBody>
          <a:bodyPr wrap="square" lIns="0" tIns="0" rIns="0" bIns="0" anchor="t">
            <a:normAutofit/>
          </a:bodyPr>
          <a:lstStyle/>
          <a:p>
            <a:pPr algn="l">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来源：经验证的Hillstorm最终分析结果</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nvSpPr>
        <p:spPr>
          <a:xfrm>
            <a:off x="7886700" y="6381750"/>
            <a:ext cx="3657600" cy="190500"/>
          </a:xfrm>
          <a:prstGeom prst="rect">
            <a:avLst/>
          </a:prstGeom>
          <a:noFill/>
          <a:ln w="0">
            <a:noFill/>
            <a:prstDash val="solid"/>
          </a:ln>
        </p:spPr>
        <p:txBody>
          <a:bodyPr wrap="square" lIns="0" tIns="0" rIns="0" bIns="0" anchor="t">
            <a:normAutofit/>
          </a:bodyPr>
          <a:lstStyle/>
          <a:p>
            <a:pPr algn="r">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每名随机客户的消费金额｜并非投资回报率</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66750" y="1381125"/>
            <a:ext cx="6858000" cy="228600"/>
          </a:xfrm>
          <a:prstGeom prst="rect">
            <a:avLst/>
          </a:prstGeom>
          <a:noFill/>
          <a:ln w="0">
            <a:noFill/>
            <a:prstDash val="solid"/>
          </a:ln>
        </p:spPr>
        <p:txBody>
          <a:bodyPr wrap="square" lIns="0" tIns="0" rIns="0" bIns="0" anchor="t">
            <a:normAutofit/>
          </a:bodyPr>
          <a:lstStyle/>
          <a:p>
            <a:pPr algn="l">
              <a:lnSpc>
                <a:spcPct val="105000"/>
              </a:lnSpc>
              <a:buNone/>
              <a:defRPr sz="1125" b="1">
                <a:solidFill>
                  <a:srgbClr val="6B7B88"/>
                </a:solidFill>
                <a:latin typeface="微软雅黑" panose="020B0503020204020204" charset="-122"/>
                <a:ea typeface="微软雅黑" panose="020B0503020204020204" charset="-122"/>
                <a:cs typeface="微软雅黑" panose="020B0503020204020204" charset="-122"/>
              </a:defRPr>
            </a:pPr>
            <a:r>
              <a:rPr sz="1125" b="1">
                <a:solidFill>
                  <a:srgbClr val="6B7B88"/>
                </a:solidFill>
                <a:latin typeface="微软雅黑" panose="020B0503020204020204" charset="-122"/>
                <a:ea typeface="微软雅黑" panose="020B0503020204020204" charset="-122"/>
                <a:cs typeface="微软雅黑" panose="020B0503020204020204" charset="-122"/>
              </a:rPr>
              <a:t>增广逆概率加权净消费价值 = 预期消费金额－假设的边际邮件成本</a:t>
            </a:r>
            <a:endParaRPr sz="1125" b="1">
              <a:solidFill>
                <a:srgbClr val="6B7B88"/>
              </a:solidFill>
              <a:latin typeface="微软雅黑" panose="020B0503020204020204" charset="-122"/>
              <a:ea typeface="微软雅黑" panose="020B0503020204020204" charset="-122"/>
              <a:cs typeface="微软雅黑" panose="020B0503020204020204" charset="-122"/>
            </a:endParaRPr>
          </a:p>
        </p:txBody>
      </p:sp>
      <p:graphicFrame>
        <p:nvGraphicFramePr>
          <p:cNvPr id="32" name="Chart"/>
          <p:cNvGraphicFramePr/>
          <p:nvPr/>
        </p:nvGraphicFramePr>
        <p:xfrm>
          <a:off x="523875" y="1733550"/>
          <a:ext cx="7810500" cy="3857625"/>
        </p:xfrm>
        <a:graphic>
          <a:graphicData uri="http://schemas.openxmlformats.org/drawingml/2006/chart">
            <c:chart xmlns:c="http://schemas.openxmlformats.org/drawingml/2006/chart" xmlns:r="http://schemas.openxmlformats.org/officeDocument/2006/relationships" r:id="rId1"/>
          </a:graphicData>
        </a:graphic>
      </p:graphicFrame>
      <p:sp>
        <p:nvSpPr>
          <p:cNvPr id="10" name="矩形 9"/>
          <p:cNvSpPr>
            <a:spLocks noGrp="1"/>
          </p:cNvSpPr>
          <p:nvPr/>
        </p:nvSpPr>
        <p:spPr>
          <a:xfrm>
            <a:off x="8801100" y="1438275"/>
            <a:ext cx="2381250"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情景结论</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8801100" y="1828800"/>
            <a:ext cx="2476500" cy="400050"/>
          </a:xfrm>
          <a:prstGeom prst="rect">
            <a:avLst/>
          </a:prstGeom>
          <a:noFill/>
          <a:ln w="0">
            <a:noFill/>
            <a:prstDash val="solid"/>
          </a:ln>
        </p:spPr>
        <p:txBody>
          <a:bodyPr wrap="square" lIns="0" tIns="0" rIns="0" bIns="0" anchor="t">
            <a:normAutofit/>
          </a:bodyPr>
          <a:lstStyle/>
          <a:p>
            <a:pPr algn="l">
              <a:lnSpc>
                <a:spcPct val="105000"/>
              </a:lnSpc>
              <a:buNone/>
              <a:defRPr sz="2100" b="1">
                <a:solidFill>
                  <a:srgbClr val="00A6A6"/>
                </a:solidFill>
                <a:latin typeface="微软雅黑" panose="020B0503020204020204" charset="-122"/>
                <a:ea typeface="微软雅黑" panose="020B0503020204020204" charset="-122"/>
                <a:cs typeface="微软雅黑" panose="020B0503020204020204" charset="-122"/>
              </a:defRPr>
            </a:pPr>
            <a:r>
              <a:rPr sz="2100" b="1">
                <a:solidFill>
                  <a:srgbClr val="00A6A6"/>
                </a:solidFill>
                <a:latin typeface="微软雅黑" panose="020B0503020204020204" charset="-122"/>
                <a:ea typeface="微软雅黑" panose="020B0503020204020204" charset="-122"/>
                <a:cs typeface="微软雅黑" panose="020B0503020204020204" charset="-122"/>
              </a:rPr>
              <a:t>0.00–0.50</a:t>
            </a:r>
            <a:endParaRPr sz="210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8801100" y="2247900"/>
            <a:ext cx="2571750" cy="247650"/>
          </a:xfrm>
          <a:prstGeom prst="rect">
            <a:avLst/>
          </a:prstGeom>
          <a:noFill/>
          <a:ln w="0">
            <a:noFill/>
            <a:prstDash val="solid"/>
          </a:ln>
        </p:spPr>
        <p:txBody>
          <a:bodyPr wrap="square" lIns="0" tIns="0" rIns="0" bIns="0" anchor="t">
            <a:normAutofit/>
          </a:bodyPr>
          <a:lstStyle/>
          <a:p>
            <a:pPr algn="l">
              <a:lnSpc>
                <a:spcPct val="105000"/>
              </a:lnSpc>
              <a:buNone/>
              <a:defRPr sz="1275" b="1">
                <a:solidFill>
                  <a:srgbClr val="17222E"/>
                </a:solidFill>
                <a:latin typeface="微软雅黑" panose="020B0503020204020204" charset="-122"/>
                <a:ea typeface="微软雅黑" panose="020B0503020204020204" charset="-122"/>
                <a:cs typeface="微软雅黑" panose="020B0503020204020204" charset="-122"/>
              </a:defRPr>
            </a:pPr>
            <a:r>
              <a:rPr sz="1275" b="1">
                <a:solidFill>
                  <a:srgbClr val="17222E"/>
                </a:solidFill>
                <a:latin typeface="微软雅黑" panose="020B0503020204020204" charset="-122"/>
                <a:ea typeface="微软雅黑" panose="020B0503020204020204" charset="-122"/>
                <a:cs typeface="微软雅黑" panose="020B0503020204020204" charset="-122"/>
              </a:rPr>
              <a:t>全量男装邮件 = 最佳静态策略</a:t>
            </a:r>
            <a:endParaRPr sz="127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13" name="直接连接符 12"/>
          <p:cNvSpPr>
            <a:spLocks noGrp="1"/>
          </p:cNvSpPr>
          <p:nvPr/>
        </p:nvSpPr>
        <p:spPr>
          <a:xfrm>
            <a:off x="8801100" y="2743200"/>
            <a:ext cx="2590800" cy="953"/>
          </a:xfrm>
          <a:prstGeom prst="line">
            <a:avLst/>
          </a:prstGeom>
          <a:noFill/>
          <a:ln w="9525">
            <a:solidFill>
              <a:srgbClr val="E6ECEF"/>
            </a:solidFill>
            <a:prstDash val="solid"/>
          </a:ln>
        </p:spPr>
      </p:sp>
      <p:sp>
        <p:nvSpPr>
          <p:cNvPr id="14" name="矩形 13"/>
          <p:cNvSpPr>
            <a:spLocks noGrp="1"/>
          </p:cNvSpPr>
          <p:nvPr/>
        </p:nvSpPr>
        <p:spPr>
          <a:xfrm>
            <a:off x="8801100" y="3009900"/>
            <a:ext cx="2476500" cy="400050"/>
          </a:xfrm>
          <a:prstGeom prst="rect">
            <a:avLst/>
          </a:prstGeom>
          <a:noFill/>
          <a:ln w="0">
            <a:noFill/>
            <a:prstDash val="solid"/>
          </a:ln>
        </p:spPr>
        <p:txBody>
          <a:bodyPr wrap="square" lIns="0" tIns="0" rIns="0" bIns="0" anchor="t">
            <a:normAutofit/>
          </a:bodyPr>
          <a:lstStyle/>
          <a:p>
            <a:pPr algn="l">
              <a:lnSpc>
                <a:spcPct val="105000"/>
              </a:lnSpc>
              <a:buNone/>
              <a:defRPr sz="2100" b="1">
                <a:solidFill>
                  <a:srgbClr val="0B1F33"/>
                </a:solidFill>
                <a:latin typeface="微软雅黑" panose="020B0503020204020204" charset="-122"/>
                <a:ea typeface="微软雅黑" panose="020B0503020204020204" charset="-122"/>
                <a:cs typeface="微软雅黑" panose="020B0503020204020204" charset="-122"/>
              </a:defRPr>
            </a:pPr>
            <a:r>
              <a:rPr sz="2100" b="1">
                <a:solidFill>
                  <a:srgbClr val="0B1F33"/>
                </a:solidFill>
                <a:latin typeface="微软雅黑" panose="020B0503020204020204" charset="-122"/>
                <a:ea typeface="微软雅黑" panose="020B0503020204020204" charset="-122"/>
                <a:cs typeface="微软雅黑" panose="020B0503020204020204" charset="-122"/>
              </a:rPr>
              <a:t>1.00</a:t>
            </a:r>
            <a:endParaRPr sz="210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8801100" y="3429000"/>
            <a:ext cx="2571750" cy="247650"/>
          </a:xfrm>
          <a:prstGeom prst="rect">
            <a:avLst/>
          </a:prstGeom>
          <a:noFill/>
          <a:ln w="0">
            <a:noFill/>
            <a:prstDash val="solid"/>
          </a:ln>
        </p:spPr>
        <p:txBody>
          <a:bodyPr wrap="square" lIns="0" tIns="0" rIns="0" bIns="0" anchor="t">
            <a:normAutofit/>
          </a:bodyPr>
          <a:lstStyle/>
          <a:p>
            <a:pPr algn="l">
              <a:lnSpc>
                <a:spcPct val="105000"/>
              </a:lnSpc>
              <a:buNone/>
              <a:defRPr sz="1275" b="1">
                <a:solidFill>
                  <a:srgbClr val="17222E"/>
                </a:solidFill>
                <a:latin typeface="微软雅黑" panose="020B0503020204020204" charset="-122"/>
                <a:ea typeface="微软雅黑" panose="020B0503020204020204" charset="-122"/>
                <a:cs typeface="微软雅黑" panose="020B0503020204020204" charset="-122"/>
              </a:defRPr>
            </a:pPr>
            <a:r>
              <a:rPr sz="1275" b="1">
                <a:solidFill>
                  <a:srgbClr val="17222E"/>
                </a:solidFill>
                <a:latin typeface="微软雅黑" panose="020B0503020204020204" charset="-122"/>
                <a:ea typeface="微软雅黑" panose="020B0503020204020204" charset="-122"/>
                <a:cs typeface="微软雅黑" panose="020B0503020204020204" charset="-122"/>
              </a:rPr>
              <a:t>不发邮件 = 最佳静态策略</a:t>
            </a:r>
            <a:endParaRPr sz="127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16" name="直接连接符 15"/>
          <p:cNvSpPr>
            <a:spLocks noGrp="1"/>
          </p:cNvSpPr>
          <p:nvPr/>
        </p:nvSpPr>
        <p:spPr>
          <a:xfrm>
            <a:off x="8801100" y="3914775"/>
            <a:ext cx="2590800" cy="953"/>
          </a:xfrm>
          <a:prstGeom prst="line">
            <a:avLst/>
          </a:prstGeom>
          <a:noFill/>
          <a:ln w="9525">
            <a:solidFill>
              <a:srgbClr val="E6ECEF"/>
            </a:solidFill>
            <a:prstDash val="solid"/>
          </a:ln>
        </p:spPr>
      </p:sp>
      <p:sp>
        <p:nvSpPr>
          <p:cNvPr id="17" name="矩形 16"/>
          <p:cNvSpPr>
            <a:spLocks noGrp="1"/>
          </p:cNvSpPr>
          <p:nvPr/>
        </p:nvSpPr>
        <p:spPr>
          <a:xfrm>
            <a:off x="8801100" y="4171950"/>
            <a:ext cx="2571750" cy="22860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6B7B88"/>
                </a:solidFill>
                <a:latin typeface="微软雅黑" panose="020B0503020204020204" charset="-122"/>
                <a:ea typeface="微软雅黑" panose="020B0503020204020204" charset="-122"/>
                <a:cs typeface="微软雅黑" panose="020B0503020204020204" charset="-122"/>
              </a:defRPr>
            </a:pPr>
            <a:r>
              <a:rPr sz="1050" b="1">
                <a:solidFill>
                  <a:srgbClr val="6B7B88"/>
                </a:solidFill>
                <a:latin typeface="微软雅黑" panose="020B0503020204020204" charset="-122"/>
                <a:ea typeface="微软雅黑" panose="020B0503020204020204" charset="-122"/>
                <a:cs typeface="微软雅黑" panose="020B0503020204020204" charset="-122"/>
              </a:rPr>
              <a:t>消费差额临界成本</a:t>
            </a:r>
            <a:endParaRPr sz="1050"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8801100" y="4505325"/>
            <a:ext cx="2571750" cy="266700"/>
          </a:xfrm>
          <a:prstGeom prst="rect">
            <a:avLst/>
          </a:prstGeom>
          <a:noFill/>
          <a:ln w="0">
            <a:noFill/>
            <a:prstDash val="solid"/>
          </a:ln>
        </p:spPr>
        <p:txBody>
          <a:bodyPr wrap="square" lIns="0" tIns="0" rIns="0" bIns="0" anchor="t">
            <a:normAutofit/>
          </a:bodyPr>
          <a:lstStyle/>
          <a:p>
            <a:pPr algn="l">
              <a:lnSpc>
                <a:spcPct val="105000"/>
              </a:lnSpc>
              <a:buNone/>
              <a:defRPr sz="1275" b="1">
                <a:solidFill>
                  <a:srgbClr val="0B1F33"/>
                </a:solidFill>
                <a:latin typeface="微软雅黑" panose="020B0503020204020204" charset="-122"/>
                <a:ea typeface="微软雅黑" panose="020B0503020204020204" charset="-122"/>
                <a:cs typeface="微软雅黑" panose="020B0503020204020204" charset="-122"/>
              </a:defRPr>
            </a:pPr>
            <a:r>
              <a:rPr sz="1275" b="1">
                <a:solidFill>
                  <a:srgbClr val="0B1F33"/>
                </a:solidFill>
                <a:latin typeface="微软雅黑" panose="020B0503020204020204" charset="-122"/>
                <a:ea typeface="微软雅黑" panose="020B0503020204020204" charset="-122"/>
                <a:cs typeface="微软雅黑" panose="020B0503020204020204" charset="-122"/>
              </a:rPr>
              <a:t>男装邮件 0.768｜女装邮件 0.419</a:t>
            </a:r>
            <a:endParaRPr sz="1275"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19" name="圆角矩形 18"/>
          <p:cNvSpPr>
            <a:spLocks noGrp="1"/>
          </p:cNvSpPr>
          <p:nvPr/>
        </p:nvSpPr>
        <p:spPr>
          <a:xfrm>
            <a:off x="8705850" y="5038725"/>
            <a:ext cx="2781300" cy="990600"/>
          </a:xfrm>
          <a:prstGeom prst="roundRect">
            <a:avLst>
              <a:gd name="adj" fmla="val 11538"/>
            </a:avLst>
          </a:prstGeom>
          <a:solidFill>
            <a:srgbClr val="FEF0ED"/>
          </a:solidFill>
          <a:ln w="0">
            <a:noFill/>
            <a:prstDash val="solid"/>
          </a:ln>
        </p:spPr>
      </p:sp>
      <p:sp>
        <p:nvSpPr>
          <p:cNvPr id="20" name="矩形 19"/>
          <p:cNvSpPr>
            <a:spLocks noGrp="1"/>
          </p:cNvSpPr>
          <p:nvPr/>
        </p:nvSpPr>
        <p:spPr>
          <a:xfrm>
            <a:off x="8896350" y="5219700"/>
            <a:ext cx="1055370" cy="226060"/>
          </a:xfrm>
          <a:prstGeom prst="rect">
            <a:avLst/>
          </a:prstGeom>
          <a:noFill/>
          <a:ln w="0">
            <a:noFill/>
            <a:prstDash val="solid"/>
          </a:ln>
        </p:spPr>
        <p:txBody>
          <a:bodyPr wrap="square" lIns="0" tIns="0" rIns="0" bIns="0" anchor="t">
            <a:normAutofit/>
          </a:bodyPr>
          <a:lstStyle/>
          <a:p>
            <a:pPr algn="l">
              <a:lnSpc>
                <a:spcPct val="105000"/>
              </a:lnSpc>
              <a:buNone/>
              <a:defRPr sz="1125" b="1">
                <a:solidFill>
                  <a:srgbClr val="EF6A5B"/>
                </a:solidFill>
                <a:latin typeface="微软雅黑" panose="020B0503020204020204" charset="-122"/>
                <a:ea typeface="微软雅黑" panose="020B0503020204020204" charset="-122"/>
                <a:cs typeface="微软雅黑" panose="020B0503020204020204" charset="-122"/>
              </a:defRPr>
            </a:pPr>
            <a:r>
              <a:rPr sz="1125" b="1">
                <a:solidFill>
                  <a:srgbClr val="EF6A5B"/>
                </a:solidFill>
                <a:latin typeface="微软雅黑" panose="020B0503020204020204" charset="-122"/>
                <a:ea typeface="微软雅黑" panose="020B0503020204020204" charset="-122"/>
                <a:cs typeface="微软雅黑" panose="020B0503020204020204" charset="-122"/>
              </a:rPr>
              <a:t>并非投资回报率</a:t>
            </a:r>
            <a:endParaRPr sz="1125" b="1">
              <a:solidFill>
                <a:srgbClr val="EF6A5B"/>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8896350" y="5505450"/>
            <a:ext cx="2381250" cy="419100"/>
          </a:xfrm>
          <a:prstGeom prst="rect">
            <a:avLst/>
          </a:prstGeom>
          <a:noFill/>
          <a:ln w="0">
            <a:noFill/>
            <a:prstDash val="solid"/>
          </a:ln>
        </p:spPr>
        <p:txBody>
          <a:bodyPr wrap="square" lIns="0" tIns="0" rIns="0" bIns="0" anchor="t">
            <a:normAutofit fontScale="82360"/>
          </a:bodyPr>
          <a:lstStyle/>
          <a:p>
            <a:pPr algn="l">
              <a:lnSpc>
                <a:spcPct val="106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未包含毛利率、真实触达成本、退订/疲劳与实施成本。个性化在所有成本点均未显著优于最佳静态策略。</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4" name="矩形 23"/>
          <p:cNvSpPr>
            <a:spLocks noGrp="1"/>
          </p:cNvSpPr>
          <p:nvPr/>
        </p:nvSpPr>
        <p:spPr>
          <a:xfrm>
            <a:off x="647700" y="371475"/>
            <a:ext cx="495300" cy="57150"/>
          </a:xfrm>
          <a:prstGeom prst="rect">
            <a:avLst/>
          </a:prstGeom>
          <a:solidFill>
            <a:srgbClr val="00A6A6"/>
          </a:solidFill>
          <a:ln w="0">
            <a:noFill/>
            <a:prstDash val="solid"/>
          </a:ln>
        </p:spPr>
      </p:sp>
      <p:sp>
        <p:nvSpPr>
          <p:cNvPr id="2" name="矩形 1"/>
          <p:cNvSpPr>
            <a:spLocks noGrp="1"/>
          </p:cNvSpPr>
          <p:nvPr/>
        </p:nvSpPr>
        <p:spPr>
          <a:xfrm>
            <a:off x="647700" y="495300"/>
            <a:ext cx="3429000" cy="228600"/>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00A6A6"/>
                </a:solidFill>
                <a:latin typeface="微软雅黑" panose="020B0503020204020204" charset="-122"/>
                <a:ea typeface="微软雅黑" panose="020B0503020204020204" charset="-122"/>
                <a:cs typeface="微软雅黑" panose="020B0503020204020204" charset="-122"/>
              </a:defRPr>
            </a:pPr>
            <a:r>
              <a:rPr sz="975" b="1">
                <a:solidFill>
                  <a:srgbClr val="00A6A6"/>
                </a:solidFill>
                <a:latin typeface="微软雅黑" panose="020B0503020204020204" charset="-122"/>
                <a:ea typeface="微软雅黑" panose="020B0503020204020204" charset="-122"/>
                <a:cs typeface="微软雅黑" panose="020B0503020204020204" charset="-122"/>
              </a:rPr>
              <a:t>管理建议</a:t>
            </a:r>
            <a:endParaRPr sz="9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47700" y="742950"/>
            <a:ext cx="10287000" cy="495300"/>
          </a:xfrm>
          <a:prstGeom prst="rect">
            <a:avLst/>
          </a:prstGeom>
          <a:noFill/>
          <a:ln w="0">
            <a:noFill/>
            <a:prstDash val="solid"/>
          </a:ln>
        </p:spPr>
        <p:txBody>
          <a:bodyPr wrap="none" lIns="0" tIns="0" rIns="0" bIns="0" anchor="ctr">
            <a:normAutofit/>
          </a:bodyPr>
          <a:lstStyle/>
          <a:p>
            <a:pPr algn="l">
              <a:lnSpc>
                <a:spcPct val="105000"/>
              </a:lnSpc>
              <a:buNone/>
              <a:defRPr sz="2850" b="1">
                <a:solidFill>
                  <a:srgbClr val="0B1F33"/>
                </a:solidFill>
                <a:latin typeface="微软雅黑" panose="020B0503020204020204" charset="-122"/>
                <a:ea typeface="微软雅黑" panose="020B0503020204020204" charset="-122"/>
                <a:cs typeface="微软雅黑" panose="020B0503020204020204" charset="-122"/>
              </a:defRPr>
            </a:pPr>
            <a:r>
              <a:rPr sz="2850" b="1">
                <a:solidFill>
                  <a:srgbClr val="0B1F33"/>
                </a:solidFill>
                <a:latin typeface="微软雅黑" panose="020B0503020204020204" charset="-122"/>
                <a:ea typeface="微软雅黑" panose="020B0503020204020204" charset="-122"/>
                <a:cs typeface="微软雅黑" panose="020B0503020204020204" charset="-122"/>
              </a:rPr>
              <a:t>管理建议：先规模化已验证的平均增量，再证明个性化</a:t>
            </a:r>
            <a:endParaRPr sz="28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4" name="矩形 3"/>
          <p:cNvSpPr>
            <a:spLocks noGrp="1"/>
          </p:cNvSpPr>
          <p:nvPr/>
        </p:nvSpPr>
        <p:spPr>
          <a:xfrm>
            <a:off x="11125200" y="495300"/>
            <a:ext cx="419100" cy="209550"/>
          </a:xfrm>
          <a:prstGeom prst="rect">
            <a:avLst/>
          </a:prstGeom>
          <a:noFill/>
          <a:ln w="0">
            <a:noFill/>
            <a:prstDash val="solid"/>
          </a:ln>
        </p:spPr>
        <p:txBody>
          <a:bodyPr wrap="square" lIns="0" tIns="0" rIns="0" bIns="0" anchor="ctr">
            <a:normAutofit/>
          </a:bodyPr>
          <a:lstStyle/>
          <a:p>
            <a:pPr algn="r">
              <a:lnSpc>
                <a:spcPct val="105000"/>
              </a:lnSpc>
              <a:buNone/>
              <a:defRPr sz="975" b="1">
                <a:solidFill>
                  <a:srgbClr val="6B7B88"/>
                </a:solidFill>
                <a:latin typeface="微软雅黑" panose="020B0503020204020204" charset="-122"/>
                <a:ea typeface="微软雅黑" panose="020B0503020204020204" charset="-122"/>
                <a:cs typeface="微软雅黑" panose="020B0503020204020204" charset="-122"/>
              </a:defRPr>
            </a:pPr>
            <a:r>
              <a:rPr sz="975" b="1">
                <a:solidFill>
                  <a:srgbClr val="6B7B88"/>
                </a:solidFill>
                <a:latin typeface="微软雅黑" panose="020B0503020204020204" charset="-122"/>
                <a:ea typeface="微软雅黑" panose="020B0503020204020204" charset="-122"/>
                <a:cs typeface="微软雅黑" panose="020B0503020204020204" charset="-122"/>
              </a:rPr>
              <a:t>09</a:t>
            </a:r>
            <a:endParaRPr sz="975"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5" name="直接连接符 4"/>
          <p:cNvSpPr>
            <a:spLocks noGrp="1"/>
          </p:cNvSpPr>
          <p:nvPr/>
        </p:nvSpPr>
        <p:spPr>
          <a:xfrm>
            <a:off x="647700" y="6276975"/>
            <a:ext cx="10896600" cy="953"/>
          </a:xfrm>
          <a:prstGeom prst="line">
            <a:avLst/>
          </a:prstGeom>
          <a:noFill/>
          <a:ln w="9525">
            <a:solidFill>
              <a:srgbClr val="E6ECEF"/>
            </a:solidFill>
            <a:prstDash val="solid"/>
          </a:ln>
        </p:spPr>
      </p:sp>
      <p:sp>
        <p:nvSpPr>
          <p:cNvPr id="6" name="矩形 5"/>
          <p:cNvSpPr>
            <a:spLocks noGrp="1"/>
          </p:cNvSpPr>
          <p:nvPr/>
        </p:nvSpPr>
        <p:spPr>
          <a:xfrm>
            <a:off x="647700" y="6381750"/>
            <a:ext cx="4857750" cy="190500"/>
          </a:xfrm>
          <a:prstGeom prst="rect">
            <a:avLst/>
          </a:prstGeom>
          <a:noFill/>
          <a:ln w="0">
            <a:noFill/>
            <a:prstDash val="solid"/>
          </a:ln>
        </p:spPr>
        <p:txBody>
          <a:bodyPr wrap="square" lIns="0" tIns="0" rIns="0" bIns="0" anchor="t">
            <a:normAutofit/>
          </a:bodyPr>
          <a:lstStyle/>
          <a:p>
            <a:pPr algn="l">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来源：经验证的Hillstorm最终分析结果</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nvSpPr>
        <p:spPr>
          <a:xfrm>
            <a:off x="7886700" y="6381750"/>
            <a:ext cx="3657600" cy="190500"/>
          </a:xfrm>
          <a:prstGeom prst="rect">
            <a:avLst/>
          </a:prstGeom>
          <a:noFill/>
          <a:ln w="0">
            <a:noFill/>
            <a:prstDash val="solid"/>
          </a:ln>
        </p:spPr>
        <p:txBody>
          <a:bodyPr wrap="square" lIns="0" tIns="0" rIns="0" bIns="0" anchor="t">
            <a:normAutofit/>
          </a:bodyPr>
          <a:lstStyle/>
          <a:p>
            <a:pPr algn="r">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每名随机客户的消费金额｜并非投资回报率</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66750" y="1438275"/>
            <a:ext cx="4095750" cy="266700"/>
          </a:xfrm>
          <a:prstGeom prst="rect">
            <a:avLst/>
          </a:prstGeom>
          <a:noFill/>
          <a:ln w="0">
            <a:noFill/>
            <a:prstDash val="solid"/>
          </a:ln>
        </p:spPr>
        <p:txBody>
          <a:bodyPr wrap="square" lIns="0" tIns="0" rIns="0" bIns="0" anchor="t">
            <a:normAutofit/>
          </a:bodyPr>
          <a:lstStyle/>
          <a:p>
            <a:pPr algn="l">
              <a:lnSpc>
                <a:spcPct val="105000"/>
              </a:lnSpc>
              <a:buNone/>
              <a:defRPr sz="1350" b="1">
                <a:solidFill>
                  <a:srgbClr val="6B7B88"/>
                </a:solidFill>
                <a:latin typeface="微软雅黑" panose="020B0503020204020204" charset="-122"/>
                <a:ea typeface="微软雅黑" panose="020B0503020204020204" charset="-122"/>
                <a:cs typeface="微软雅黑" panose="020B0503020204020204" charset="-122"/>
              </a:defRPr>
            </a:pPr>
            <a:r>
              <a:rPr sz="1350" b="1">
                <a:solidFill>
                  <a:srgbClr val="6B7B88"/>
                </a:solidFill>
                <a:latin typeface="微软雅黑" panose="020B0503020204020204" charset="-122"/>
                <a:ea typeface="微软雅黑" panose="020B0503020204020204" charset="-122"/>
                <a:cs typeface="微软雅黑" panose="020B0503020204020204" charset="-122"/>
              </a:rPr>
              <a:t>建议的投放方式</a:t>
            </a:r>
            <a:endParaRPr sz="1350"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66750" y="1828800"/>
            <a:ext cx="10287000" cy="628650"/>
          </a:xfrm>
          <a:prstGeom prst="rect">
            <a:avLst/>
          </a:prstGeom>
          <a:noFill/>
          <a:ln w="0">
            <a:noFill/>
            <a:prstDash val="solid"/>
          </a:ln>
        </p:spPr>
        <p:txBody>
          <a:bodyPr wrap="square" lIns="0" tIns="0" rIns="0" bIns="0" anchor="t">
            <a:normAutofit/>
          </a:bodyPr>
          <a:lstStyle/>
          <a:p>
            <a:pPr algn="l">
              <a:lnSpc>
                <a:spcPct val="100000"/>
              </a:lnSpc>
              <a:buNone/>
              <a:defRPr sz="2550" b="1">
                <a:solidFill>
                  <a:srgbClr val="0B1F33"/>
                </a:solidFill>
                <a:latin typeface="微软雅黑" panose="020B0503020204020204" charset="-122"/>
                <a:ea typeface="微软雅黑" panose="020B0503020204020204" charset="-122"/>
                <a:cs typeface="微软雅黑" panose="020B0503020204020204" charset="-122"/>
              </a:defRPr>
            </a:pPr>
            <a:r>
              <a:rPr sz="2550" b="1">
                <a:solidFill>
                  <a:srgbClr val="0B1F33"/>
                </a:solidFill>
                <a:latin typeface="微软雅黑" panose="020B0503020204020204" charset="-122"/>
                <a:ea typeface="微软雅黑" panose="020B0503020204020204" charset="-122"/>
                <a:cs typeface="微软雅黑" panose="020B0503020204020204" charset="-122"/>
              </a:rPr>
              <a:t>以男装邮件作为低边际成本环境下的默认广泛投放方案。</a:t>
            </a:r>
            <a:endParaRPr sz="25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685800" y="2857500"/>
            <a:ext cx="523875" cy="381000"/>
          </a:xfrm>
          <a:prstGeom prst="rect">
            <a:avLst/>
          </a:prstGeom>
          <a:noFill/>
          <a:ln w="0">
            <a:noFill/>
            <a:prstDash val="solid"/>
          </a:ln>
        </p:spPr>
        <p:txBody>
          <a:bodyPr wrap="square" lIns="0" tIns="0" rIns="0" bIns="0" anchor="ctr">
            <a:normAutofit/>
          </a:bodyPr>
          <a:lstStyle/>
          <a:p>
            <a:pPr algn="l">
              <a:lnSpc>
                <a:spcPct val="105000"/>
              </a:lnSpc>
              <a:buNone/>
              <a:defRPr sz="2025" b="1">
                <a:solidFill>
                  <a:srgbClr val="00A6A6"/>
                </a:solidFill>
                <a:latin typeface="微软雅黑" panose="020B0503020204020204" charset="-122"/>
                <a:ea typeface="微软雅黑" panose="020B0503020204020204" charset="-122"/>
                <a:cs typeface="微软雅黑" panose="020B0503020204020204" charset="-122"/>
              </a:defRPr>
            </a:pPr>
            <a:r>
              <a:rPr sz="2025" b="1">
                <a:solidFill>
                  <a:srgbClr val="00A6A6"/>
                </a:solidFill>
                <a:latin typeface="微软雅黑" panose="020B0503020204020204" charset="-122"/>
                <a:ea typeface="微软雅黑" panose="020B0503020204020204" charset="-122"/>
                <a:cs typeface="微软雅黑" panose="020B0503020204020204" charset="-122"/>
              </a:rPr>
              <a:t>01</a:t>
            </a:r>
            <a:endParaRPr sz="202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11" name="直接连接符 10"/>
          <p:cNvSpPr>
            <a:spLocks noGrp="1"/>
          </p:cNvSpPr>
          <p:nvPr/>
        </p:nvSpPr>
        <p:spPr>
          <a:xfrm>
            <a:off x="1352550" y="2876550"/>
            <a:ext cx="953" cy="666750"/>
          </a:xfrm>
          <a:prstGeom prst="line">
            <a:avLst/>
          </a:prstGeom>
          <a:noFill/>
          <a:ln w="38100">
            <a:solidFill>
              <a:srgbClr val="00A6A6"/>
            </a:solidFill>
            <a:prstDash val="solid"/>
          </a:ln>
        </p:spPr>
      </p:sp>
      <p:sp>
        <p:nvSpPr>
          <p:cNvPr id="12" name="矩形 11"/>
          <p:cNvSpPr>
            <a:spLocks noGrp="1"/>
          </p:cNvSpPr>
          <p:nvPr/>
        </p:nvSpPr>
        <p:spPr>
          <a:xfrm>
            <a:off x="1676400" y="2857500"/>
            <a:ext cx="1809750" cy="285750"/>
          </a:xfrm>
          <a:prstGeom prst="rect">
            <a:avLst/>
          </a:prstGeom>
          <a:noFill/>
          <a:ln w="0">
            <a:noFill/>
            <a:prstDash val="solid"/>
          </a:ln>
        </p:spPr>
        <p:txBody>
          <a:bodyPr wrap="square" lIns="0" tIns="0" rIns="0" bIns="0" anchor="t">
            <a:normAutofit/>
          </a:bodyPr>
          <a:lstStyle/>
          <a:p>
            <a:pPr algn="l">
              <a:lnSpc>
                <a:spcPct val="105000"/>
              </a:lnSpc>
              <a:buNone/>
              <a:defRPr sz="1575" b="1">
                <a:solidFill>
                  <a:srgbClr val="17222E"/>
                </a:solidFill>
                <a:latin typeface="微软雅黑" panose="020B0503020204020204" charset="-122"/>
                <a:ea typeface="微软雅黑" panose="020B0503020204020204" charset="-122"/>
                <a:cs typeface="微软雅黑" panose="020B0503020204020204" charset="-122"/>
              </a:defRPr>
            </a:pPr>
            <a:r>
              <a:rPr sz="1575" b="1">
                <a:solidFill>
                  <a:srgbClr val="17222E"/>
                </a:solidFill>
                <a:latin typeface="微软雅黑" panose="020B0503020204020204" charset="-122"/>
                <a:ea typeface="微软雅黑" panose="020B0503020204020204" charset="-122"/>
                <a:cs typeface="微软雅黑" panose="020B0503020204020204" charset="-122"/>
              </a:rPr>
              <a:t>现在执行</a:t>
            </a:r>
            <a:endParaRPr sz="157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3619500" y="2838450"/>
            <a:ext cx="7620000" cy="666750"/>
          </a:xfrm>
          <a:prstGeom prst="rect">
            <a:avLst/>
          </a:prstGeom>
          <a:noFill/>
          <a:ln w="0">
            <a:noFill/>
            <a:prstDash val="solid"/>
          </a:ln>
        </p:spPr>
        <p:txBody>
          <a:bodyPr wrap="square" lIns="0" tIns="0" rIns="0" bIns="0" anchor="ctr">
            <a:normAutofit/>
          </a:bodyPr>
          <a:lstStyle/>
          <a:p>
            <a:pPr algn="l">
              <a:lnSpc>
                <a:spcPct val="113000"/>
              </a:lnSpc>
              <a:buNone/>
              <a:defRPr sz="1275" b="0">
                <a:solidFill>
                  <a:srgbClr val="314252"/>
                </a:solidFill>
                <a:latin typeface="微软雅黑" panose="020B0503020204020204" charset="-122"/>
                <a:ea typeface="微软雅黑" panose="020B0503020204020204" charset="-122"/>
                <a:cs typeface="微软雅黑" panose="020B0503020204020204" charset="-122"/>
              </a:defRPr>
            </a:pPr>
            <a:r>
              <a:rPr sz="1275" b="0">
                <a:solidFill>
                  <a:srgbClr val="314252"/>
                </a:solidFill>
                <a:latin typeface="微软雅黑" panose="020B0503020204020204" charset="-122"/>
                <a:ea typeface="微软雅黑" panose="020B0503020204020204" charset="-122"/>
                <a:cs typeface="微软雅黑" panose="020B0503020204020204" charset="-122"/>
              </a:rPr>
              <a:t>优先收获男装邮件相对不发邮件已被多重检验支持的平均消费金额增量；保留持续监测与对照组。</a:t>
            </a:r>
            <a:endParaRPr sz="12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685800" y="3829050"/>
            <a:ext cx="523875" cy="381000"/>
          </a:xfrm>
          <a:prstGeom prst="rect">
            <a:avLst/>
          </a:prstGeom>
          <a:noFill/>
          <a:ln w="0">
            <a:noFill/>
            <a:prstDash val="solid"/>
          </a:ln>
        </p:spPr>
        <p:txBody>
          <a:bodyPr wrap="square" lIns="0" tIns="0" rIns="0" bIns="0" anchor="ctr">
            <a:normAutofit/>
          </a:bodyPr>
          <a:lstStyle/>
          <a:p>
            <a:pPr algn="l">
              <a:lnSpc>
                <a:spcPct val="105000"/>
              </a:lnSpc>
              <a:buNone/>
              <a:defRPr sz="2025" b="1">
                <a:solidFill>
                  <a:srgbClr val="173A5E"/>
                </a:solidFill>
                <a:latin typeface="微软雅黑" panose="020B0503020204020204" charset="-122"/>
                <a:ea typeface="微软雅黑" panose="020B0503020204020204" charset="-122"/>
                <a:cs typeface="微软雅黑" panose="020B0503020204020204" charset="-122"/>
              </a:defRPr>
            </a:pPr>
            <a:r>
              <a:rPr sz="2025" b="1">
                <a:solidFill>
                  <a:srgbClr val="173A5E"/>
                </a:solidFill>
                <a:latin typeface="微软雅黑" panose="020B0503020204020204" charset="-122"/>
                <a:ea typeface="微软雅黑" panose="020B0503020204020204" charset="-122"/>
                <a:cs typeface="微软雅黑" panose="020B0503020204020204" charset="-122"/>
              </a:rPr>
              <a:t>02</a:t>
            </a:r>
            <a:endParaRPr sz="2025" b="1">
              <a:solidFill>
                <a:srgbClr val="173A5E"/>
              </a:solidFill>
              <a:latin typeface="微软雅黑" panose="020B0503020204020204" charset="-122"/>
              <a:ea typeface="微软雅黑" panose="020B0503020204020204" charset="-122"/>
              <a:cs typeface="微软雅黑" panose="020B0503020204020204" charset="-122"/>
            </a:endParaRPr>
          </a:p>
        </p:txBody>
      </p:sp>
      <p:sp>
        <p:nvSpPr>
          <p:cNvPr id="15" name="直接连接符 14"/>
          <p:cNvSpPr>
            <a:spLocks noGrp="1"/>
          </p:cNvSpPr>
          <p:nvPr/>
        </p:nvSpPr>
        <p:spPr>
          <a:xfrm>
            <a:off x="1352550" y="3848100"/>
            <a:ext cx="953" cy="666750"/>
          </a:xfrm>
          <a:prstGeom prst="line">
            <a:avLst/>
          </a:prstGeom>
          <a:noFill/>
          <a:ln w="38100">
            <a:solidFill>
              <a:srgbClr val="173A5E"/>
            </a:solidFill>
            <a:prstDash val="solid"/>
          </a:ln>
        </p:spPr>
      </p:sp>
      <p:sp>
        <p:nvSpPr>
          <p:cNvPr id="16" name="矩形 15"/>
          <p:cNvSpPr>
            <a:spLocks noGrp="1"/>
          </p:cNvSpPr>
          <p:nvPr/>
        </p:nvSpPr>
        <p:spPr>
          <a:xfrm>
            <a:off x="1676400" y="3829050"/>
            <a:ext cx="1809750" cy="285750"/>
          </a:xfrm>
          <a:prstGeom prst="rect">
            <a:avLst/>
          </a:prstGeom>
          <a:noFill/>
          <a:ln w="0">
            <a:noFill/>
            <a:prstDash val="solid"/>
          </a:ln>
        </p:spPr>
        <p:txBody>
          <a:bodyPr wrap="square" lIns="0" tIns="0" rIns="0" bIns="0" anchor="t">
            <a:normAutofit/>
          </a:bodyPr>
          <a:lstStyle/>
          <a:p>
            <a:pPr algn="l">
              <a:lnSpc>
                <a:spcPct val="105000"/>
              </a:lnSpc>
              <a:buNone/>
              <a:defRPr sz="1575" b="1">
                <a:solidFill>
                  <a:srgbClr val="17222E"/>
                </a:solidFill>
                <a:latin typeface="微软雅黑" panose="020B0503020204020204" charset="-122"/>
                <a:ea typeface="微软雅黑" panose="020B0503020204020204" charset="-122"/>
                <a:cs typeface="微软雅黑" panose="020B0503020204020204" charset="-122"/>
              </a:defRPr>
            </a:pPr>
            <a:r>
              <a:rPr sz="1575" b="1">
                <a:solidFill>
                  <a:srgbClr val="17222E"/>
                </a:solidFill>
                <a:latin typeface="微软雅黑" panose="020B0503020204020204" charset="-122"/>
                <a:ea typeface="微软雅黑" panose="020B0503020204020204" charset="-122"/>
                <a:cs typeface="微软雅黑" panose="020B0503020204020204" charset="-122"/>
              </a:rPr>
              <a:t>保持边界</a:t>
            </a:r>
            <a:endParaRPr sz="157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3619500" y="3810000"/>
            <a:ext cx="7620000" cy="666750"/>
          </a:xfrm>
          <a:prstGeom prst="rect">
            <a:avLst/>
          </a:prstGeom>
          <a:noFill/>
          <a:ln w="0">
            <a:noFill/>
            <a:prstDash val="solid"/>
          </a:ln>
        </p:spPr>
        <p:txBody>
          <a:bodyPr wrap="square" lIns="0" tIns="0" rIns="0" bIns="0" anchor="ctr">
            <a:normAutofit/>
          </a:bodyPr>
          <a:lstStyle/>
          <a:p>
            <a:pPr algn="l">
              <a:lnSpc>
                <a:spcPct val="113000"/>
              </a:lnSpc>
              <a:buNone/>
              <a:defRPr sz="1275" b="0">
                <a:solidFill>
                  <a:srgbClr val="314252"/>
                </a:solidFill>
                <a:latin typeface="微软雅黑" panose="020B0503020204020204" charset="-122"/>
                <a:ea typeface="微软雅黑" panose="020B0503020204020204" charset="-122"/>
                <a:cs typeface="微软雅黑" panose="020B0503020204020204" charset="-122"/>
              </a:defRPr>
            </a:pPr>
            <a:r>
              <a:rPr sz="1275" b="0">
                <a:solidFill>
                  <a:srgbClr val="314252"/>
                </a:solidFill>
                <a:latin typeface="微软雅黑" panose="020B0503020204020204" charset="-122"/>
                <a:ea typeface="微软雅黑" panose="020B0503020204020204" charset="-122"/>
                <a:cs typeface="微软雅黑" panose="020B0503020204020204" charset="-122"/>
              </a:rPr>
              <a:t>把男装邮件视为当前点估计最优，而不是“已确定优于女装邮件”；若创意选择重要，继续随机比较。</a:t>
            </a:r>
            <a:endParaRPr sz="12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685800" y="4800600"/>
            <a:ext cx="523875" cy="381000"/>
          </a:xfrm>
          <a:prstGeom prst="rect">
            <a:avLst/>
          </a:prstGeom>
          <a:noFill/>
          <a:ln w="0">
            <a:noFill/>
            <a:prstDash val="solid"/>
          </a:ln>
        </p:spPr>
        <p:txBody>
          <a:bodyPr wrap="square" lIns="0" tIns="0" rIns="0" bIns="0" anchor="ctr">
            <a:normAutofit/>
          </a:bodyPr>
          <a:lstStyle/>
          <a:p>
            <a:pPr algn="l">
              <a:lnSpc>
                <a:spcPct val="105000"/>
              </a:lnSpc>
              <a:buNone/>
              <a:defRPr sz="2025" b="1">
                <a:solidFill>
                  <a:srgbClr val="EF6A5B"/>
                </a:solidFill>
                <a:latin typeface="微软雅黑" panose="020B0503020204020204" charset="-122"/>
                <a:ea typeface="微软雅黑" panose="020B0503020204020204" charset="-122"/>
                <a:cs typeface="微软雅黑" panose="020B0503020204020204" charset="-122"/>
              </a:defRPr>
            </a:pPr>
            <a:r>
              <a:rPr sz="2025" b="1">
                <a:solidFill>
                  <a:srgbClr val="EF6A5B"/>
                </a:solidFill>
                <a:latin typeface="微软雅黑" panose="020B0503020204020204" charset="-122"/>
                <a:ea typeface="微软雅黑" panose="020B0503020204020204" charset="-122"/>
                <a:cs typeface="微软雅黑" panose="020B0503020204020204" charset="-122"/>
              </a:rPr>
              <a:t>03</a:t>
            </a:r>
            <a:endParaRPr sz="2025" b="1">
              <a:solidFill>
                <a:srgbClr val="EF6A5B"/>
              </a:solidFill>
              <a:latin typeface="微软雅黑" panose="020B0503020204020204" charset="-122"/>
              <a:ea typeface="微软雅黑" panose="020B0503020204020204" charset="-122"/>
              <a:cs typeface="微软雅黑" panose="020B0503020204020204" charset="-122"/>
            </a:endParaRPr>
          </a:p>
        </p:txBody>
      </p:sp>
      <p:sp>
        <p:nvSpPr>
          <p:cNvPr id="19" name="直接连接符 18"/>
          <p:cNvSpPr>
            <a:spLocks noGrp="1"/>
          </p:cNvSpPr>
          <p:nvPr/>
        </p:nvSpPr>
        <p:spPr>
          <a:xfrm>
            <a:off x="1352550" y="4819650"/>
            <a:ext cx="953" cy="666750"/>
          </a:xfrm>
          <a:prstGeom prst="line">
            <a:avLst/>
          </a:prstGeom>
          <a:noFill/>
          <a:ln w="38100">
            <a:solidFill>
              <a:srgbClr val="EF6A5B"/>
            </a:solidFill>
            <a:prstDash val="solid"/>
          </a:ln>
        </p:spPr>
      </p:sp>
      <p:sp>
        <p:nvSpPr>
          <p:cNvPr id="20" name="矩形 19"/>
          <p:cNvSpPr>
            <a:spLocks noGrp="1"/>
          </p:cNvSpPr>
          <p:nvPr/>
        </p:nvSpPr>
        <p:spPr>
          <a:xfrm>
            <a:off x="1676400" y="4800600"/>
            <a:ext cx="1809750" cy="285750"/>
          </a:xfrm>
          <a:prstGeom prst="rect">
            <a:avLst/>
          </a:prstGeom>
          <a:noFill/>
          <a:ln w="0">
            <a:noFill/>
            <a:prstDash val="solid"/>
          </a:ln>
        </p:spPr>
        <p:txBody>
          <a:bodyPr wrap="square" lIns="0" tIns="0" rIns="0" bIns="0" anchor="t">
            <a:normAutofit/>
          </a:bodyPr>
          <a:lstStyle/>
          <a:p>
            <a:pPr algn="l">
              <a:lnSpc>
                <a:spcPct val="105000"/>
              </a:lnSpc>
              <a:buNone/>
              <a:defRPr sz="1575" b="1">
                <a:solidFill>
                  <a:srgbClr val="17222E"/>
                </a:solidFill>
                <a:latin typeface="微软雅黑" panose="020B0503020204020204" charset="-122"/>
                <a:ea typeface="微软雅黑" panose="020B0503020204020204" charset="-122"/>
                <a:cs typeface="微软雅黑" panose="020B0503020204020204" charset="-122"/>
              </a:defRPr>
            </a:pPr>
            <a:r>
              <a:rPr sz="1575" b="1">
                <a:solidFill>
                  <a:srgbClr val="17222E"/>
                </a:solidFill>
                <a:latin typeface="微软雅黑" panose="020B0503020204020204" charset="-122"/>
                <a:ea typeface="微软雅黑" panose="020B0503020204020204" charset="-122"/>
                <a:cs typeface="微软雅黑" panose="020B0503020204020204" charset="-122"/>
              </a:rPr>
              <a:t>暂不部署</a:t>
            </a:r>
            <a:endParaRPr sz="157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3619500" y="4781550"/>
            <a:ext cx="7620000" cy="666750"/>
          </a:xfrm>
          <a:prstGeom prst="rect">
            <a:avLst/>
          </a:prstGeom>
          <a:noFill/>
          <a:ln w="0">
            <a:noFill/>
            <a:prstDash val="solid"/>
          </a:ln>
        </p:spPr>
        <p:txBody>
          <a:bodyPr wrap="square" lIns="0" tIns="0" rIns="0" bIns="0" anchor="ctr">
            <a:normAutofit/>
          </a:bodyPr>
          <a:lstStyle/>
          <a:p>
            <a:pPr algn="l">
              <a:lnSpc>
                <a:spcPct val="113000"/>
              </a:lnSpc>
              <a:buNone/>
              <a:defRPr sz="1275" b="0">
                <a:solidFill>
                  <a:srgbClr val="314252"/>
                </a:solidFill>
                <a:latin typeface="微软雅黑" panose="020B0503020204020204" charset="-122"/>
                <a:ea typeface="微软雅黑" panose="020B0503020204020204" charset="-122"/>
                <a:cs typeface="微软雅黑" panose="020B0503020204020204" charset="-122"/>
              </a:defRPr>
            </a:pPr>
            <a:r>
              <a:rPr sz="1275" b="0">
                <a:solidFill>
                  <a:srgbClr val="314252"/>
                </a:solidFill>
                <a:latin typeface="微软雅黑" panose="020B0503020204020204" charset="-122"/>
                <a:ea typeface="微软雅黑" panose="020B0503020204020204" charset="-122"/>
                <a:cs typeface="微软雅黑" panose="020B0503020204020204" charset="-122"/>
              </a:rPr>
              <a:t>不部署客户级双重稳健个性化；当前折外排序和策略价值均未清除不确定性门槛。</a:t>
            </a:r>
            <a:endParaRPr sz="12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nvSpPr>
        <p:spPr>
          <a:xfrm>
            <a:off x="666750" y="5791200"/>
            <a:ext cx="10839450" cy="323850"/>
          </a:xfrm>
          <a:prstGeom prst="roundRect">
            <a:avLst>
              <a:gd name="adj" fmla="val 35294"/>
            </a:avLst>
          </a:prstGeom>
          <a:solidFill>
            <a:srgbClr val="0B1F33"/>
          </a:solidFill>
          <a:ln w="0">
            <a:noFill/>
            <a:prstDash val="solid"/>
          </a:ln>
        </p:spPr>
      </p:sp>
      <p:sp>
        <p:nvSpPr>
          <p:cNvPr id="23" name="矩形 22"/>
          <p:cNvSpPr>
            <a:spLocks noGrp="1"/>
          </p:cNvSpPr>
          <p:nvPr/>
        </p:nvSpPr>
        <p:spPr>
          <a:xfrm>
            <a:off x="876300" y="5838825"/>
            <a:ext cx="10429875" cy="209550"/>
          </a:xfrm>
          <a:prstGeom prst="rect">
            <a:avLst/>
          </a:prstGeom>
          <a:noFill/>
          <a:ln w="0">
            <a:noFill/>
            <a:prstDash val="solid"/>
          </a:ln>
        </p:spPr>
        <p:txBody>
          <a:bodyPr wrap="square" lIns="0" tIns="0" rIns="0" bIns="0" anchor="ctr">
            <a:normAutofit/>
          </a:bodyPr>
          <a:lstStyle/>
          <a:p>
            <a:pPr algn="ctr">
              <a:lnSpc>
                <a:spcPct val="105000"/>
              </a:lnSpc>
              <a:buNone/>
              <a:defRPr sz="1050" b="1">
                <a:solidFill>
                  <a:srgbClr val="FFFFFF"/>
                </a:solidFill>
                <a:latin typeface="微软雅黑" panose="020B0503020204020204" charset="-122"/>
                <a:ea typeface="微软雅黑" panose="020B0503020204020204" charset="-122"/>
                <a:cs typeface="微软雅黑" panose="020B0503020204020204" charset="-122"/>
              </a:defRPr>
            </a:pPr>
            <a:r>
              <a:rPr sz="1050" b="1">
                <a:solidFill>
                  <a:srgbClr val="FFFFFF"/>
                </a:solidFill>
                <a:latin typeface="微软雅黑" panose="020B0503020204020204" charset="-122"/>
                <a:ea typeface="微软雅黑" panose="020B0503020204020204" charset="-122"/>
                <a:cs typeface="微软雅黑" panose="020B0503020204020204" charset="-122"/>
              </a:rPr>
              <a:t>决策原则：平均效果 ≠ 可行动的异质性 ≠ 个性化价值</a:t>
            </a:r>
            <a:endParaRPr sz="1050" b="1">
              <a:solidFill>
                <a:srgbClr val="FFFFFF"/>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41" name="矩形 40"/>
          <p:cNvSpPr>
            <a:spLocks noGrp="1"/>
          </p:cNvSpPr>
          <p:nvPr/>
        </p:nvSpPr>
        <p:spPr>
          <a:xfrm>
            <a:off x="647700" y="371475"/>
            <a:ext cx="495300" cy="57150"/>
          </a:xfrm>
          <a:prstGeom prst="rect">
            <a:avLst/>
          </a:prstGeom>
          <a:solidFill>
            <a:srgbClr val="00A6A6"/>
          </a:solidFill>
          <a:ln w="0">
            <a:noFill/>
            <a:prstDash val="solid"/>
          </a:ln>
        </p:spPr>
      </p:sp>
      <p:sp>
        <p:nvSpPr>
          <p:cNvPr id="2" name="矩形 1"/>
          <p:cNvSpPr>
            <a:spLocks noGrp="1"/>
          </p:cNvSpPr>
          <p:nvPr/>
        </p:nvSpPr>
        <p:spPr>
          <a:xfrm>
            <a:off x="647700" y="495300"/>
            <a:ext cx="3429000" cy="228600"/>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00A6A6"/>
                </a:solidFill>
                <a:latin typeface="微软雅黑" panose="020B0503020204020204" charset="-122"/>
                <a:ea typeface="微软雅黑" panose="020B0503020204020204" charset="-122"/>
                <a:cs typeface="微软雅黑" panose="020B0503020204020204" charset="-122"/>
              </a:defRPr>
            </a:pPr>
            <a:r>
              <a:rPr sz="975" b="1">
                <a:solidFill>
                  <a:srgbClr val="00A6A6"/>
                </a:solidFill>
                <a:latin typeface="微软雅黑" panose="020B0503020204020204" charset="-122"/>
                <a:ea typeface="微软雅黑" panose="020B0503020204020204" charset="-122"/>
                <a:cs typeface="微软雅黑" panose="020B0503020204020204" charset="-122"/>
              </a:rPr>
              <a:t>局限与下一轮实验</a:t>
            </a:r>
            <a:endParaRPr sz="9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47700" y="742950"/>
            <a:ext cx="10287000" cy="495300"/>
          </a:xfrm>
          <a:prstGeom prst="rect">
            <a:avLst/>
          </a:prstGeom>
          <a:noFill/>
          <a:ln w="0">
            <a:noFill/>
            <a:prstDash val="solid"/>
          </a:ln>
        </p:spPr>
        <p:txBody>
          <a:bodyPr wrap="none" lIns="0" tIns="0" rIns="0" bIns="0" anchor="ctr">
            <a:normAutofit/>
          </a:bodyPr>
          <a:lstStyle/>
          <a:p>
            <a:pPr algn="l">
              <a:lnSpc>
                <a:spcPct val="105000"/>
              </a:lnSpc>
              <a:buNone/>
              <a:defRPr sz="2850" b="1">
                <a:solidFill>
                  <a:srgbClr val="0B1F33"/>
                </a:solidFill>
                <a:latin typeface="微软雅黑" panose="020B0503020204020204" charset="-122"/>
                <a:ea typeface="微软雅黑" panose="020B0503020204020204" charset="-122"/>
                <a:cs typeface="微软雅黑" panose="020B0503020204020204" charset="-122"/>
              </a:defRPr>
            </a:pPr>
            <a:r>
              <a:rPr sz="2850" b="1">
                <a:solidFill>
                  <a:srgbClr val="0B1F33"/>
                </a:solidFill>
                <a:latin typeface="微软雅黑" panose="020B0503020204020204" charset="-122"/>
                <a:ea typeface="微软雅黑" panose="020B0503020204020204" charset="-122"/>
                <a:cs typeface="微软雅黑" panose="020B0503020204020204" charset="-122"/>
              </a:rPr>
              <a:t>下一轮实验应把消费金额证据升级为可执行的利润证据</a:t>
            </a:r>
            <a:endParaRPr sz="28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4" name="矩形 3"/>
          <p:cNvSpPr>
            <a:spLocks noGrp="1"/>
          </p:cNvSpPr>
          <p:nvPr/>
        </p:nvSpPr>
        <p:spPr>
          <a:xfrm>
            <a:off x="11125200" y="495300"/>
            <a:ext cx="419100" cy="209550"/>
          </a:xfrm>
          <a:prstGeom prst="rect">
            <a:avLst/>
          </a:prstGeom>
          <a:noFill/>
          <a:ln w="0">
            <a:noFill/>
            <a:prstDash val="solid"/>
          </a:ln>
        </p:spPr>
        <p:txBody>
          <a:bodyPr wrap="square" lIns="0" tIns="0" rIns="0" bIns="0" anchor="ctr">
            <a:normAutofit/>
          </a:bodyPr>
          <a:lstStyle/>
          <a:p>
            <a:pPr algn="r">
              <a:lnSpc>
                <a:spcPct val="105000"/>
              </a:lnSpc>
              <a:buNone/>
              <a:defRPr sz="975" b="1">
                <a:solidFill>
                  <a:srgbClr val="6B7B88"/>
                </a:solidFill>
                <a:latin typeface="微软雅黑" panose="020B0503020204020204" charset="-122"/>
                <a:ea typeface="微软雅黑" panose="020B0503020204020204" charset="-122"/>
                <a:cs typeface="微软雅黑" panose="020B0503020204020204" charset="-122"/>
              </a:defRPr>
            </a:pPr>
            <a:r>
              <a:rPr sz="975" b="1">
                <a:solidFill>
                  <a:srgbClr val="6B7B88"/>
                </a:solidFill>
                <a:latin typeface="微软雅黑" panose="020B0503020204020204" charset="-122"/>
                <a:ea typeface="微软雅黑" panose="020B0503020204020204" charset="-122"/>
                <a:cs typeface="微软雅黑" panose="020B0503020204020204" charset="-122"/>
              </a:rPr>
              <a:t>10</a:t>
            </a:r>
            <a:endParaRPr sz="975"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5" name="直接连接符 4"/>
          <p:cNvSpPr>
            <a:spLocks noGrp="1"/>
          </p:cNvSpPr>
          <p:nvPr/>
        </p:nvSpPr>
        <p:spPr>
          <a:xfrm>
            <a:off x="647700" y="6276975"/>
            <a:ext cx="10896600" cy="953"/>
          </a:xfrm>
          <a:prstGeom prst="line">
            <a:avLst/>
          </a:prstGeom>
          <a:noFill/>
          <a:ln w="9525">
            <a:solidFill>
              <a:srgbClr val="E6ECEF"/>
            </a:solidFill>
            <a:prstDash val="solid"/>
          </a:ln>
        </p:spPr>
      </p:sp>
      <p:sp>
        <p:nvSpPr>
          <p:cNvPr id="6" name="矩形 5"/>
          <p:cNvSpPr>
            <a:spLocks noGrp="1"/>
          </p:cNvSpPr>
          <p:nvPr/>
        </p:nvSpPr>
        <p:spPr>
          <a:xfrm>
            <a:off x="647700" y="6381750"/>
            <a:ext cx="4857750" cy="190500"/>
          </a:xfrm>
          <a:prstGeom prst="rect">
            <a:avLst/>
          </a:prstGeom>
          <a:noFill/>
          <a:ln w="0">
            <a:noFill/>
            <a:prstDash val="solid"/>
          </a:ln>
        </p:spPr>
        <p:txBody>
          <a:bodyPr wrap="square" lIns="0" tIns="0" rIns="0" bIns="0" anchor="t">
            <a:normAutofit/>
          </a:bodyPr>
          <a:lstStyle/>
          <a:p>
            <a:pPr algn="l">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来源：经验证的Hillstorm最终分析结果</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nvSpPr>
        <p:spPr>
          <a:xfrm>
            <a:off x="7886700" y="6381750"/>
            <a:ext cx="3657600" cy="190500"/>
          </a:xfrm>
          <a:prstGeom prst="rect">
            <a:avLst/>
          </a:prstGeom>
          <a:noFill/>
          <a:ln w="0">
            <a:noFill/>
            <a:prstDash val="solid"/>
          </a:ln>
        </p:spPr>
        <p:txBody>
          <a:bodyPr wrap="square" lIns="0" tIns="0" rIns="0" bIns="0" anchor="t">
            <a:normAutofit/>
          </a:bodyPr>
          <a:lstStyle/>
          <a:p>
            <a:pPr algn="r">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每名随机客户的消费金额｜并非投资回报率</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66750" y="1438275"/>
            <a:ext cx="3333750"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EF6A5B"/>
                </a:solidFill>
                <a:latin typeface="微软雅黑" panose="020B0503020204020204" charset="-122"/>
                <a:ea typeface="微软雅黑" panose="020B0503020204020204" charset="-122"/>
                <a:cs typeface="微软雅黑" panose="020B0503020204020204" charset="-122"/>
              </a:defRPr>
            </a:pPr>
            <a:r>
              <a:rPr sz="1050" b="1">
                <a:solidFill>
                  <a:srgbClr val="EF6A5B"/>
                </a:solidFill>
                <a:latin typeface="微软雅黑" panose="020B0503020204020204" charset="-122"/>
                <a:ea typeface="微软雅黑" panose="020B0503020204020204" charset="-122"/>
                <a:cs typeface="微软雅黑" panose="020B0503020204020204" charset="-122"/>
              </a:rPr>
              <a:t>当前证据边界</a:t>
            </a:r>
            <a:endParaRPr sz="1050" b="1">
              <a:solidFill>
                <a:srgbClr val="EF6A5B"/>
              </a:solidFill>
              <a:latin typeface="微软雅黑" panose="020B0503020204020204" charset="-122"/>
              <a:ea typeface="微软雅黑" panose="020B0503020204020204" charset="-122"/>
              <a:cs typeface="微软雅黑" panose="020B0503020204020204" charset="-122"/>
            </a:endParaRPr>
          </a:p>
        </p:txBody>
      </p:sp>
      <p:sp>
        <p:nvSpPr>
          <p:cNvPr id="9" name="椭圆 8"/>
          <p:cNvSpPr>
            <a:spLocks noGrp="1"/>
          </p:cNvSpPr>
          <p:nvPr/>
        </p:nvSpPr>
        <p:spPr>
          <a:xfrm>
            <a:off x="695325" y="1943100"/>
            <a:ext cx="76200" cy="76200"/>
          </a:xfrm>
          <a:prstGeom prst="ellipse">
            <a:avLst/>
          </a:prstGeom>
          <a:solidFill>
            <a:srgbClr val="EF6A5B"/>
          </a:solidFill>
          <a:ln w="0">
            <a:noFill/>
            <a:prstDash val="solid"/>
          </a:ln>
        </p:spPr>
      </p:sp>
      <p:sp>
        <p:nvSpPr>
          <p:cNvPr id="10" name="矩形 9"/>
          <p:cNvSpPr>
            <a:spLocks noGrp="1"/>
          </p:cNvSpPr>
          <p:nvPr/>
        </p:nvSpPr>
        <p:spPr>
          <a:xfrm>
            <a:off x="895350" y="1866900"/>
            <a:ext cx="4533900" cy="228600"/>
          </a:xfrm>
          <a:prstGeom prst="rect">
            <a:avLst/>
          </a:prstGeom>
          <a:noFill/>
          <a:ln w="0">
            <a:noFill/>
            <a:prstDash val="solid"/>
          </a:ln>
        </p:spPr>
        <p:txBody>
          <a:bodyPr wrap="square" lIns="0" tIns="0" rIns="0" bIns="0" anchor="t">
            <a:normAutofit/>
          </a:bodyPr>
          <a:lstStyle/>
          <a:p>
            <a:pPr algn="l">
              <a:lnSpc>
                <a:spcPct val="105000"/>
              </a:lnSpc>
              <a:buNone/>
              <a:defRPr sz="1350" b="1">
                <a:solidFill>
                  <a:srgbClr val="17222E"/>
                </a:solidFill>
                <a:latin typeface="微软雅黑" panose="020B0503020204020204" charset="-122"/>
                <a:ea typeface="微软雅黑" panose="020B0503020204020204" charset="-122"/>
                <a:cs typeface="微软雅黑" panose="020B0503020204020204" charset="-122"/>
              </a:defRPr>
            </a:pPr>
            <a:r>
              <a:rPr sz="1350" b="1">
                <a:solidFill>
                  <a:srgbClr val="17222E"/>
                </a:solidFill>
                <a:latin typeface="微软雅黑" panose="020B0503020204020204" charset="-122"/>
                <a:ea typeface="微软雅黑" panose="020B0503020204020204" charset="-122"/>
                <a:cs typeface="微软雅黑" panose="020B0503020204020204" charset="-122"/>
              </a:rPr>
              <a:t>缺少客户编号</a:t>
            </a:r>
            <a:endParaRPr sz="135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895350" y="2124075"/>
            <a:ext cx="4533900" cy="466725"/>
          </a:xfrm>
          <a:prstGeom prst="rect">
            <a:avLst/>
          </a:prstGeom>
          <a:noFill/>
          <a:ln w="0">
            <a:noFill/>
            <a:prstDash val="solid"/>
          </a:ln>
        </p:spPr>
        <p:txBody>
          <a:bodyPr wrap="square" lIns="0" tIns="0" rIns="0" bIns="0" anchor="t">
            <a:normAutofit/>
          </a:bodyPr>
          <a:lstStyle/>
          <a:p>
            <a:pPr algn="l">
              <a:lnSpc>
                <a:spcPct val="112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完全重复记录无法确认或去重；未来必须建立稳定实验单位。</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2" name="椭圆 11"/>
          <p:cNvSpPr>
            <a:spLocks noGrp="1"/>
          </p:cNvSpPr>
          <p:nvPr/>
        </p:nvSpPr>
        <p:spPr>
          <a:xfrm>
            <a:off x="695325" y="2819400"/>
            <a:ext cx="76200" cy="76200"/>
          </a:xfrm>
          <a:prstGeom prst="ellipse">
            <a:avLst/>
          </a:prstGeom>
          <a:solidFill>
            <a:srgbClr val="EF6A5B"/>
          </a:solidFill>
          <a:ln w="0">
            <a:noFill/>
            <a:prstDash val="solid"/>
          </a:ln>
        </p:spPr>
      </p:sp>
      <p:sp>
        <p:nvSpPr>
          <p:cNvPr id="13" name="矩形 12"/>
          <p:cNvSpPr>
            <a:spLocks noGrp="1"/>
          </p:cNvSpPr>
          <p:nvPr/>
        </p:nvSpPr>
        <p:spPr>
          <a:xfrm>
            <a:off x="895350" y="2743200"/>
            <a:ext cx="4533900" cy="228600"/>
          </a:xfrm>
          <a:prstGeom prst="rect">
            <a:avLst/>
          </a:prstGeom>
          <a:noFill/>
          <a:ln w="0">
            <a:noFill/>
            <a:prstDash val="solid"/>
          </a:ln>
        </p:spPr>
        <p:txBody>
          <a:bodyPr wrap="square" lIns="0" tIns="0" rIns="0" bIns="0" anchor="t">
            <a:normAutofit/>
          </a:bodyPr>
          <a:lstStyle/>
          <a:p>
            <a:pPr algn="l">
              <a:lnSpc>
                <a:spcPct val="105000"/>
              </a:lnSpc>
              <a:buNone/>
              <a:defRPr sz="1350" b="1">
                <a:solidFill>
                  <a:srgbClr val="17222E"/>
                </a:solidFill>
                <a:latin typeface="微软雅黑" panose="020B0503020204020204" charset="-122"/>
                <a:ea typeface="微软雅黑" panose="020B0503020204020204" charset="-122"/>
                <a:cs typeface="微软雅黑" panose="020B0503020204020204" charset="-122"/>
              </a:defRPr>
            </a:pPr>
            <a:r>
              <a:rPr sz="1350" b="1">
                <a:solidFill>
                  <a:srgbClr val="17222E"/>
                </a:solidFill>
                <a:latin typeface="微软雅黑" panose="020B0503020204020204" charset="-122"/>
                <a:ea typeface="微软雅黑" panose="020B0503020204020204" charset="-122"/>
                <a:cs typeface="微软雅黑" panose="020B0503020204020204" charset="-122"/>
              </a:rPr>
              <a:t>仅观察短期消费金额</a:t>
            </a:r>
            <a:endParaRPr sz="135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895350" y="3000375"/>
            <a:ext cx="4533900" cy="466725"/>
          </a:xfrm>
          <a:prstGeom prst="rect">
            <a:avLst/>
          </a:prstGeom>
          <a:noFill/>
          <a:ln w="0">
            <a:noFill/>
            <a:prstDash val="solid"/>
          </a:ln>
        </p:spPr>
        <p:txBody>
          <a:bodyPr wrap="square" lIns="0" tIns="0" rIns="0" bIns="0" anchor="t">
            <a:normAutofit/>
          </a:bodyPr>
          <a:lstStyle/>
          <a:p>
            <a:pPr algn="l">
              <a:lnSpc>
                <a:spcPct val="112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没有毛利、触达成本、退订、疲劳或长期重复购买。</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5" name="椭圆 14"/>
          <p:cNvSpPr>
            <a:spLocks noGrp="1"/>
          </p:cNvSpPr>
          <p:nvPr/>
        </p:nvSpPr>
        <p:spPr>
          <a:xfrm>
            <a:off x="695325" y="3695700"/>
            <a:ext cx="76200" cy="76200"/>
          </a:xfrm>
          <a:prstGeom prst="ellipse">
            <a:avLst/>
          </a:prstGeom>
          <a:solidFill>
            <a:srgbClr val="EF6A5B"/>
          </a:solidFill>
          <a:ln w="0">
            <a:noFill/>
            <a:prstDash val="solid"/>
          </a:ln>
        </p:spPr>
      </p:sp>
      <p:sp>
        <p:nvSpPr>
          <p:cNvPr id="16" name="矩形 15"/>
          <p:cNvSpPr>
            <a:spLocks noGrp="1"/>
          </p:cNvSpPr>
          <p:nvPr/>
        </p:nvSpPr>
        <p:spPr>
          <a:xfrm>
            <a:off x="895350" y="3619500"/>
            <a:ext cx="4533900" cy="228600"/>
          </a:xfrm>
          <a:prstGeom prst="rect">
            <a:avLst/>
          </a:prstGeom>
          <a:noFill/>
          <a:ln w="0">
            <a:noFill/>
            <a:prstDash val="solid"/>
          </a:ln>
        </p:spPr>
        <p:txBody>
          <a:bodyPr wrap="square" lIns="0" tIns="0" rIns="0" bIns="0" anchor="t">
            <a:normAutofit/>
          </a:bodyPr>
          <a:lstStyle/>
          <a:p>
            <a:pPr algn="l">
              <a:lnSpc>
                <a:spcPct val="105000"/>
              </a:lnSpc>
              <a:buNone/>
              <a:defRPr sz="1350" b="1">
                <a:solidFill>
                  <a:srgbClr val="17222E"/>
                </a:solidFill>
                <a:latin typeface="微软雅黑" panose="020B0503020204020204" charset="-122"/>
                <a:ea typeface="微软雅黑" panose="020B0503020204020204" charset="-122"/>
                <a:cs typeface="微软雅黑" panose="020B0503020204020204" charset="-122"/>
              </a:defRPr>
            </a:pPr>
            <a:r>
              <a:rPr sz="1350" b="1">
                <a:solidFill>
                  <a:srgbClr val="17222E"/>
                </a:solidFill>
                <a:latin typeface="微软雅黑" panose="020B0503020204020204" charset="-122"/>
                <a:ea typeface="微软雅黑" panose="020B0503020204020204" charset="-122"/>
                <a:cs typeface="微软雅黑" panose="020B0503020204020204" charset="-122"/>
              </a:rPr>
              <a:t>处理前特征有限</a:t>
            </a:r>
            <a:endParaRPr sz="135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895350" y="3876675"/>
            <a:ext cx="4533900" cy="466725"/>
          </a:xfrm>
          <a:prstGeom prst="rect">
            <a:avLst/>
          </a:prstGeom>
          <a:noFill/>
          <a:ln w="0">
            <a:noFill/>
            <a:prstDash val="solid"/>
          </a:ln>
        </p:spPr>
        <p:txBody>
          <a:bodyPr wrap="square" lIns="0" tIns="0" rIns="0" bIns="0" anchor="t">
            <a:normAutofit/>
          </a:bodyPr>
          <a:lstStyle/>
          <a:p>
            <a:pPr algn="l">
              <a:lnSpc>
                <a:spcPct val="112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当前特征不足以证明可泛化的个性化信号。</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8" name="椭圆 17"/>
          <p:cNvSpPr>
            <a:spLocks noGrp="1"/>
          </p:cNvSpPr>
          <p:nvPr/>
        </p:nvSpPr>
        <p:spPr>
          <a:xfrm>
            <a:off x="695325" y="4572000"/>
            <a:ext cx="76200" cy="76200"/>
          </a:xfrm>
          <a:prstGeom prst="ellipse">
            <a:avLst/>
          </a:prstGeom>
          <a:solidFill>
            <a:srgbClr val="EF6A5B"/>
          </a:solidFill>
          <a:ln w="0">
            <a:noFill/>
            <a:prstDash val="solid"/>
          </a:ln>
        </p:spPr>
      </p:sp>
      <p:sp>
        <p:nvSpPr>
          <p:cNvPr id="19" name="矩形 18"/>
          <p:cNvSpPr>
            <a:spLocks noGrp="1"/>
          </p:cNvSpPr>
          <p:nvPr/>
        </p:nvSpPr>
        <p:spPr>
          <a:xfrm>
            <a:off x="895350" y="4495800"/>
            <a:ext cx="4533900" cy="228600"/>
          </a:xfrm>
          <a:prstGeom prst="rect">
            <a:avLst/>
          </a:prstGeom>
          <a:noFill/>
          <a:ln w="0">
            <a:noFill/>
            <a:prstDash val="solid"/>
          </a:ln>
        </p:spPr>
        <p:txBody>
          <a:bodyPr wrap="square" lIns="0" tIns="0" rIns="0" bIns="0" anchor="t">
            <a:normAutofit/>
          </a:bodyPr>
          <a:lstStyle/>
          <a:p>
            <a:pPr algn="l">
              <a:lnSpc>
                <a:spcPct val="105000"/>
              </a:lnSpc>
              <a:buNone/>
              <a:defRPr sz="1350" b="1">
                <a:solidFill>
                  <a:srgbClr val="17222E"/>
                </a:solidFill>
                <a:latin typeface="微软雅黑" panose="020B0503020204020204" charset="-122"/>
                <a:ea typeface="微软雅黑" panose="020B0503020204020204" charset="-122"/>
                <a:cs typeface="微软雅黑" panose="020B0503020204020204" charset="-122"/>
              </a:defRPr>
            </a:pPr>
            <a:r>
              <a:rPr sz="1350" b="1">
                <a:solidFill>
                  <a:srgbClr val="17222E"/>
                </a:solidFill>
                <a:latin typeface="微软雅黑" panose="020B0503020204020204" charset="-122"/>
                <a:ea typeface="微软雅黑" panose="020B0503020204020204" charset="-122"/>
                <a:cs typeface="微软雅黑" panose="020B0503020204020204" charset="-122"/>
              </a:rPr>
              <a:t>情景分析，并非投资回报率</a:t>
            </a:r>
            <a:endParaRPr sz="135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95350" y="4752975"/>
            <a:ext cx="4533900" cy="466725"/>
          </a:xfrm>
          <a:prstGeom prst="rect">
            <a:avLst/>
          </a:prstGeom>
          <a:noFill/>
          <a:ln w="0">
            <a:noFill/>
            <a:prstDash val="solid"/>
          </a:ln>
        </p:spPr>
        <p:txBody>
          <a:bodyPr wrap="square" lIns="0" tIns="0" rIns="0" bIns="0" anchor="t">
            <a:normAutofit/>
          </a:bodyPr>
          <a:lstStyle/>
          <a:p>
            <a:pPr algn="l">
              <a:lnSpc>
                <a:spcPct val="112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成本网格只从消费金额中扣除假设邮件成本。</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1" name="直接连接符 20"/>
          <p:cNvSpPr>
            <a:spLocks noGrp="1"/>
          </p:cNvSpPr>
          <p:nvPr/>
        </p:nvSpPr>
        <p:spPr>
          <a:xfrm>
            <a:off x="5867400" y="1447800"/>
            <a:ext cx="953" cy="4505325"/>
          </a:xfrm>
          <a:prstGeom prst="line">
            <a:avLst/>
          </a:prstGeom>
          <a:noFill/>
          <a:ln w="9525">
            <a:solidFill>
              <a:srgbClr val="E6ECEF"/>
            </a:solidFill>
            <a:prstDash val="solid"/>
          </a:ln>
        </p:spPr>
      </p:sp>
      <p:sp>
        <p:nvSpPr>
          <p:cNvPr id="22" name="矩形 21"/>
          <p:cNvSpPr>
            <a:spLocks noGrp="1"/>
          </p:cNvSpPr>
          <p:nvPr/>
        </p:nvSpPr>
        <p:spPr>
          <a:xfrm>
            <a:off x="6286500" y="1438275"/>
            <a:ext cx="3048000"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下一轮实验设计</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23" name="椭圆 22"/>
          <p:cNvSpPr>
            <a:spLocks noGrp="1"/>
          </p:cNvSpPr>
          <p:nvPr/>
        </p:nvSpPr>
        <p:spPr>
          <a:xfrm>
            <a:off x="6296025" y="1866900"/>
            <a:ext cx="266700" cy="266700"/>
          </a:xfrm>
          <a:prstGeom prst="ellipse">
            <a:avLst/>
          </a:prstGeom>
          <a:solidFill>
            <a:srgbClr val="E8F7F6"/>
          </a:solidFill>
          <a:ln w="9525">
            <a:solidFill>
              <a:srgbClr val="00A6A6"/>
            </a:solidFill>
            <a:prstDash val="solid"/>
          </a:ln>
        </p:spPr>
      </p:sp>
      <p:sp>
        <p:nvSpPr>
          <p:cNvPr id="24" name="矩形 23"/>
          <p:cNvSpPr>
            <a:spLocks noGrp="1"/>
          </p:cNvSpPr>
          <p:nvPr/>
        </p:nvSpPr>
        <p:spPr>
          <a:xfrm>
            <a:off x="6305550" y="1876425"/>
            <a:ext cx="247650" cy="247650"/>
          </a:xfrm>
          <a:prstGeom prst="rect">
            <a:avLst/>
          </a:prstGeom>
          <a:noFill/>
          <a:ln w="0">
            <a:noFill/>
            <a:prstDash val="solid"/>
          </a:ln>
        </p:spPr>
        <p:txBody>
          <a:bodyPr wrap="square" lIns="0" tIns="0" rIns="0" bIns="0" anchor="ctr">
            <a:normAutofit/>
          </a:bodyPr>
          <a:lstStyle/>
          <a:p>
            <a:pPr algn="ctr">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1</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6762750" y="1866900"/>
            <a:ext cx="2000250" cy="247650"/>
          </a:xfrm>
          <a:prstGeom prst="rect">
            <a:avLst/>
          </a:prstGeom>
          <a:noFill/>
          <a:ln w="0">
            <a:noFill/>
            <a:prstDash val="solid"/>
          </a:ln>
        </p:spPr>
        <p:txBody>
          <a:bodyPr wrap="square" lIns="0" tIns="0" rIns="0" bIns="0" anchor="t">
            <a:normAutofit/>
          </a:bodyPr>
          <a:lstStyle/>
          <a:p>
            <a:pPr algn="l">
              <a:lnSpc>
                <a:spcPct val="105000"/>
              </a:lnSpc>
              <a:buNone/>
              <a:defRPr sz="1425" b="1">
                <a:solidFill>
                  <a:srgbClr val="17222E"/>
                </a:solidFill>
                <a:latin typeface="微软雅黑" panose="020B0503020204020204" charset="-122"/>
                <a:ea typeface="微软雅黑" panose="020B0503020204020204" charset="-122"/>
                <a:cs typeface="微软雅黑" panose="020B0503020204020204" charset="-122"/>
              </a:defRPr>
            </a:pPr>
            <a:r>
              <a:rPr sz="1425" b="1">
                <a:solidFill>
                  <a:srgbClr val="17222E"/>
                </a:solidFill>
                <a:latin typeface="微软雅黑" panose="020B0503020204020204" charset="-122"/>
                <a:ea typeface="微软雅黑" panose="020B0503020204020204" charset="-122"/>
                <a:cs typeface="微软雅黑" panose="020B0503020204020204" charset="-122"/>
              </a:rPr>
              <a:t>完善测量</a:t>
            </a:r>
            <a:endParaRPr sz="142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26" name="矩形 25"/>
          <p:cNvSpPr>
            <a:spLocks noGrp="1"/>
          </p:cNvSpPr>
          <p:nvPr/>
        </p:nvSpPr>
        <p:spPr>
          <a:xfrm>
            <a:off x="6762750" y="2162175"/>
            <a:ext cx="4524375" cy="523875"/>
          </a:xfrm>
          <a:prstGeom prst="rect">
            <a:avLst/>
          </a:prstGeom>
          <a:noFill/>
          <a:ln w="0">
            <a:noFill/>
            <a:prstDash val="solid"/>
          </a:ln>
        </p:spPr>
        <p:txBody>
          <a:bodyPr wrap="square" lIns="0" tIns="0" rIns="0" bIns="0" anchor="t">
            <a:normAutofit/>
          </a:bodyPr>
          <a:lstStyle/>
          <a:p>
            <a:pPr algn="l">
              <a:lnSpc>
                <a:spcPct val="110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客户编号、毛利、实际发送成本、退订／投诉、长期购买与更丰富的处理前行为。</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7" name="椭圆 26"/>
          <p:cNvSpPr>
            <a:spLocks noGrp="1"/>
          </p:cNvSpPr>
          <p:nvPr/>
        </p:nvSpPr>
        <p:spPr>
          <a:xfrm>
            <a:off x="6296025" y="2828925"/>
            <a:ext cx="266700" cy="266700"/>
          </a:xfrm>
          <a:prstGeom prst="ellipse">
            <a:avLst/>
          </a:prstGeom>
          <a:solidFill>
            <a:srgbClr val="E8F7F6"/>
          </a:solidFill>
          <a:ln w="9525">
            <a:solidFill>
              <a:srgbClr val="00A6A6"/>
            </a:solidFill>
            <a:prstDash val="solid"/>
          </a:ln>
        </p:spPr>
      </p:sp>
      <p:sp>
        <p:nvSpPr>
          <p:cNvPr id="28" name="矩形 27"/>
          <p:cNvSpPr>
            <a:spLocks noGrp="1"/>
          </p:cNvSpPr>
          <p:nvPr/>
        </p:nvSpPr>
        <p:spPr>
          <a:xfrm>
            <a:off x="6305550" y="2838450"/>
            <a:ext cx="247650" cy="247650"/>
          </a:xfrm>
          <a:prstGeom prst="rect">
            <a:avLst/>
          </a:prstGeom>
          <a:noFill/>
          <a:ln w="0">
            <a:noFill/>
            <a:prstDash val="solid"/>
          </a:ln>
        </p:spPr>
        <p:txBody>
          <a:bodyPr wrap="square" lIns="0" tIns="0" rIns="0" bIns="0" anchor="ctr">
            <a:normAutofit/>
          </a:bodyPr>
          <a:lstStyle/>
          <a:p>
            <a:pPr algn="ctr">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2</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6762750" y="2828925"/>
            <a:ext cx="2000250" cy="247650"/>
          </a:xfrm>
          <a:prstGeom prst="rect">
            <a:avLst/>
          </a:prstGeom>
          <a:noFill/>
          <a:ln w="0">
            <a:noFill/>
            <a:prstDash val="solid"/>
          </a:ln>
        </p:spPr>
        <p:txBody>
          <a:bodyPr wrap="square" lIns="0" tIns="0" rIns="0" bIns="0" anchor="t">
            <a:normAutofit/>
          </a:bodyPr>
          <a:lstStyle/>
          <a:p>
            <a:pPr algn="l">
              <a:lnSpc>
                <a:spcPct val="105000"/>
              </a:lnSpc>
              <a:buNone/>
              <a:defRPr sz="1425" b="1">
                <a:solidFill>
                  <a:srgbClr val="17222E"/>
                </a:solidFill>
                <a:latin typeface="微软雅黑" panose="020B0503020204020204" charset="-122"/>
                <a:ea typeface="微软雅黑" panose="020B0503020204020204" charset="-122"/>
                <a:cs typeface="微软雅黑" panose="020B0503020204020204" charset="-122"/>
              </a:defRPr>
            </a:pPr>
            <a:r>
              <a:rPr sz="1425" b="1">
                <a:solidFill>
                  <a:srgbClr val="17222E"/>
                </a:solidFill>
                <a:latin typeface="微软雅黑" panose="020B0503020204020204" charset="-122"/>
                <a:ea typeface="微软雅黑" panose="020B0503020204020204" charset="-122"/>
                <a:cs typeface="微软雅黑" panose="020B0503020204020204" charset="-122"/>
              </a:rPr>
              <a:t>预先登记</a:t>
            </a:r>
            <a:endParaRPr sz="142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30" name="矩形 29"/>
          <p:cNvSpPr>
            <a:spLocks noGrp="1"/>
          </p:cNvSpPr>
          <p:nvPr/>
        </p:nvSpPr>
        <p:spPr>
          <a:xfrm>
            <a:off x="6762750" y="3124200"/>
            <a:ext cx="4524375" cy="523875"/>
          </a:xfrm>
          <a:prstGeom prst="rect">
            <a:avLst/>
          </a:prstGeom>
          <a:noFill/>
          <a:ln w="0">
            <a:noFill/>
            <a:prstDash val="solid"/>
          </a:ln>
        </p:spPr>
        <p:txBody>
          <a:bodyPr wrap="square" lIns="0" tIns="0" rIns="0" bIns="0" anchor="t">
            <a:normAutofit/>
          </a:bodyPr>
          <a:lstStyle/>
          <a:p>
            <a:pPr algn="l">
              <a:lnSpc>
                <a:spcPct val="110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锁定增量贡献／净价值主指标、创意对比与成本决策门槛。</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1" name="椭圆 30"/>
          <p:cNvSpPr>
            <a:spLocks noGrp="1"/>
          </p:cNvSpPr>
          <p:nvPr/>
        </p:nvSpPr>
        <p:spPr>
          <a:xfrm>
            <a:off x="6296025" y="3790950"/>
            <a:ext cx="266700" cy="266700"/>
          </a:xfrm>
          <a:prstGeom prst="ellipse">
            <a:avLst/>
          </a:prstGeom>
          <a:solidFill>
            <a:srgbClr val="E8F7F6"/>
          </a:solidFill>
          <a:ln w="9525">
            <a:solidFill>
              <a:srgbClr val="00A6A6"/>
            </a:solidFill>
            <a:prstDash val="solid"/>
          </a:ln>
        </p:spPr>
      </p:sp>
      <p:sp>
        <p:nvSpPr>
          <p:cNvPr id="32" name="矩形 31"/>
          <p:cNvSpPr>
            <a:spLocks noGrp="1"/>
          </p:cNvSpPr>
          <p:nvPr/>
        </p:nvSpPr>
        <p:spPr>
          <a:xfrm>
            <a:off x="6305550" y="3800475"/>
            <a:ext cx="247650" cy="247650"/>
          </a:xfrm>
          <a:prstGeom prst="rect">
            <a:avLst/>
          </a:prstGeom>
          <a:noFill/>
          <a:ln w="0">
            <a:noFill/>
            <a:prstDash val="solid"/>
          </a:ln>
        </p:spPr>
        <p:txBody>
          <a:bodyPr wrap="square" lIns="0" tIns="0" rIns="0" bIns="0" anchor="ctr">
            <a:normAutofit/>
          </a:bodyPr>
          <a:lstStyle/>
          <a:p>
            <a:pPr algn="ctr">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3</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6762750" y="3790950"/>
            <a:ext cx="2000250" cy="247650"/>
          </a:xfrm>
          <a:prstGeom prst="rect">
            <a:avLst/>
          </a:prstGeom>
          <a:noFill/>
          <a:ln w="0">
            <a:noFill/>
            <a:prstDash val="solid"/>
          </a:ln>
        </p:spPr>
        <p:txBody>
          <a:bodyPr wrap="square" lIns="0" tIns="0" rIns="0" bIns="0" anchor="t">
            <a:normAutofit/>
          </a:bodyPr>
          <a:lstStyle/>
          <a:p>
            <a:pPr algn="l">
              <a:lnSpc>
                <a:spcPct val="105000"/>
              </a:lnSpc>
              <a:buNone/>
              <a:defRPr sz="1425" b="1">
                <a:solidFill>
                  <a:srgbClr val="17222E"/>
                </a:solidFill>
                <a:latin typeface="微软雅黑" panose="020B0503020204020204" charset="-122"/>
                <a:ea typeface="微软雅黑" panose="020B0503020204020204" charset="-122"/>
                <a:cs typeface="微软雅黑" panose="020B0503020204020204" charset="-122"/>
              </a:defRPr>
            </a:pPr>
            <a:r>
              <a:rPr sz="1425" b="1">
                <a:solidFill>
                  <a:srgbClr val="17222E"/>
                </a:solidFill>
                <a:latin typeface="微软雅黑" panose="020B0503020204020204" charset="-122"/>
                <a:ea typeface="微软雅黑" panose="020B0503020204020204" charset="-122"/>
                <a:cs typeface="微软雅黑" panose="020B0503020204020204" charset="-122"/>
              </a:rPr>
              <a:t>保持随机化</a:t>
            </a:r>
            <a:endParaRPr sz="142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34" name="矩形 33"/>
          <p:cNvSpPr>
            <a:spLocks noGrp="1"/>
          </p:cNvSpPr>
          <p:nvPr/>
        </p:nvSpPr>
        <p:spPr>
          <a:xfrm>
            <a:off x="6762750" y="4086225"/>
            <a:ext cx="4524375" cy="523875"/>
          </a:xfrm>
          <a:prstGeom prst="rect">
            <a:avLst/>
          </a:prstGeom>
          <a:noFill/>
          <a:ln w="0">
            <a:noFill/>
            <a:prstDash val="solid"/>
          </a:ln>
        </p:spPr>
        <p:txBody>
          <a:bodyPr wrap="square" lIns="0" tIns="0" rIns="0" bIns="0" anchor="t">
            <a:normAutofit/>
          </a:bodyPr>
          <a:lstStyle/>
          <a:p>
            <a:pPr algn="l">
              <a:lnSpc>
                <a:spcPct val="110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保留不发邮件对照组；对男装邮件和女装邮件创意继续进行多臂比较。</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5" name="椭圆 34"/>
          <p:cNvSpPr>
            <a:spLocks noGrp="1"/>
          </p:cNvSpPr>
          <p:nvPr/>
        </p:nvSpPr>
        <p:spPr>
          <a:xfrm>
            <a:off x="6296025" y="4752975"/>
            <a:ext cx="266700" cy="266700"/>
          </a:xfrm>
          <a:prstGeom prst="ellipse">
            <a:avLst/>
          </a:prstGeom>
          <a:solidFill>
            <a:srgbClr val="E8F7F6"/>
          </a:solidFill>
          <a:ln w="9525">
            <a:solidFill>
              <a:srgbClr val="00A6A6"/>
            </a:solidFill>
            <a:prstDash val="solid"/>
          </a:ln>
        </p:spPr>
      </p:sp>
      <p:sp>
        <p:nvSpPr>
          <p:cNvPr id="36" name="矩形 35"/>
          <p:cNvSpPr>
            <a:spLocks noGrp="1"/>
          </p:cNvSpPr>
          <p:nvPr/>
        </p:nvSpPr>
        <p:spPr>
          <a:xfrm>
            <a:off x="6305550" y="4762500"/>
            <a:ext cx="247650" cy="247650"/>
          </a:xfrm>
          <a:prstGeom prst="rect">
            <a:avLst/>
          </a:prstGeom>
          <a:noFill/>
          <a:ln w="0">
            <a:noFill/>
            <a:prstDash val="solid"/>
          </a:ln>
        </p:spPr>
        <p:txBody>
          <a:bodyPr wrap="square" lIns="0" tIns="0" rIns="0" bIns="0" anchor="ctr">
            <a:normAutofit/>
          </a:bodyPr>
          <a:lstStyle/>
          <a:p>
            <a:pPr algn="ctr">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4</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7" name="矩形 36"/>
          <p:cNvSpPr>
            <a:spLocks noGrp="1"/>
          </p:cNvSpPr>
          <p:nvPr/>
        </p:nvSpPr>
        <p:spPr>
          <a:xfrm>
            <a:off x="6762750" y="4752975"/>
            <a:ext cx="2000250" cy="247650"/>
          </a:xfrm>
          <a:prstGeom prst="rect">
            <a:avLst/>
          </a:prstGeom>
          <a:noFill/>
          <a:ln w="0">
            <a:noFill/>
            <a:prstDash val="solid"/>
          </a:ln>
        </p:spPr>
        <p:txBody>
          <a:bodyPr wrap="square" lIns="0" tIns="0" rIns="0" bIns="0" anchor="t">
            <a:normAutofit/>
          </a:bodyPr>
          <a:lstStyle/>
          <a:p>
            <a:pPr algn="l">
              <a:lnSpc>
                <a:spcPct val="105000"/>
              </a:lnSpc>
              <a:buNone/>
              <a:defRPr sz="1425" b="1">
                <a:solidFill>
                  <a:srgbClr val="17222E"/>
                </a:solidFill>
                <a:latin typeface="微软雅黑" panose="020B0503020204020204" charset="-122"/>
                <a:ea typeface="微软雅黑" panose="020B0503020204020204" charset="-122"/>
                <a:cs typeface="微软雅黑" panose="020B0503020204020204" charset="-122"/>
              </a:defRPr>
            </a:pPr>
            <a:r>
              <a:rPr sz="1425" b="1">
                <a:solidFill>
                  <a:srgbClr val="17222E"/>
                </a:solidFill>
                <a:latin typeface="微软雅黑" panose="020B0503020204020204" charset="-122"/>
                <a:ea typeface="微软雅黑" panose="020B0503020204020204" charset="-122"/>
                <a:cs typeface="微软雅黑" panose="020B0503020204020204" charset="-122"/>
              </a:rPr>
              <a:t>设置个性化门槛</a:t>
            </a:r>
            <a:endParaRPr sz="1425"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38" name="矩形 37"/>
          <p:cNvSpPr>
            <a:spLocks noGrp="1"/>
          </p:cNvSpPr>
          <p:nvPr/>
        </p:nvSpPr>
        <p:spPr>
          <a:xfrm>
            <a:off x="6762750" y="5048250"/>
            <a:ext cx="4524375" cy="523875"/>
          </a:xfrm>
          <a:prstGeom prst="rect">
            <a:avLst/>
          </a:prstGeom>
          <a:noFill/>
          <a:ln w="0">
            <a:noFill/>
            <a:prstDash val="solid"/>
          </a:ln>
        </p:spPr>
        <p:txBody>
          <a:bodyPr wrap="square" lIns="0" tIns="0" rIns="0" bIns="0" anchor="t">
            <a:normAutofit/>
          </a:bodyPr>
          <a:lstStyle/>
          <a:p>
            <a:pPr algn="l">
              <a:lnSpc>
                <a:spcPct val="110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同时通过五折折外排序验证与样本外策略价值检验后，方可部署。</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9" name="圆角矩形 38"/>
          <p:cNvSpPr>
            <a:spLocks noGrp="1"/>
          </p:cNvSpPr>
          <p:nvPr/>
        </p:nvSpPr>
        <p:spPr>
          <a:xfrm>
            <a:off x="6286500" y="5734050"/>
            <a:ext cx="5048250" cy="361950"/>
          </a:xfrm>
          <a:prstGeom prst="roundRect">
            <a:avLst>
              <a:gd name="adj" fmla="val 31579"/>
            </a:avLst>
          </a:prstGeom>
          <a:solidFill>
            <a:srgbClr val="E8F7F6"/>
          </a:solidFill>
          <a:ln w="0">
            <a:noFill/>
            <a:prstDash val="solid"/>
          </a:ln>
        </p:spPr>
      </p:sp>
      <p:sp>
        <p:nvSpPr>
          <p:cNvPr id="40" name="矩形 39"/>
          <p:cNvSpPr>
            <a:spLocks noGrp="1"/>
          </p:cNvSpPr>
          <p:nvPr/>
        </p:nvSpPr>
        <p:spPr>
          <a:xfrm>
            <a:off x="6477000" y="5791200"/>
            <a:ext cx="4667250" cy="228600"/>
          </a:xfrm>
          <a:prstGeom prst="rect">
            <a:avLst/>
          </a:prstGeom>
          <a:noFill/>
          <a:ln w="0">
            <a:noFill/>
            <a:prstDash val="solid"/>
          </a:ln>
        </p:spPr>
        <p:txBody>
          <a:bodyPr wrap="square" lIns="0" tIns="0" rIns="0" bIns="0" anchor="ctr">
            <a:normAutofit/>
          </a:bodyPr>
          <a:lstStyle/>
          <a:p>
            <a:pPr algn="ctr">
              <a:lnSpc>
                <a:spcPct val="105000"/>
              </a:lnSpc>
              <a:buNone/>
              <a:defRPr sz="1125" b="1">
                <a:solidFill>
                  <a:srgbClr val="00A6A6"/>
                </a:solidFill>
                <a:latin typeface="微软雅黑" panose="020B0503020204020204" charset="-122"/>
                <a:ea typeface="微软雅黑" panose="020B0503020204020204" charset="-122"/>
                <a:cs typeface="微软雅黑" panose="020B0503020204020204" charset="-122"/>
              </a:defRPr>
            </a:pPr>
            <a:r>
              <a:rPr sz="1125" b="1">
                <a:solidFill>
                  <a:srgbClr val="00A6A6"/>
                </a:solidFill>
                <a:latin typeface="微软雅黑" panose="020B0503020204020204" charset="-122"/>
                <a:ea typeface="微软雅黑" panose="020B0503020204020204" charset="-122"/>
                <a:cs typeface="微软雅黑" panose="020B0503020204020204" charset="-122"/>
              </a:rPr>
              <a:t>目标：从“邮件增加消费金额”升级为“策略增加可持续增量利润”。</a:t>
            </a:r>
            <a:endParaRPr sz="1125" b="1">
              <a:solidFill>
                <a:srgbClr val="00A6A6"/>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42" name="矩形 41"/>
          <p:cNvSpPr>
            <a:spLocks noGrp="1"/>
          </p:cNvSpPr>
          <p:nvPr/>
        </p:nvSpPr>
        <p:spPr>
          <a:xfrm>
            <a:off x="647700" y="371475"/>
            <a:ext cx="495300" cy="57150"/>
          </a:xfrm>
          <a:prstGeom prst="rect">
            <a:avLst/>
          </a:prstGeom>
          <a:solidFill>
            <a:srgbClr val="00A6A6"/>
          </a:solidFill>
          <a:ln w="0">
            <a:noFill/>
            <a:prstDash val="solid"/>
          </a:ln>
        </p:spPr>
      </p:sp>
      <p:sp>
        <p:nvSpPr>
          <p:cNvPr id="2" name="矩形 1"/>
          <p:cNvSpPr>
            <a:spLocks noGrp="1"/>
          </p:cNvSpPr>
          <p:nvPr/>
        </p:nvSpPr>
        <p:spPr>
          <a:xfrm>
            <a:off x="647700" y="495300"/>
            <a:ext cx="3429000" cy="228600"/>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00A6A6"/>
                </a:solidFill>
                <a:latin typeface="微软雅黑" panose="020B0503020204020204" charset="-122"/>
                <a:ea typeface="微软雅黑" panose="020B0503020204020204" charset="-122"/>
                <a:cs typeface="微软雅黑" panose="020B0503020204020204" charset="-122"/>
              </a:defRPr>
            </a:pPr>
            <a:r>
              <a:rPr sz="975" b="1">
                <a:solidFill>
                  <a:srgbClr val="00A6A6"/>
                </a:solidFill>
                <a:latin typeface="微软雅黑" panose="020B0503020204020204" charset="-122"/>
                <a:ea typeface="微软雅黑" panose="020B0503020204020204" charset="-122"/>
                <a:cs typeface="微软雅黑" panose="020B0503020204020204" charset="-122"/>
              </a:rPr>
              <a:t>方法附录</a:t>
            </a:r>
            <a:endParaRPr sz="9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47700" y="742950"/>
            <a:ext cx="10287000" cy="495300"/>
          </a:xfrm>
          <a:prstGeom prst="rect">
            <a:avLst/>
          </a:prstGeom>
          <a:noFill/>
          <a:ln w="0">
            <a:noFill/>
            <a:prstDash val="solid"/>
          </a:ln>
        </p:spPr>
        <p:txBody>
          <a:bodyPr wrap="none" lIns="0" tIns="0" rIns="0" bIns="0" anchor="ctr">
            <a:normAutofit/>
          </a:bodyPr>
          <a:lstStyle/>
          <a:p>
            <a:pPr algn="l">
              <a:lnSpc>
                <a:spcPct val="105000"/>
              </a:lnSpc>
              <a:buNone/>
              <a:defRPr sz="2850" b="1">
                <a:solidFill>
                  <a:srgbClr val="0B1F33"/>
                </a:solidFill>
                <a:latin typeface="微软雅黑" panose="020B0503020204020204" charset="-122"/>
                <a:ea typeface="微软雅黑" panose="020B0503020204020204" charset="-122"/>
                <a:cs typeface="微软雅黑" panose="020B0503020204020204" charset="-122"/>
              </a:defRPr>
            </a:pPr>
            <a:r>
              <a:rPr sz="2850" b="1">
                <a:solidFill>
                  <a:srgbClr val="0B1F33"/>
                </a:solidFill>
                <a:latin typeface="微软雅黑" panose="020B0503020204020204" charset="-122"/>
                <a:ea typeface="微软雅黑" panose="020B0503020204020204" charset="-122"/>
                <a:cs typeface="微软雅黑" panose="020B0503020204020204" charset="-122"/>
              </a:rPr>
              <a:t>方法附录：每一层结论都经过相应验证</a:t>
            </a:r>
            <a:endParaRPr sz="28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4" name="矩形 3"/>
          <p:cNvSpPr>
            <a:spLocks noGrp="1"/>
          </p:cNvSpPr>
          <p:nvPr/>
        </p:nvSpPr>
        <p:spPr>
          <a:xfrm>
            <a:off x="11125200" y="495300"/>
            <a:ext cx="419100" cy="209550"/>
          </a:xfrm>
          <a:prstGeom prst="rect">
            <a:avLst/>
          </a:prstGeom>
          <a:noFill/>
          <a:ln w="0">
            <a:noFill/>
            <a:prstDash val="solid"/>
          </a:ln>
        </p:spPr>
        <p:txBody>
          <a:bodyPr wrap="square" lIns="0" tIns="0" rIns="0" bIns="0" anchor="ctr">
            <a:normAutofit/>
          </a:bodyPr>
          <a:lstStyle/>
          <a:p>
            <a:pPr algn="r">
              <a:lnSpc>
                <a:spcPct val="105000"/>
              </a:lnSpc>
              <a:buNone/>
              <a:defRPr sz="975" b="1">
                <a:solidFill>
                  <a:srgbClr val="6B7B88"/>
                </a:solidFill>
                <a:latin typeface="微软雅黑" panose="020B0503020204020204" charset="-122"/>
                <a:ea typeface="微软雅黑" panose="020B0503020204020204" charset="-122"/>
                <a:cs typeface="微软雅黑" panose="020B0503020204020204" charset="-122"/>
              </a:defRPr>
            </a:pPr>
            <a:r>
              <a:rPr sz="975" b="1">
                <a:solidFill>
                  <a:srgbClr val="6B7B88"/>
                </a:solidFill>
                <a:latin typeface="微软雅黑" panose="020B0503020204020204" charset="-122"/>
                <a:ea typeface="微软雅黑" panose="020B0503020204020204" charset="-122"/>
                <a:cs typeface="微软雅黑" panose="020B0503020204020204" charset="-122"/>
              </a:rPr>
              <a:t>11</a:t>
            </a:r>
            <a:endParaRPr sz="975"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5" name="直接连接符 4"/>
          <p:cNvSpPr>
            <a:spLocks noGrp="1"/>
          </p:cNvSpPr>
          <p:nvPr/>
        </p:nvSpPr>
        <p:spPr>
          <a:xfrm>
            <a:off x="647700" y="6276975"/>
            <a:ext cx="10896600" cy="953"/>
          </a:xfrm>
          <a:prstGeom prst="line">
            <a:avLst/>
          </a:prstGeom>
          <a:noFill/>
          <a:ln w="9525">
            <a:solidFill>
              <a:srgbClr val="E6ECEF"/>
            </a:solidFill>
            <a:prstDash val="solid"/>
          </a:ln>
        </p:spPr>
      </p:sp>
      <p:sp>
        <p:nvSpPr>
          <p:cNvPr id="6" name="矩形 5"/>
          <p:cNvSpPr>
            <a:spLocks noGrp="1"/>
          </p:cNvSpPr>
          <p:nvPr/>
        </p:nvSpPr>
        <p:spPr>
          <a:xfrm>
            <a:off x="647700" y="6381750"/>
            <a:ext cx="4857750" cy="190500"/>
          </a:xfrm>
          <a:prstGeom prst="rect">
            <a:avLst/>
          </a:prstGeom>
          <a:noFill/>
          <a:ln w="0">
            <a:noFill/>
            <a:prstDash val="solid"/>
          </a:ln>
        </p:spPr>
        <p:txBody>
          <a:bodyPr wrap="square" lIns="0" tIns="0" rIns="0" bIns="0" anchor="t">
            <a:normAutofit/>
          </a:bodyPr>
          <a:lstStyle/>
          <a:p>
            <a:pPr algn="l">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来源：经验证的Hillstorm最终分析结果</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nvSpPr>
        <p:spPr>
          <a:xfrm>
            <a:off x="7886700" y="6381750"/>
            <a:ext cx="3657600" cy="190500"/>
          </a:xfrm>
          <a:prstGeom prst="rect">
            <a:avLst/>
          </a:prstGeom>
          <a:noFill/>
          <a:ln w="0">
            <a:noFill/>
            <a:prstDash val="solid"/>
          </a:ln>
        </p:spPr>
        <p:txBody>
          <a:bodyPr wrap="square" lIns="0" tIns="0" rIns="0" bIns="0" anchor="t">
            <a:normAutofit/>
          </a:bodyPr>
          <a:lstStyle/>
          <a:p>
            <a:pPr algn="r">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每名随机客户的消费金额｜并非投资回报率</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66750" y="1495425"/>
            <a:ext cx="1905000" cy="285750"/>
          </a:xfrm>
          <a:prstGeom prst="rect">
            <a:avLst/>
          </a:prstGeom>
          <a:solidFill>
            <a:srgbClr val="0B1F33"/>
          </a:solidFill>
          <a:ln w="0">
            <a:noFill/>
            <a:prstDash val="solid"/>
          </a:ln>
        </p:spPr>
        <p:txBody>
          <a:bodyPr wrap="square" lIns="95250" tIns="38100" rIns="76200" bIns="38100" anchor="ctr">
            <a:normAutofit/>
          </a:bodyPr>
          <a:lstStyle/>
          <a:p>
            <a:pPr algn="l">
              <a:lnSpc>
                <a:spcPct val="105000"/>
              </a:lnSpc>
              <a:buNone/>
              <a:defRPr sz="1125" b="1">
                <a:solidFill>
                  <a:srgbClr val="FFFFFF"/>
                </a:solidFill>
                <a:latin typeface="微软雅黑" panose="020B0503020204020204" charset="-122"/>
                <a:ea typeface="微软雅黑" panose="020B0503020204020204" charset="-122"/>
                <a:cs typeface="微软雅黑" panose="020B0503020204020204" charset="-122"/>
              </a:defRPr>
            </a:pPr>
            <a:r>
              <a:rPr sz="1125" b="1">
                <a:solidFill>
                  <a:srgbClr val="FFFFFF"/>
                </a:solidFill>
                <a:latin typeface="微软雅黑" panose="020B0503020204020204" charset="-122"/>
                <a:ea typeface="微软雅黑" panose="020B0503020204020204" charset="-122"/>
                <a:cs typeface="微软雅黑" panose="020B0503020204020204" charset="-122"/>
              </a:rPr>
              <a:t>决策层</a:t>
            </a:r>
            <a:endParaRPr sz="1125"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2714625" y="1495425"/>
            <a:ext cx="3143250" cy="285750"/>
          </a:xfrm>
          <a:prstGeom prst="rect">
            <a:avLst/>
          </a:prstGeom>
          <a:solidFill>
            <a:srgbClr val="0B1F33"/>
          </a:solidFill>
          <a:ln w="0">
            <a:noFill/>
            <a:prstDash val="solid"/>
          </a:ln>
        </p:spPr>
        <p:txBody>
          <a:bodyPr wrap="square" lIns="95250" tIns="38100" rIns="76200" bIns="38100" anchor="ctr">
            <a:normAutofit/>
          </a:bodyPr>
          <a:lstStyle/>
          <a:p>
            <a:pPr algn="l">
              <a:lnSpc>
                <a:spcPct val="105000"/>
              </a:lnSpc>
              <a:buNone/>
              <a:defRPr sz="1125" b="1">
                <a:solidFill>
                  <a:srgbClr val="FFFFFF"/>
                </a:solidFill>
                <a:latin typeface="微软雅黑" panose="020B0503020204020204" charset="-122"/>
                <a:ea typeface="微软雅黑" panose="020B0503020204020204" charset="-122"/>
                <a:cs typeface="微软雅黑" panose="020B0503020204020204" charset="-122"/>
              </a:defRPr>
            </a:pPr>
            <a:r>
              <a:rPr sz="1125" b="1">
                <a:solidFill>
                  <a:srgbClr val="FFFFFF"/>
                </a:solidFill>
                <a:latin typeface="微软雅黑" panose="020B0503020204020204" charset="-122"/>
                <a:ea typeface="微软雅黑" panose="020B0503020204020204" charset="-122"/>
                <a:cs typeface="微软雅黑" panose="020B0503020204020204" charset="-122"/>
              </a:rPr>
              <a:t>方法</a:t>
            </a:r>
            <a:endParaRPr sz="1125"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6000750" y="1495425"/>
            <a:ext cx="2667000" cy="285750"/>
          </a:xfrm>
          <a:prstGeom prst="rect">
            <a:avLst/>
          </a:prstGeom>
          <a:solidFill>
            <a:srgbClr val="0B1F33"/>
          </a:solidFill>
          <a:ln w="0">
            <a:noFill/>
            <a:prstDash val="solid"/>
          </a:ln>
        </p:spPr>
        <p:txBody>
          <a:bodyPr wrap="square" lIns="95250" tIns="38100" rIns="76200" bIns="38100" anchor="ctr">
            <a:normAutofit/>
          </a:bodyPr>
          <a:lstStyle/>
          <a:p>
            <a:pPr algn="l">
              <a:lnSpc>
                <a:spcPct val="105000"/>
              </a:lnSpc>
              <a:buNone/>
              <a:defRPr sz="1125" b="1">
                <a:solidFill>
                  <a:srgbClr val="FFFFFF"/>
                </a:solidFill>
                <a:latin typeface="微软雅黑" panose="020B0503020204020204" charset="-122"/>
                <a:ea typeface="微软雅黑" panose="020B0503020204020204" charset="-122"/>
                <a:cs typeface="微软雅黑" panose="020B0503020204020204" charset="-122"/>
              </a:defRPr>
            </a:pPr>
            <a:r>
              <a:rPr sz="1125" b="1">
                <a:solidFill>
                  <a:srgbClr val="FFFFFF"/>
                </a:solidFill>
                <a:latin typeface="微软雅黑" panose="020B0503020204020204" charset="-122"/>
                <a:ea typeface="微软雅黑" panose="020B0503020204020204" charset="-122"/>
                <a:cs typeface="微软雅黑" panose="020B0503020204020204" charset="-122"/>
              </a:rPr>
              <a:t>验证与多重比较</a:t>
            </a:r>
            <a:endParaRPr sz="1125"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8810625" y="1495425"/>
            <a:ext cx="2714625" cy="285750"/>
          </a:xfrm>
          <a:prstGeom prst="rect">
            <a:avLst/>
          </a:prstGeom>
          <a:solidFill>
            <a:srgbClr val="0B1F33"/>
          </a:solidFill>
          <a:ln w="0">
            <a:noFill/>
            <a:prstDash val="solid"/>
          </a:ln>
        </p:spPr>
        <p:txBody>
          <a:bodyPr wrap="square" lIns="95250" tIns="38100" rIns="76200" bIns="38100" anchor="ctr">
            <a:normAutofit/>
          </a:bodyPr>
          <a:lstStyle/>
          <a:p>
            <a:pPr algn="l">
              <a:lnSpc>
                <a:spcPct val="105000"/>
              </a:lnSpc>
              <a:buNone/>
              <a:defRPr sz="1125" b="1">
                <a:solidFill>
                  <a:srgbClr val="FFFFFF"/>
                </a:solidFill>
                <a:latin typeface="微软雅黑" panose="020B0503020204020204" charset="-122"/>
                <a:ea typeface="微软雅黑" panose="020B0503020204020204" charset="-122"/>
                <a:cs typeface="微软雅黑" panose="020B0503020204020204" charset="-122"/>
              </a:defRPr>
            </a:pPr>
            <a:r>
              <a:rPr sz="1125" b="1">
                <a:solidFill>
                  <a:srgbClr val="FFFFFF"/>
                </a:solidFill>
                <a:latin typeface="微软雅黑" panose="020B0503020204020204" charset="-122"/>
                <a:ea typeface="微软雅黑" panose="020B0503020204020204" charset="-122"/>
                <a:cs typeface="微软雅黑" panose="020B0503020204020204" charset="-122"/>
              </a:rPr>
              <a:t>采用的结论</a:t>
            </a:r>
            <a:endParaRPr sz="1125"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666750" y="1819275"/>
            <a:ext cx="10858500" cy="742950"/>
          </a:xfrm>
          <a:prstGeom prst="rect">
            <a:avLst/>
          </a:prstGeom>
          <a:solidFill>
            <a:srgbClr val="F4F7F8"/>
          </a:solidFill>
          <a:ln w="0">
            <a:noFill/>
            <a:prstDash val="solid"/>
          </a:ln>
        </p:spPr>
      </p:sp>
      <p:sp>
        <p:nvSpPr>
          <p:cNvPr id="13" name="矩形 12"/>
          <p:cNvSpPr>
            <a:spLocks noGrp="1"/>
          </p:cNvSpPr>
          <p:nvPr/>
        </p:nvSpPr>
        <p:spPr>
          <a:xfrm>
            <a:off x="762000" y="1914525"/>
            <a:ext cx="1714500" cy="552450"/>
          </a:xfrm>
          <a:prstGeom prst="rect">
            <a:avLst/>
          </a:prstGeom>
          <a:noFill/>
          <a:ln w="0">
            <a:noFill/>
            <a:prstDash val="solid"/>
          </a:ln>
        </p:spPr>
        <p:txBody>
          <a:bodyPr wrap="square" lIns="0" tIns="0" rIns="0" bIns="0" anchor="ctr">
            <a:normAutofit/>
          </a:bodyPr>
          <a:lstStyle/>
          <a:p>
            <a:pPr algn="l">
              <a:lnSpc>
                <a:spcPct val="108000"/>
              </a:lnSpc>
              <a:buNone/>
              <a:defRPr sz="1200" b="1">
                <a:solidFill>
                  <a:srgbClr val="17222E"/>
                </a:solidFill>
                <a:latin typeface="微软雅黑" panose="020B0503020204020204" charset="-122"/>
                <a:ea typeface="微软雅黑" panose="020B0503020204020204" charset="-122"/>
                <a:cs typeface="微软雅黑" panose="020B0503020204020204" charset="-122"/>
              </a:defRPr>
            </a:pPr>
            <a:r>
              <a:rPr sz="1200" b="1">
                <a:solidFill>
                  <a:srgbClr val="17222E"/>
                </a:solidFill>
                <a:latin typeface="微软雅黑" panose="020B0503020204020204" charset="-122"/>
                <a:ea typeface="微软雅黑" panose="020B0503020204020204" charset="-122"/>
                <a:cs typeface="微软雅黑" panose="020B0503020204020204" charset="-122"/>
              </a:rPr>
              <a:t>实验可信度</a:t>
            </a:r>
            <a:endParaRPr sz="120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2809875" y="1914525"/>
            <a:ext cx="2952750"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样本比例异常检验；协变量平衡；缺失与结果逻辑</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6096000" y="1914525"/>
            <a:ext cx="2476500"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卡方检验；两两标准化均差；克拉默系数</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8905875" y="1914525"/>
            <a:ext cx="2524125"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通过｜样本量 = 64,000</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7" name="直接连接符 16"/>
          <p:cNvSpPr>
            <a:spLocks noGrp="1"/>
          </p:cNvSpPr>
          <p:nvPr/>
        </p:nvSpPr>
        <p:spPr>
          <a:xfrm>
            <a:off x="666750" y="2562225"/>
            <a:ext cx="10858500" cy="953"/>
          </a:xfrm>
          <a:prstGeom prst="line">
            <a:avLst/>
          </a:prstGeom>
          <a:noFill/>
          <a:ln w="9525">
            <a:solidFill>
              <a:srgbClr val="E6ECEF"/>
            </a:solidFill>
            <a:prstDash val="solid"/>
          </a:ln>
        </p:spPr>
      </p:sp>
      <p:sp>
        <p:nvSpPr>
          <p:cNvPr id="18" name="矩形 17"/>
          <p:cNvSpPr>
            <a:spLocks noGrp="1"/>
          </p:cNvSpPr>
          <p:nvPr/>
        </p:nvSpPr>
        <p:spPr>
          <a:xfrm>
            <a:off x="666750" y="2638425"/>
            <a:ext cx="10858500" cy="742950"/>
          </a:xfrm>
          <a:prstGeom prst="rect">
            <a:avLst/>
          </a:prstGeom>
          <a:solidFill>
            <a:srgbClr val="FFFFFF"/>
          </a:solidFill>
          <a:ln w="0">
            <a:noFill/>
            <a:prstDash val="solid"/>
          </a:ln>
        </p:spPr>
      </p:sp>
      <p:sp>
        <p:nvSpPr>
          <p:cNvPr id="19" name="矩形 18"/>
          <p:cNvSpPr>
            <a:spLocks noGrp="1"/>
          </p:cNvSpPr>
          <p:nvPr/>
        </p:nvSpPr>
        <p:spPr>
          <a:xfrm>
            <a:off x="762000" y="2733675"/>
            <a:ext cx="1714500" cy="552450"/>
          </a:xfrm>
          <a:prstGeom prst="rect">
            <a:avLst/>
          </a:prstGeom>
          <a:noFill/>
          <a:ln w="0">
            <a:noFill/>
            <a:prstDash val="solid"/>
          </a:ln>
        </p:spPr>
        <p:txBody>
          <a:bodyPr wrap="square" lIns="0" tIns="0" rIns="0" bIns="0" anchor="ctr">
            <a:normAutofit/>
          </a:bodyPr>
          <a:lstStyle/>
          <a:p>
            <a:pPr algn="l">
              <a:lnSpc>
                <a:spcPct val="108000"/>
              </a:lnSpc>
              <a:buNone/>
              <a:defRPr sz="1200" b="1">
                <a:solidFill>
                  <a:srgbClr val="17222E"/>
                </a:solidFill>
                <a:latin typeface="微软雅黑" panose="020B0503020204020204" charset="-122"/>
                <a:ea typeface="微软雅黑" panose="020B0503020204020204" charset="-122"/>
                <a:cs typeface="微软雅黑" panose="020B0503020204020204" charset="-122"/>
              </a:defRPr>
            </a:pPr>
            <a:r>
              <a:rPr sz="1200" b="1">
                <a:solidFill>
                  <a:srgbClr val="17222E"/>
                </a:solidFill>
                <a:latin typeface="微软雅黑" panose="020B0503020204020204" charset="-122"/>
                <a:ea typeface="微软雅黑" panose="020B0503020204020204" charset="-122"/>
                <a:cs typeface="微软雅黑" panose="020B0503020204020204" charset="-122"/>
              </a:rPr>
              <a:t>平均效应</a:t>
            </a:r>
            <a:endParaRPr sz="120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2809875" y="2733675"/>
            <a:ext cx="2952750"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消费金额的意向处理韦尔奇对比；次要指标的比例检验</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6096000" y="2733675"/>
            <a:ext cx="2476500"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对预设对比进行霍尔姆校正</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nvSpPr>
        <p:spPr>
          <a:xfrm>
            <a:off x="8905875" y="2733675"/>
            <a:ext cx="2524125"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三项随机实验对比</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3" name="直接连接符 22"/>
          <p:cNvSpPr>
            <a:spLocks noGrp="1"/>
          </p:cNvSpPr>
          <p:nvPr/>
        </p:nvSpPr>
        <p:spPr>
          <a:xfrm>
            <a:off x="666750" y="3381375"/>
            <a:ext cx="10858500" cy="953"/>
          </a:xfrm>
          <a:prstGeom prst="line">
            <a:avLst/>
          </a:prstGeom>
          <a:noFill/>
          <a:ln w="9525">
            <a:solidFill>
              <a:srgbClr val="E6ECEF"/>
            </a:solidFill>
            <a:prstDash val="solid"/>
          </a:ln>
        </p:spPr>
      </p:sp>
      <p:sp>
        <p:nvSpPr>
          <p:cNvPr id="24" name="矩形 23"/>
          <p:cNvSpPr>
            <a:spLocks noGrp="1"/>
          </p:cNvSpPr>
          <p:nvPr/>
        </p:nvSpPr>
        <p:spPr>
          <a:xfrm>
            <a:off x="666750" y="3457575"/>
            <a:ext cx="10858500" cy="742950"/>
          </a:xfrm>
          <a:prstGeom prst="rect">
            <a:avLst/>
          </a:prstGeom>
          <a:solidFill>
            <a:srgbClr val="F4F7F8"/>
          </a:solidFill>
          <a:ln w="0">
            <a:noFill/>
            <a:prstDash val="solid"/>
          </a:ln>
        </p:spPr>
      </p:sp>
      <p:sp>
        <p:nvSpPr>
          <p:cNvPr id="25" name="矩形 24"/>
          <p:cNvSpPr>
            <a:spLocks noGrp="1"/>
          </p:cNvSpPr>
          <p:nvPr/>
        </p:nvSpPr>
        <p:spPr>
          <a:xfrm>
            <a:off x="762000" y="3552825"/>
            <a:ext cx="1714500" cy="552450"/>
          </a:xfrm>
          <a:prstGeom prst="rect">
            <a:avLst/>
          </a:prstGeom>
          <a:noFill/>
          <a:ln w="0">
            <a:noFill/>
            <a:prstDash val="solid"/>
          </a:ln>
        </p:spPr>
        <p:txBody>
          <a:bodyPr wrap="square" lIns="0" tIns="0" rIns="0" bIns="0" anchor="ctr">
            <a:normAutofit/>
          </a:bodyPr>
          <a:lstStyle/>
          <a:p>
            <a:pPr algn="l">
              <a:lnSpc>
                <a:spcPct val="108000"/>
              </a:lnSpc>
              <a:buNone/>
              <a:defRPr sz="1200" b="1">
                <a:solidFill>
                  <a:srgbClr val="17222E"/>
                </a:solidFill>
                <a:latin typeface="微软雅黑" panose="020B0503020204020204" charset="-122"/>
                <a:ea typeface="微软雅黑" panose="020B0503020204020204" charset="-122"/>
                <a:cs typeface="微软雅黑" panose="020B0503020204020204" charset="-122"/>
              </a:defRPr>
            </a:pPr>
            <a:r>
              <a:rPr sz="1200" b="1">
                <a:solidFill>
                  <a:srgbClr val="17222E"/>
                </a:solidFill>
                <a:latin typeface="微软雅黑" panose="020B0503020204020204" charset="-122"/>
                <a:ea typeface="微软雅黑" panose="020B0503020204020204" charset="-122"/>
                <a:cs typeface="微软雅黑" panose="020B0503020204020204" charset="-122"/>
              </a:rPr>
              <a:t>稳健性</a:t>
            </a:r>
            <a:endParaRPr sz="120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26" name="矩形 25"/>
          <p:cNvSpPr>
            <a:spLocks noGrp="1"/>
          </p:cNvSpPr>
          <p:nvPr/>
        </p:nvSpPr>
        <p:spPr>
          <a:xfrm>
            <a:off x="2809875" y="3552825"/>
            <a:ext cx="2952750"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10,000 次自助法与置换重采样</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6096000" y="3552825"/>
            <a:ext cx="2476500"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置换检验的霍尔姆校正与严格最大统计量检验</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8905875" y="3552825"/>
            <a:ext cx="2524125"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两项稳健；一项谨慎解读</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9" name="直接连接符 28"/>
          <p:cNvSpPr>
            <a:spLocks noGrp="1"/>
          </p:cNvSpPr>
          <p:nvPr/>
        </p:nvSpPr>
        <p:spPr>
          <a:xfrm>
            <a:off x="666750" y="4200525"/>
            <a:ext cx="10858500" cy="953"/>
          </a:xfrm>
          <a:prstGeom prst="line">
            <a:avLst/>
          </a:prstGeom>
          <a:noFill/>
          <a:ln w="9525">
            <a:solidFill>
              <a:srgbClr val="E6ECEF"/>
            </a:solidFill>
            <a:prstDash val="solid"/>
          </a:ln>
        </p:spPr>
      </p:sp>
      <p:sp>
        <p:nvSpPr>
          <p:cNvPr id="30" name="矩形 29"/>
          <p:cNvSpPr>
            <a:spLocks noGrp="1"/>
          </p:cNvSpPr>
          <p:nvPr/>
        </p:nvSpPr>
        <p:spPr>
          <a:xfrm>
            <a:off x="666750" y="4276725"/>
            <a:ext cx="10858500" cy="742950"/>
          </a:xfrm>
          <a:prstGeom prst="rect">
            <a:avLst/>
          </a:prstGeom>
          <a:solidFill>
            <a:srgbClr val="FFFFFF"/>
          </a:solidFill>
          <a:ln w="0">
            <a:noFill/>
            <a:prstDash val="solid"/>
          </a:ln>
        </p:spPr>
      </p:sp>
      <p:sp>
        <p:nvSpPr>
          <p:cNvPr id="31" name="矩形 30"/>
          <p:cNvSpPr>
            <a:spLocks noGrp="1"/>
          </p:cNvSpPr>
          <p:nvPr/>
        </p:nvSpPr>
        <p:spPr>
          <a:xfrm>
            <a:off x="762000" y="4371975"/>
            <a:ext cx="1714500" cy="552450"/>
          </a:xfrm>
          <a:prstGeom prst="rect">
            <a:avLst/>
          </a:prstGeom>
          <a:noFill/>
          <a:ln w="0">
            <a:noFill/>
            <a:prstDash val="solid"/>
          </a:ln>
        </p:spPr>
        <p:txBody>
          <a:bodyPr wrap="square" lIns="0" tIns="0" rIns="0" bIns="0" anchor="ctr">
            <a:normAutofit/>
          </a:bodyPr>
          <a:lstStyle/>
          <a:p>
            <a:pPr algn="l">
              <a:lnSpc>
                <a:spcPct val="108000"/>
              </a:lnSpc>
              <a:buNone/>
              <a:defRPr sz="1200" b="1">
                <a:solidFill>
                  <a:srgbClr val="17222E"/>
                </a:solidFill>
                <a:latin typeface="微软雅黑" panose="020B0503020204020204" charset="-122"/>
                <a:ea typeface="微软雅黑" panose="020B0503020204020204" charset="-122"/>
                <a:cs typeface="微软雅黑" panose="020B0503020204020204" charset="-122"/>
              </a:defRPr>
            </a:pPr>
            <a:r>
              <a:rPr sz="1200" b="1">
                <a:solidFill>
                  <a:srgbClr val="17222E"/>
                </a:solidFill>
                <a:latin typeface="微软雅黑" panose="020B0503020204020204" charset="-122"/>
                <a:ea typeface="微软雅黑" panose="020B0503020204020204" charset="-122"/>
                <a:cs typeface="微软雅黑" panose="020B0503020204020204" charset="-122"/>
              </a:rPr>
              <a:t>处理效应异质性／增益模型</a:t>
            </a:r>
            <a:endParaRPr sz="120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32" name="矩形 31"/>
          <p:cNvSpPr>
            <a:spLocks noGrp="1"/>
          </p:cNvSpPr>
          <p:nvPr/>
        </p:nvSpPr>
        <p:spPr>
          <a:xfrm>
            <a:off x="2809875" y="4371975"/>
            <a:ext cx="2952750"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七个预设调节变量；五折交叉拟合的双模型与双重稳健学习器</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6096000" y="4371975"/>
            <a:ext cx="2476500"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霍尔姆校正；前 30%－后 30%；2,000 次自助法</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4" name="矩形 33"/>
          <p:cNvSpPr>
            <a:spLocks noGrp="1"/>
          </p:cNvSpPr>
          <p:nvPr/>
        </p:nvSpPr>
        <p:spPr>
          <a:xfrm>
            <a:off x="8905875" y="4371975"/>
            <a:ext cx="2524125"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排序证据不足</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5" name="直接连接符 34"/>
          <p:cNvSpPr>
            <a:spLocks noGrp="1"/>
          </p:cNvSpPr>
          <p:nvPr/>
        </p:nvSpPr>
        <p:spPr>
          <a:xfrm>
            <a:off x="666750" y="5019675"/>
            <a:ext cx="10858500" cy="953"/>
          </a:xfrm>
          <a:prstGeom prst="line">
            <a:avLst/>
          </a:prstGeom>
          <a:noFill/>
          <a:ln w="9525">
            <a:solidFill>
              <a:srgbClr val="E6ECEF"/>
            </a:solidFill>
            <a:prstDash val="solid"/>
          </a:ln>
        </p:spPr>
      </p:sp>
      <p:sp>
        <p:nvSpPr>
          <p:cNvPr id="36" name="矩形 35"/>
          <p:cNvSpPr>
            <a:spLocks noGrp="1"/>
          </p:cNvSpPr>
          <p:nvPr/>
        </p:nvSpPr>
        <p:spPr>
          <a:xfrm>
            <a:off x="666750" y="5095875"/>
            <a:ext cx="10858500" cy="742950"/>
          </a:xfrm>
          <a:prstGeom prst="rect">
            <a:avLst/>
          </a:prstGeom>
          <a:solidFill>
            <a:srgbClr val="F4F7F8"/>
          </a:solidFill>
          <a:ln w="0">
            <a:noFill/>
            <a:prstDash val="solid"/>
          </a:ln>
        </p:spPr>
      </p:sp>
      <p:sp>
        <p:nvSpPr>
          <p:cNvPr id="37" name="矩形 36"/>
          <p:cNvSpPr>
            <a:spLocks noGrp="1"/>
          </p:cNvSpPr>
          <p:nvPr/>
        </p:nvSpPr>
        <p:spPr>
          <a:xfrm>
            <a:off x="762000" y="5191125"/>
            <a:ext cx="1714500" cy="552450"/>
          </a:xfrm>
          <a:prstGeom prst="rect">
            <a:avLst/>
          </a:prstGeom>
          <a:noFill/>
          <a:ln w="0">
            <a:noFill/>
            <a:prstDash val="solid"/>
          </a:ln>
        </p:spPr>
        <p:txBody>
          <a:bodyPr wrap="square" lIns="0" tIns="0" rIns="0" bIns="0" anchor="ctr">
            <a:normAutofit/>
          </a:bodyPr>
          <a:lstStyle/>
          <a:p>
            <a:pPr algn="l">
              <a:lnSpc>
                <a:spcPct val="108000"/>
              </a:lnSpc>
              <a:buNone/>
              <a:defRPr sz="1200" b="1">
                <a:solidFill>
                  <a:srgbClr val="17222E"/>
                </a:solidFill>
                <a:latin typeface="微软雅黑" panose="020B0503020204020204" charset="-122"/>
                <a:ea typeface="微软雅黑" panose="020B0503020204020204" charset="-122"/>
                <a:cs typeface="微软雅黑" panose="020B0503020204020204" charset="-122"/>
              </a:defRPr>
            </a:pPr>
            <a:r>
              <a:rPr sz="1200" b="1">
                <a:solidFill>
                  <a:srgbClr val="17222E"/>
                </a:solidFill>
                <a:latin typeface="微软雅黑" panose="020B0503020204020204" charset="-122"/>
                <a:ea typeface="微软雅黑" panose="020B0503020204020204" charset="-122"/>
                <a:cs typeface="微软雅黑" panose="020B0503020204020204" charset="-122"/>
              </a:rPr>
              <a:t>策略／成本</a:t>
            </a:r>
            <a:endParaRPr sz="120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38" name="矩形 37"/>
          <p:cNvSpPr>
            <a:spLocks noGrp="1"/>
          </p:cNvSpPr>
          <p:nvPr/>
        </p:nvSpPr>
        <p:spPr>
          <a:xfrm>
            <a:off x="2809875" y="5191125"/>
            <a:ext cx="2952750"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增广逆概率加权的静态与多行动价值；固定策略自助法</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9" name="矩形 38"/>
          <p:cNvSpPr>
            <a:spLocks noGrp="1"/>
          </p:cNvSpPr>
          <p:nvPr/>
        </p:nvSpPr>
        <p:spPr>
          <a:xfrm>
            <a:off x="6096000" y="5191125"/>
            <a:ext cx="2476500"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配对比较；成本网格 0－1.00</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40" name="矩形 39"/>
          <p:cNvSpPr>
            <a:spLocks noGrp="1"/>
          </p:cNvSpPr>
          <p:nvPr/>
        </p:nvSpPr>
        <p:spPr>
          <a:xfrm>
            <a:off x="8905875" y="5191125"/>
            <a:ext cx="2524125" cy="552450"/>
          </a:xfrm>
          <a:prstGeom prst="rect">
            <a:avLst/>
          </a:prstGeom>
          <a:noFill/>
          <a:ln w="0">
            <a:noFill/>
            <a:prstDash val="solid"/>
          </a:ln>
        </p:spPr>
        <p:txBody>
          <a:bodyPr wrap="square" lIns="0" tIns="0" rIns="0" bIns="0" anchor="ctr">
            <a:normAutofit/>
          </a:bodyPr>
          <a:lstStyle/>
          <a:p>
            <a:pPr algn="l">
              <a:lnSpc>
                <a:spcPct val="108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低成本时全量男装邮件最优</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41" name="直接连接符 40"/>
          <p:cNvSpPr>
            <a:spLocks noGrp="1"/>
          </p:cNvSpPr>
          <p:nvPr/>
        </p:nvSpPr>
        <p:spPr>
          <a:xfrm>
            <a:off x="666750" y="5838825"/>
            <a:ext cx="10858500" cy="953"/>
          </a:xfrm>
          <a:prstGeom prst="line">
            <a:avLst/>
          </a:prstGeom>
          <a:noFill/>
          <a:ln w="9525">
            <a:solidFill>
              <a:srgbClr val="E6ECEF"/>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65" name="矩形 64"/>
          <p:cNvSpPr>
            <a:spLocks noGrp="1"/>
          </p:cNvSpPr>
          <p:nvPr/>
        </p:nvSpPr>
        <p:spPr>
          <a:xfrm>
            <a:off x="647700" y="371475"/>
            <a:ext cx="495300" cy="57150"/>
          </a:xfrm>
          <a:prstGeom prst="rect">
            <a:avLst/>
          </a:prstGeom>
          <a:solidFill>
            <a:srgbClr val="00A6A6"/>
          </a:solidFill>
          <a:ln w="0">
            <a:noFill/>
            <a:prstDash val="solid"/>
          </a:ln>
        </p:spPr>
      </p:sp>
      <p:sp>
        <p:nvSpPr>
          <p:cNvPr id="2" name="矩形 1"/>
          <p:cNvSpPr>
            <a:spLocks noGrp="1"/>
          </p:cNvSpPr>
          <p:nvPr/>
        </p:nvSpPr>
        <p:spPr>
          <a:xfrm>
            <a:off x="647700" y="495300"/>
            <a:ext cx="3429000" cy="228600"/>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00A6A6"/>
                </a:solidFill>
                <a:latin typeface="微软雅黑" panose="020B0503020204020204" charset="-122"/>
                <a:ea typeface="微软雅黑" panose="020B0503020204020204" charset="-122"/>
                <a:cs typeface="微软雅黑" panose="020B0503020204020204" charset="-122"/>
              </a:defRPr>
            </a:pPr>
            <a:r>
              <a:rPr sz="975" b="1">
                <a:solidFill>
                  <a:srgbClr val="00A6A6"/>
                </a:solidFill>
                <a:latin typeface="微软雅黑" panose="020B0503020204020204" charset="-122"/>
                <a:ea typeface="微软雅黑" panose="020B0503020204020204" charset="-122"/>
                <a:cs typeface="微软雅黑" panose="020B0503020204020204" charset="-122"/>
              </a:rPr>
              <a:t>关键数字表</a:t>
            </a:r>
            <a:endParaRPr sz="975"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647700" y="742950"/>
            <a:ext cx="10287000" cy="495300"/>
          </a:xfrm>
          <a:prstGeom prst="rect">
            <a:avLst/>
          </a:prstGeom>
          <a:noFill/>
          <a:ln w="0">
            <a:noFill/>
            <a:prstDash val="solid"/>
          </a:ln>
        </p:spPr>
        <p:txBody>
          <a:bodyPr wrap="none" lIns="0" tIns="0" rIns="0" bIns="0" anchor="ctr">
            <a:normAutofit/>
          </a:bodyPr>
          <a:lstStyle/>
          <a:p>
            <a:pPr algn="l">
              <a:lnSpc>
                <a:spcPct val="105000"/>
              </a:lnSpc>
              <a:buNone/>
              <a:defRPr sz="2850" b="1">
                <a:solidFill>
                  <a:srgbClr val="0B1F33"/>
                </a:solidFill>
                <a:latin typeface="微软雅黑" panose="020B0503020204020204" charset="-122"/>
                <a:ea typeface="微软雅黑" panose="020B0503020204020204" charset="-122"/>
                <a:cs typeface="微软雅黑" panose="020B0503020204020204" charset="-122"/>
              </a:defRPr>
            </a:pPr>
            <a:r>
              <a:rPr sz="2850" b="1">
                <a:solidFill>
                  <a:srgbClr val="0B1F33"/>
                </a:solidFill>
                <a:latin typeface="微软雅黑" panose="020B0503020204020204" charset="-122"/>
                <a:ea typeface="微软雅黑" panose="020B0503020204020204" charset="-122"/>
                <a:cs typeface="微软雅黑" panose="020B0503020204020204" charset="-122"/>
              </a:rPr>
              <a:t>关键数字附录：决策口径与不确定性</a:t>
            </a:r>
            <a:endParaRPr sz="2850"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4" name="矩形 3"/>
          <p:cNvSpPr>
            <a:spLocks noGrp="1"/>
          </p:cNvSpPr>
          <p:nvPr/>
        </p:nvSpPr>
        <p:spPr>
          <a:xfrm>
            <a:off x="11125200" y="495300"/>
            <a:ext cx="419100" cy="209550"/>
          </a:xfrm>
          <a:prstGeom prst="rect">
            <a:avLst/>
          </a:prstGeom>
          <a:noFill/>
          <a:ln w="0">
            <a:noFill/>
            <a:prstDash val="solid"/>
          </a:ln>
        </p:spPr>
        <p:txBody>
          <a:bodyPr wrap="square" lIns="0" tIns="0" rIns="0" bIns="0" anchor="ctr">
            <a:normAutofit/>
          </a:bodyPr>
          <a:lstStyle/>
          <a:p>
            <a:pPr algn="r">
              <a:lnSpc>
                <a:spcPct val="105000"/>
              </a:lnSpc>
              <a:buNone/>
              <a:defRPr sz="975" b="1">
                <a:solidFill>
                  <a:srgbClr val="6B7B88"/>
                </a:solidFill>
                <a:latin typeface="微软雅黑" panose="020B0503020204020204" charset="-122"/>
                <a:ea typeface="微软雅黑" panose="020B0503020204020204" charset="-122"/>
                <a:cs typeface="微软雅黑" panose="020B0503020204020204" charset="-122"/>
              </a:defRPr>
            </a:pPr>
            <a:r>
              <a:rPr sz="975" b="1">
                <a:solidFill>
                  <a:srgbClr val="6B7B88"/>
                </a:solidFill>
                <a:latin typeface="微软雅黑" panose="020B0503020204020204" charset="-122"/>
                <a:ea typeface="微软雅黑" panose="020B0503020204020204" charset="-122"/>
                <a:cs typeface="微软雅黑" panose="020B0503020204020204" charset="-122"/>
              </a:rPr>
              <a:t>12</a:t>
            </a:r>
            <a:endParaRPr sz="975" b="1">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5" name="直接连接符 4"/>
          <p:cNvSpPr>
            <a:spLocks noGrp="1"/>
          </p:cNvSpPr>
          <p:nvPr/>
        </p:nvSpPr>
        <p:spPr>
          <a:xfrm>
            <a:off x="647700" y="6276975"/>
            <a:ext cx="10896600" cy="953"/>
          </a:xfrm>
          <a:prstGeom prst="line">
            <a:avLst/>
          </a:prstGeom>
          <a:noFill/>
          <a:ln w="9525">
            <a:solidFill>
              <a:srgbClr val="E6ECEF"/>
            </a:solidFill>
            <a:prstDash val="solid"/>
          </a:ln>
        </p:spPr>
      </p:sp>
      <p:sp>
        <p:nvSpPr>
          <p:cNvPr id="6" name="矩形 5"/>
          <p:cNvSpPr>
            <a:spLocks noGrp="1"/>
          </p:cNvSpPr>
          <p:nvPr/>
        </p:nvSpPr>
        <p:spPr>
          <a:xfrm>
            <a:off x="647700" y="6381750"/>
            <a:ext cx="4857750" cy="190500"/>
          </a:xfrm>
          <a:prstGeom prst="rect">
            <a:avLst/>
          </a:prstGeom>
          <a:noFill/>
          <a:ln w="0">
            <a:noFill/>
            <a:prstDash val="solid"/>
          </a:ln>
        </p:spPr>
        <p:txBody>
          <a:bodyPr wrap="square" lIns="0" tIns="0" rIns="0" bIns="0" anchor="t">
            <a:normAutofit/>
          </a:bodyPr>
          <a:lstStyle/>
          <a:p>
            <a:pPr algn="l">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来源：经验证的Hillstorm最终分析结果</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7" name="矩形 6"/>
          <p:cNvSpPr>
            <a:spLocks noGrp="1"/>
          </p:cNvSpPr>
          <p:nvPr/>
        </p:nvSpPr>
        <p:spPr>
          <a:xfrm>
            <a:off x="7886700" y="6381750"/>
            <a:ext cx="3657600" cy="190500"/>
          </a:xfrm>
          <a:prstGeom prst="rect">
            <a:avLst/>
          </a:prstGeom>
          <a:noFill/>
          <a:ln w="0">
            <a:noFill/>
            <a:prstDash val="solid"/>
          </a:ln>
        </p:spPr>
        <p:txBody>
          <a:bodyPr wrap="square" lIns="0" tIns="0" rIns="0" bIns="0" anchor="t">
            <a:normAutofit/>
          </a:bodyPr>
          <a:lstStyle/>
          <a:p>
            <a:pPr algn="r">
              <a:lnSpc>
                <a:spcPct val="105000"/>
              </a:lnSpc>
              <a:buNone/>
              <a:defRPr sz="825" b="0">
                <a:solidFill>
                  <a:srgbClr val="6B7B88"/>
                </a:solidFill>
                <a:latin typeface="微软雅黑" panose="020B0503020204020204" charset="-122"/>
                <a:ea typeface="微软雅黑" panose="020B0503020204020204" charset="-122"/>
                <a:cs typeface="微软雅黑" panose="020B0503020204020204" charset="-122"/>
              </a:defRPr>
            </a:pPr>
            <a:r>
              <a:rPr sz="825" b="0">
                <a:solidFill>
                  <a:srgbClr val="6B7B88"/>
                </a:solidFill>
                <a:latin typeface="微软雅黑" panose="020B0503020204020204" charset="-122"/>
                <a:ea typeface="微软雅黑" panose="020B0503020204020204" charset="-122"/>
                <a:cs typeface="微软雅黑" panose="020B0503020204020204" charset="-122"/>
              </a:rPr>
              <a:t>每名随机客户的消费金额｜并非投资回报率</a:t>
            </a:r>
            <a:endParaRPr sz="825" b="0">
              <a:solidFill>
                <a:srgbClr val="6B7B88"/>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66750" y="1438275"/>
            <a:ext cx="3524250"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随机实验的消费金额对比</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66750" y="1762125"/>
            <a:ext cx="2381250" cy="304800"/>
          </a:xfrm>
          <a:prstGeom prst="rect">
            <a:avLst/>
          </a:prstGeom>
          <a:solidFill>
            <a:srgbClr val="0B1F33"/>
          </a:solidFill>
          <a:ln w="0">
            <a:noFill/>
            <a:prstDash val="solid"/>
          </a:ln>
        </p:spPr>
        <p:txBody>
          <a:bodyPr wrap="square" lIns="76200" tIns="38100" rIns="57150" bIns="38100" anchor="ctr">
            <a:normAutofit/>
          </a:bodyPr>
          <a:lstStyle/>
          <a:p>
            <a:pPr algn="l">
              <a:lnSpc>
                <a:spcPct val="105000"/>
              </a:lnSpc>
              <a:buNone/>
              <a:defRPr sz="1050" b="1">
                <a:solidFill>
                  <a:srgbClr val="FFFFFF"/>
                </a:solidFill>
                <a:latin typeface="微软雅黑" panose="020B0503020204020204" charset="-122"/>
                <a:ea typeface="微软雅黑" panose="020B0503020204020204" charset="-122"/>
                <a:cs typeface="微软雅黑" panose="020B0503020204020204" charset="-122"/>
              </a:defRPr>
            </a:pPr>
            <a:r>
              <a:rPr sz="1050" b="1">
                <a:solidFill>
                  <a:srgbClr val="FFFFFF"/>
                </a:solidFill>
                <a:latin typeface="微软雅黑" panose="020B0503020204020204" charset="-122"/>
                <a:ea typeface="微软雅黑" panose="020B0503020204020204" charset="-122"/>
                <a:cs typeface="微软雅黑" panose="020B0503020204020204" charset="-122"/>
              </a:rPr>
              <a:t>对比</a:t>
            </a:r>
            <a:endParaRPr sz="105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3143250" y="1762125"/>
            <a:ext cx="1285875" cy="304800"/>
          </a:xfrm>
          <a:prstGeom prst="rect">
            <a:avLst/>
          </a:prstGeom>
          <a:solidFill>
            <a:srgbClr val="0B1F33"/>
          </a:solidFill>
          <a:ln w="0">
            <a:noFill/>
            <a:prstDash val="solid"/>
          </a:ln>
        </p:spPr>
        <p:txBody>
          <a:bodyPr wrap="square" lIns="76200" tIns="38100" rIns="57150" bIns="38100" anchor="ctr">
            <a:normAutofit/>
          </a:bodyPr>
          <a:lstStyle/>
          <a:p>
            <a:pPr algn="l">
              <a:lnSpc>
                <a:spcPct val="105000"/>
              </a:lnSpc>
              <a:buNone/>
              <a:defRPr sz="1050" b="1">
                <a:solidFill>
                  <a:srgbClr val="FFFFFF"/>
                </a:solidFill>
                <a:latin typeface="微软雅黑" panose="020B0503020204020204" charset="-122"/>
                <a:ea typeface="微软雅黑" panose="020B0503020204020204" charset="-122"/>
                <a:cs typeface="微软雅黑" panose="020B0503020204020204" charset="-122"/>
              </a:defRPr>
            </a:pPr>
            <a:r>
              <a:rPr sz="1050" b="1">
                <a:solidFill>
                  <a:srgbClr val="FFFFFF"/>
                </a:solidFill>
                <a:latin typeface="微软雅黑" panose="020B0503020204020204" charset="-122"/>
                <a:ea typeface="微软雅黑" panose="020B0503020204020204" charset="-122"/>
                <a:cs typeface="微软雅黑" panose="020B0503020204020204" charset="-122"/>
              </a:rPr>
              <a:t>效应</a:t>
            </a:r>
            <a:endParaRPr sz="105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4524375" y="1762125"/>
            <a:ext cx="1952625" cy="304800"/>
          </a:xfrm>
          <a:prstGeom prst="rect">
            <a:avLst/>
          </a:prstGeom>
          <a:solidFill>
            <a:srgbClr val="0B1F33"/>
          </a:solidFill>
          <a:ln w="0">
            <a:noFill/>
            <a:prstDash val="solid"/>
          </a:ln>
        </p:spPr>
        <p:txBody>
          <a:bodyPr wrap="square" lIns="76200" tIns="38100" rIns="57150" bIns="38100" anchor="ctr">
            <a:normAutofit/>
          </a:bodyPr>
          <a:lstStyle/>
          <a:p>
            <a:pPr algn="l">
              <a:lnSpc>
                <a:spcPct val="105000"/>
              </a:lnSpc>
              <a:buNone/>
              <a:defRPr sz="1050" b="1">
                <a:solidFill>
                  <a:srgbClr val="FFFFFF"/>
                </a:solidFill>
                <a:latin typeface="微软雅黑" panose="020B0503020204020204" charset="-122"/>
                <a:ea typeface="微软雅黑" panose="020B0503020204020204" charset="-122"/>
                <a:cs typeface="微软雅黑" panose="020B0503020204020204" charset="-122"/>
              </a:defRPr>
            </a:pPr>
            <a:r>
              <a:rPr sz="1050" b="1">
                <a:solidFill>
                  <a:srgbClr val="FFFFFF"/>
                </a:solidFill>
                <a:latin typeface="微软雅黑" panose="020B0503020204020204" charset="-122"/>
                <a:ea typeface="微软雅黑" panose="020B0503020204020204" charset="-122"/>
                <a:cs typeface="微软雅黑" panose="020B0503020204020204" charset="-122"/>
              </a:rPr>
              <a:t>韦尔奇 95%置信区间</a:t>
            </a:r>
            <a:endParaRPr sz="105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6572250" y="1762125"/>
            <a:ext cx="1381125" cy="304800"/>
          </a:xfrm>
          <a:prstGeom prst="rect">
            <a:avLst/>
          </a:prstGeom>
          <a:solidFill>
            <a:srgbClr val="0B1F33"/>
          </a:solidFill>
          <a:ln w="0">
            <a:noFill/>
            <a:prstDash val="solid"/>
          </a:ln>
        </p:spPr>
        <p:txBody>
          <a:bodyPr wrap="square" lIns="76200" tIns="38100" rIns="57150" bIns="38100" anchor="ctr">
            <a:normAutofit/>
          </a:bodyPr>
          <a:lstStyle/>
          <a:p>
            <a:pPr algn="l">
              <a:lnSpc>
                <a:spcPct val="105000"/>
              </a:lnSpc>
              <a:buNone/>
              <a:defRPr sz="1050" b="1">
                <a:solidFill>
                  <a:srgbClr val="FFFFFF"/>
                </a:solidFill>
                <a:latin typeface="微软雅黑" panose="020B0503020204020204" charset="-122"/>
                <a:ea typeface="微软雅黑" panose="020B0503020204020204" charset="-122"/>
                <a:cs typeface="微软雅黑" panose="020B0503020204020204" charset="-122"/>
              </a:defRPr>
            </a:pPr>
            <a:r>
              <a:rPr sz="1050" b="1">
                <a:solidFill>
                  <a:srgbClr val="FFFFFF"/>
                </a:solidFill>
                <a:latin typeface="微软雅黑" panose="020B0503020204020204" charset="-122"/>
                <a:ea typeface="微软雅黑" panose="020B0503020204020204" charset="-122"/>
                <a:cs typeface="微软雅黑" panose="020B0503020204020204" charset="-122"/>
              </a:rPr>
              <a:t>严格置换检验概率</a:t>
            </a:r>
            <a:endParaRPr sz="105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742950" y="2105025"/>
            <a:ext cx="2266950" cy="466725"/>
          </a:xfrm>
          <a:prstGeom prst="rect">
            <a:avLst/>
          </a:prstGeom>
          <a:noFill/>
          <a:ln w="0">
            <a:noFill/>
            <a:prstDash val="solid"/>
          </a:ln>
        </p:spPr>
        <p:txBody>
          <a:bodyPr wrap="square" lIns="0" tIns="0" rIns="0" bIns="0" anchor="ctr">
            <a:normAutofit/>
          </a:bodyPr>
          <a:lstStyle/>
          <a:p>
            <a:pPr algn="l">
              <a:lnSpc>
                <a:spcPct val="105000"/>
              </a:lnSpc>
              <a:buNone/>
              <a:defRPr sz="1125" b="1">
                <a:solidFill>
                  <a:srgbClr val="314252"/>
                </a:solidFill>
                <a:latin typeface="微软雅黑" panose="020B0503020204020204" charset="-122"/>
                <a:ea typeface="微软雅黑" panose="020B0503020204020204" charset="-122"/>
                <a:cs typeface="微软雅黑" panose="020B0503020204020204" charset="-122"/>
              </a:defRPr>
            </a:pPr>
            <a:r>
              <a:rPr sz="1125" b="1">
                <a:solidFill>
                  <a:srgbClr val="314252"/>
                </a:solidFill>
                <a:latin typeface="微软雅黑" panose="020B0503020204020204" charset="-122"/>
                <a:ea typeface="微软雅黑" panose="020B0503020204020204" charset="-122"/>
                <a:cs typeface="微软雅黑" panose="020B0503020204020204" charset="-122"/>
              </a:rPr>
              <a:t>男装邮件－不发邮件</a:t>
            </a:r>
            <a:endParaRPr sz="1125"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3219450" y="2105025"/>
            <a:ext cx="1171575" cy="466725"/>
          </a:xfrm>
          <a:prstGeom prst="rect">
            <a:avLst/>
          </a:prstGeom>
          <a:noFill/>
          <a:ln w="0">
            <a:noFill/>
            <a:prstDash val="solid"/>
          </a:ln>
        </p:spPr>
        <p:txBody>
          <a:bodyPr wrap="square" lIns="0" tIns="0" rIns="0" bIns="0" anchor="ctr">
            <a:normAutofit/>
          </a:bodyPr>
          <a:lstStyle/>
          <a:p>
            <a:pPr algn="l">
              <a:lnSpc>
                <a:spcPct val="105000"/>
              </a:lnSpc>
              <a:buNone/>
              <a:defRPr sz="1050" b="1">
                <a:solidFill>
                  <a:srgbClr val="314252"/>
                </a:solidFill>
                <a:latin typeface="微软雅黑" panose="020B0503020204020204" charset="-122"/>
                <a:ea typeface="微软雅黑" panose="020B0503020204020204" charset="-122"/>
                <a:cs typeface="微软雅黑" panose="020B0503020204020204" charset="-122"/>
              </a:defRPr>
            </a:pPr>
            <a:r>
              <a:rPr sz="1050" b="1">
                <a:solidFill>
                  <a:srgbClr val="314252"/>
                </a:solidFill>
                <a:latin typeface="微软雅黑" panose="020B0503020204020204" charset="-122"/>
                <a:ea typeface="微软雅黑" panose="020B0503020204020204" charset="-122"/>
                <a:cs typeface="微软雅黑" panose="020B0503020204020204" charset="-122"/>
              </a:rPr>
              <a:t>+0.769827</a:t>
            </a:r>
            <a:endParaRPr sz="1050"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4600575" y="2105025"/>
            <a:ext cx="1838325" cy="466725"/>
          </a:xfrm>
          <a:prstGeom prst="rect">
            <a:avLst/>
          </a:prstGeom>
          <a:noFill/>
          <a:ln w="0">
            <a:noFill/>
            <a:prstDash val="solid"/>
          </a:ln>
        </p:spPr>
        <p:txBody>
          <a:bodyPr wrap="square" lIns="0" tIns="0" rIns="0" bIns="0" anchor="ctr">
            <a:normAutofit/>
          </a:bodyPr>
          <a:lstStyle/>
          <a:p>
            <a:pPr algn="l">
              <a:lnSpc>
                <a:spcPct val="105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[0.485140, 1.054515]</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6648450" y="2105025"/>
            <a:ext cx="1266825" cy="466725"/>
          </a:xfrm>
          <a:prstGeom prst="rect">
            <a:avLst/>
          </a:prstGeom>
          <a:noFill/>
          <a:ln w="0">
            <a:noFill/>
            <a:prstDash val="solid"/>
          </a:ln>
        </p:spPr>
        <p:txBody>
          <a:bodyPr wrap="square" lIns="0" tIns="0" rIns="0" bIns="0" anchor="ctr">
            <a:normAutofit/>
          </a:bodyPr>
          <a:lstStyle/>
          <a:p>
            <a:pPr algn="l">
              <a:lnSpc>
                <a:spcPct val="105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&lt;0.001</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7" name="直接连接符 16"/>
          <p:cNvSpPr>
            <a:spLocks noGrp="1"/>
          </p:cNvSpPr>
          <p:nvPr/>
        </p:nvSpPr>
        <p:spPr>
          <a:xfrm>
            <a:off x="666750" y="2581275"/>
            <a:ext cx="7286625" cy="953"/>
          </a:xfrm>
          <a:prstGeom prst="line">
            <a:avLst/>
          </a:prstGeom>
          <a:noFill/>
          <a:ln w="9525">
            <a:solidFill>
              <a:srgbClr val="E6ECEF"/>
            </a:solidFill>
            <a:prstDash val="solid"/>
          </a:ln>
        </p:spPr>
      </p:sp>
      <p:sp>
        <p:nvSpPr>
          <p:cNvPr id="18" name="矩形 17"/>
          <p:cNvSpPr>
            <a:spLocks noGrp="1"/>
          </p:cNvSpPr>
          <p:nvPr/>
        </p:nvSpPr>
        <p:spPr>
          <a:xfrm>
            <a:off x="742950" y="2647950"/>
            <a:ext cx="2266950" cy="466725"/>
          </a:xfrm>
          <a:prstGeom prst="rect">
            <a:avLst/>
          </a:prstGeom>
          <a:noFill/>
          <a:ln w="0">
            <a:noFill/>
            <a:prstDash val="solid"/>
          </a:ln>
        </p:spPr>
        <p:txBody>
          <a:bodyPr wrap="square" lIns="0" tIns="0" rIns="0" bIns="0" anchor="ctr">
            <a:normAutofit/>
          </a:bodyPr>
          <a:lstStyle/>
          <a:p>
            <a:pPr algn="l">
              <a:lnSpc>
                <a:spcPct val="105000"/>
              </a:lnSpc>
              <a:buNone/>
              <a:defRPr sz="1125" b="1">
                <a:solidFill>
                  <a:srgbClr val="314252"/>
                </a:solidFill>
                <a:latin typeface="微软雅黑" panose="020B0503020204020204" charset="-122"/>
                <a:ea typeface="微软雅黑" panose="020B0503020204020204" charset="-122"/>
                <a:cs typeface="微软雅黑" panose="020B0503020204020204" charset="-122"/>
              </a:defRPr>
            </a:pPr>
            <a:r>
              <a:rPr sz="1125" b="1">
                <a:solidFill>
                  <a:srgbClr val="314252"/>
                </a:solidFill>
                <a:latin typeface="微软雅黑" panose="020B0503020204020204" charset="-122"/>
                <a:ea typeface="微软雅黑" panose="020B0503020204020204" charset="-122"/>
                <a:cs typeface="微软雅黑" panose="020B0503020204020204" charset="-122"/>
              </a:rPr>
              <a:t>女装邮件－不发邮件</a:t>
            </a:r>
            <a:endParaRPr sz="1125"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3219450" y="2647950"/>
            <a:ext cx="1171575" cy="466725"/>
          </a:xfrm>
          <a:prstGeom prst="rect">
            <a:avLst/>
          </a:prstGeom>
          <a:noFill/>
          <a:ln w="0">
            <a:noFill/>
            <a:prstDash val="solid"/>
          </a:ln>
        </p:spPr>
        <p:txBody>
          <a:bodyPr wrap="square" lIns="0" tIns="0" rIns="0" bIns="0" anchor="ctr">
            <a:normAutofit/>
          </a:bodyPr>
          <a:lstStyle/>
          <a:p>
            <a:pPr algn="l">
              <a:lnSpc>
                <a:spcPct val="105000"/>
              </a:lnSpc>
              <a:buNone/>
              <a:defRPr sz="1050" b="1">
                <a:solidFill>
                  <a:srgbClr val="314252"/>
                </a:solidFill>
                <a:latin typeface="微软雅黑" panose="020B0503020204020204" charset="-122"/>
                <a:ea typeface="微软雅黑" panose="020B0503020204020204" charset="-122"/>
                <a:cs typeface="微软雅黑" panose="020B0503020204020204" charset="-122"/>
              </a:defRPr>
            </a:pPr>
            <a:r>
              <a:rPr sz="1050" b="1">
                <a:solidFill>
                  <a:srgbClr val="314252"/>
                </a:solidFill>
                <a:latin typeface="微软雅黑" panose="020B0503020204020204" charset="-122"/>
                <a:ea typeface="微软雅黑" panose="020B0503020204020204" charset="-122"/>
                <a:cs typeface="微软雅黑" panose="020B0503020204020204" charset="-122"/>
              </a:rPr>
              <a:t>+0.424412</a:t>
            </a:r>
            <a:endParaRPr sz="1050"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4600575" y="2647950"/>
            <a:ext cx="1838325" cy="466725"/>
          </a:xfrm>
          <a:prstGeom prst="rect">
            <a:avLst/>
          </a:prstGeom>
          <a:noFill/>
          <a:ln w="0">
            <a:noFill/>
            <a:prstDash val="solid"/>
          </a:ln>
        </p:spPr>
        <p:txBody>
          <a:bodyPr wrap="square" lIns="0" tIns="0" rIns="0" bIns="0" anchor="ctr">
            <a:normAutofit/>
          </a:bodyPr>
          <a:lstStyle/>
          <a:p>
            <a:pPr algn="l">
              <a:lnSpc>
                <a:spcPct val="105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[0.168957, 0.679868]</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6648450" y="2647950"/>
            <a:ext cx="1266825" cy="466725"/>
          </a:xfrm>
          <a:prstGeom prst="rect">
            <a:avLst/>
          </a:prstGeom>
          <a:noFill/>
          <a:ln w="0">
            <a:noFill/>
            <a:prstDash val="solid"/>
          </a:ln>
        </p:spPr>
        <p:txBody>
          <a:bodyPr wrap="square" lIns="0" tIns="0" rIns="0" bIns="0" anchor="ctr">
            <a:normAutofit/>
          </a:bodyPr>
          <a:lstStyle/>
          <a:p>
            <a:pPr algn="l">
              <a:lnSpc>
                <a:spcPct val="105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0.0037</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2" name="直接连接符 21"/>
          <p:cNvSpPr>
            <a:spLocks noGrp="1"/>
          </p:cNvSpPr>
          <p:nvPr/>
        </p:nvSpPr>
        <p:spPr>
          <a:xfrm>
            <a:off x="666750" y="3124200"/>
            <a:ext cx="7286625" cy="953"/>
          </a:xfrm>
          <a:prstGeom prst="line">
            <a:avLst/>
          </a:prstGeom>
          <a:noFill/>
          <a:ln w="9525">
            <a:solidFill>
              <a:srgbClr val="E6ECEF"/>
            </a:solidFill>
            <a:prstDash val="solid"/>
          </a:ln>
        </p:spPr>
      </p:sp>
      <p:sp>
        <p:nvSpPr>
          <p:cNvPr id="23" name="矩形 22"/>
          <p:cNvSpPr>
            <a:spLocks noGrp="1"/>
          </p:cNvSpPr>
          <p:nvPr/>
        </p:nvSpPr>
        <p:spPr>
          <a:xfrm>
            <a:off x="742950" y="3190875"/>
            <a:ext cx="2266950" cy="466725"/>
          </a:xfrm>
          <a:prstGeom prst="rect">
            <a:avLst/>
          </a:prstGeom>
          <a:noFill/>
          <a:ln w="0">
            <a:noFill/>
            <a:prstDash val="solid"/>
          </a:ln>
        </p:spPr>
        <p:txBody>
          <a:bodyPr wrap="square" lIns="0" tIns="0" rIns="0" bIns="0" anchor="ctr">
            <a:normAutofit/>
          </a:bodyPr>
          <a:lstStyle/>
          <a:p>
            <a:pPr algn="l">
              <a:lnSpc>
                <a:spcPct val="105000"/>
              </a:lnSpc>
              <a:buNone/>
              <a:defRPr sz="1125" b="1">
                <a:solidFill>
                  <a:srgbClr val="314252"/>
                </a:solidFill>
                <a:latin typeface="微软雅黑" panose="020B0503020204020204" charset="-122"/>
                <a:ea typeface="微软雅黑" panose="020B0503020204020204" charset="-122"/>
                <a:cs typeface="微软雅黑" panose="020B0503020204020204" charset="-122"/>
              </a:defRPr>
            </a:pPr>
            <a:r>
              <a:rPr sz="1125" b="1">
                <a:solidFill>
                  <a:srgbClr val="314252"/>
                </a:solidFill>
                <a:latin typeface="微软雅黑" panose="020B0503020204020204" charset="-122"/>
                <a:ea typeface="微软雅黑" panose="020B0503020204020204" charset="-122"/>
                <a:cs typeface="微软雅黑" panose="020B0503020204020204" charset="-122"/>
              </a:rPr>
              <a:t>男装邮件－女装邮件</a:t>
            </a:r>
            <a:endParaRPr sz="1125"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3219450" y="3190875"/>
            <a:ext cx="1171575" cy="466725"/>
          </a:xfrm>
          <a:prstGeom prst="rect">
            <a:avLst/>
          </a:prstGeom>
          <a:noFill/>
          <a:ln w="0">
            <a:noFill/>
            <a:prstDash val="solid"/>
          </a:ln>
        </p:spPr>
        <p:txBody>
          <a:bodyPr wrap="square" lIns="0" tIns="0" rIns="0" bIns="0" anchor="ctr">
            <a:normAutofit/>
          </a:bodyPr>
          <a:lstStyle/>
          <a:p>
            <a:pPr algn="l">
              <a:lnSpc>
                <a:spcPct val="105000"/>
              </a:lnSpc>
              <a:buNone/>
              <a:defRPr sz="1050" b="1">
                <a:solidFill>
                  <a:srgbClr val="314252"/>
                </a:solidFill>
                <a:latin typeface="微软雅黑" panose="020B0503020204020204" charset="-122"/>
                <a:ea typeface="微软雅黑" panose="020B0503020204020204" charset="-122"/>
                <a:cs typeface="微软雅黑" panose="020B0503020204020204" charset="-122"/>
              </a:defRPr>
            </a:pPr>
            <a:r>
              <a:rPr sz="1050" b="1">
                <a:solidFill>
                  <a:srgbClr val="314252"/>
                </a:solidFill>
                <a:latin typeface="微软雅黑" panose="020B0503020204020204" charset="-122"/>
                <a:ea typeface="微软雅黑" panose="020B0503020204020204" charset="-122"/>
                <a:cs typeface="微软雅黑" panose="020B0503020204020204" charset="-122"/>
              </a:rPr>
              <a:t>+0.345415</a:t>
            </a:r>
            <a:endParaRPr sz="1050"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4600575" y="3190875"/>
            <a:ext cx="1838325" cy="466725"/>
          </a:xfrm>
          <a:prstGeom prst="rect">
            <a:avLst/>
          </a:prstGeom>
          <a:noFill/>
          <a:ln w="0">
            <a:noFill/>
            <a:prstDash val="solid"/>
          </a:ln>
        </p:spPr>
        <p:txBody>
          <a:bodyPr wrap="square" lIns="0" tIns="0" rIns="0" bIns="0" anchor="ctr">
            <a:normAutofit/>
          </a:bodyPr>
          <a:lstStyle/>
          <a:p>
            <a:pPr algn="l">
              <a:lnSpc>
                <a:spcPct val="105000"/>
              </a:lnSpc>
              <a:buNone/>
              <a:defRPr sz="1050" b="0">
                <a:solidFill>
                  <a:srgbClr val="314252"/>
                </a:solidFill>
                <a:latin typeface="微软雅黑" panose="020B0503020204020204" charset="-122"/>
                <a:ea typeface="微软雅黑" panose="020B0503020204020204" charset="-122"/>
                <a:cs typeface="微软雅黑" panose="020B0503020204020204" charset="-122"/>
              </a:defRPr>
            </a:pPr>
            <a:r>
              <a:rPr sz="1050" b="0">
                <a:solidFill>
                  <a:srgbClr val="314252"/>
                </a:solidFill>
                <a:latin typeface="微软雅黑" panose="020B0503020204020204" charset="-122"/>
                <a:ea typeface="微软雅黑" panose="020B0503020204020204" charset="-122"/>
                <a:cs typeface="微软雅黑" panose="020B0503020204020204" charset="-122"/>
              </a:rPr>
              <a:t>[0.032561, 0.658268]</a:t>
            </a:r>
            <a:endParaRPr sz="105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26" name="矩形 25"/>
          <p:cNvSpPr>
            <a:spLocks noGrp="1"/>
          </p:cNvSpPr>
          <p:nvPr/>
        </p:nvSpPr>
        <p:spPr>
          <a:xfrm>
            <a:off x="6648450" y="3190875"/>
            <a:ext cx="1266825" cy="466725"/>
          </a:xfrm>
          <a:prstGeom prst="rect">
            <a:avLst/>
          </a:prstGeom>
          <a:noFill/>
          <a:ln w="0">
            <a:noFill/>
            <a:prstDash val="solid"/>
          </a:ln>
        </p:spPr>
        <p:txBody>
          <a:bodyPr wrap="square" lIns="0" tIns="0" rIns="0" bIns="0" anchor="ctr">
            <a:normAutofit/>
          </a:bodyPr>
          <a:lstStyle/>
          <a:p>
            <a:pPr algn="l">
              <a:lnSpc>
                <a:spcPct val="105000"/>
              </a:lnSpc>
              <a:buNone/>
              <a:defRPr sz="1050" b="1">
                <a:solidFill>
                  <a:srgbClr val="EF6A5B"/>
                </a:solidFill>
                <a:latin typeface="微软雅黑" panose="020B0503020204020204" charset="-122"/>
                <a:ea typeface="微软雅黑" panose="020B0503020204020204" charset="-122"/>
                <a:cs typeface="微软雅黑" panose="020B0503020204020204" charset="-122"/>
              </a:defRPr>
            </a:pPr>
            <a:r>
              <a:rPr sz="1050" b="1">
                <a:solidFill>
                  <a:srgbClr val="EF6A5B"/>
                </a:solidFill>
                <a:latin typeface="微软雅黑" panose="020B0503020204020204" charset="-122"/>
                <a:ea typeface="微软雅黑" panose="020B0503020204020204" charset="-122"/>
                <a:cs typeface="微软雅黑" panose="020B0503020204020204" charset="-122"/>
              </a:rPr>
              <a:t>0.0811</a:t>
            </a:r>
            <a:endParaRPr sz="1050" b="1">
              <a:solidFill>
                <a:srgbClr val="EF6A5B"/>
              </a:solidFill>
              <a:latin typeface="微软雅黑" panose="020B0503020204020204" charset="-122"/>
              <a:ea typeface="微软雅黑" panose="020B0503020204020204" charset="-122"/>
              <a:cs typeface="微软雅黑" panose="020B0503020204020204" charset="-122"/>
            </a:endParaRPr>
          </a:p>
        </p:txBody>
      </p:sp>
      <p:sp>
        <p:nvSpPr>
          <p:cNvPr id="27" name="直接连接符 26"/>
          <p:cNvSpPr>
            <a:spLocks noGrp="1"/>
          </p:cNvSpPr>
          <p:nvPr/>
        </p:nvSpPr>
        <p:spPr>
          <a:xfrm>
            <a:off x="666750" y="3667125"/>
            <a:ext cx="7286625" cy="953"/>
          </a:xfrm>
          <a:prstGeom prst="line">
            <a:avLst/>
          </a:prstGeom>
          <a:noFill/>
          <a:ln w="9525">
            <a:solidFill>
              <a:srgbClr val="E6ECEF"/>
            </a:solidFill>
            <a:prstDash val="solid"/>
          </a:ln>
        </p:spPr>
      </p:sp>
      <p:sp>
        <p:nvSpPr>
          <p:cNvPr id="28" name="矩形 27"/>
          <p:cNvSpPr>
            <a:spLocks noGrp="1"/>
          </p:cNvSpPr>
          <p:nvPr/>
        </p:nvSpPr>
        <p:spPr>
          <a:xfrm>
            <a:off x="666750" y="4095750"/>
            <a:ext cx="3524250" cy="209550"/>
          </a:xfrm>
          <a:prstGeom prst="rect">
            <a:avLst/>
          </a:prstGeom>
          <a:noFill/>
          <a:ln w="0">
            <a:noFill/>
            <a:prstDash val="solid"/>
          </a:ln>
        </p:spPr>
        <p:txBody>
          <a:bodyPr wrap="square" lIns="0" tIns="0" rIns="0" bIns="0" anchor="t">
            <a:normAutofit/>
          </a:bodyPr>
          <a:lstStyle/>
          <a:p>
            <a:pPr algn="l">
              <a:lnSpc>
                <a:spcPct val="105000"/>
              </a:lnSpc>
              <a:buNone/>
              <a:defRPr sz="1050" b="1">
                <a:solidFill>
                  <a:srgbClr val="00A6A6"/>
                </a:solidFill>
                <a:latin typeface="微软雅黑" panose="020B0503020204020204" charset="-122"/>
                <a:ea typeface="微软雅黑" panose="020B0503020204020204" charset="-122"/>
                <a:cs typeface="微软雅黑" panose="020B0503020204020204" charset="-122"/>
              </a:defRPr>
            </a:pPr>
            <a:r>
              <a:rPr sz="1050" b="1">
                <a:solidFill>
                  <a:srgbClr val="00A6A6"/>
                </a:solidFill>
                <a:latin typeface="微软雅黑" panose="020B0503020204020204" charset="-122"/>
                <a:ea typeface="微软雅黑" panose="020B0503020204020204" charset="-122"/>
                <a:cs typeface="微软雅黑" panose="020B0503020204020204" charset="-122"/>
              </a:rPr>
              <a:t>策略价值与对比</a:t>
            </a:r>
            <a:endParaRPr sz="1050" b="1">
              <a:solidFill>
                <a:srgbClr val="00A6A6"/>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666750" y="4419600"/>
            <a:ext cx="2190750" cy="304800"/>
          </a:xfrm>
          <a:prstGeom prst="rect">
            <a:avLst/>
          </a:prstGeom>
          <a:solidFill>
            <a:srgbClr val="0B1F33"/>
          </a:solidFill>
          <a:ln w="0">
            <a:noFill/>
            <a:prstDash val="solid"/>
          </a:ln>
        </p:spPr>
        <p:txBody>
          <a:bodyPr wrap="square" lIns="76200" tIns="38100" rIns="57150" bIns="38100" anchor="ctr">
            <a:normAutofit/>
          </a:bodyPr>
          <a:lstStyle/>
          <a:p>
            <a:pPr algn="l">
              <a:lnSpc>
                <a:spcPct val="105000"/>
              </a:lnSpc>
              <a:buNone/>
              <a:defRPr sz="1050" b="1">
                <a:solidFill>
                  <a:srgbClr val="FFFFFF"/>
                </a:solidFill>
                <a:latin typeface="微软雅黑" panose="020B0503020204020204" charset="-122"/>
                <a:ea typeface="微软雅黑" panose="020B0503020204020204" charset="-122"/>
                <a:cs typeface="微软雅黑" panose="020B0503020204020204" charset="-122"/>
              </a:defRPr>
            </a:pPr>
            <a:r>
              <a:rPr sz="1050" b="1">
                <a:solidFill>
                  <a:srgbClr val="FFFFFF"/>
                </a:solidFill>
                <a:latin typeface="微软雅黑" panose="020B0503020204020204" charset="-122"/>
                <a:ea typeface="微软雅黑" panose="020B0503020204020204" charset="-122"/>
                <a:cs typeface="微软雅黑" panose="020B0503020204020204" charset="-122"/>
              </a:rPr>
              <a:t>策略</a:t>
            </a:r>
            <a:endParaRPr sz="105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0" name="矩形 29"/>
          <p:cNvSpPr>
            <a:spLocks noGrp="1"/>
          </p:cNvSpPr>
          <p:nvPr/>
        </p:nvSpPr>
        <p:spPr>
          <a:xfrm>
            <a:off x="2952750" y="4419600"/>
            <a:ext cx="1428750" cy="304800"/>
          </a:xfrm>
          <a:prstGeom prst="rect">
            <a:avLst/>
          </a:prstGeom>
          <a:solidFill>
            <a:srgbClr val="0B1F33"/>
          </a:solidFill>
          <a:ln w="0">
            <a:noFill/>
            <a:prstDash val="solid"/>
          </a:ln>
        </p:spPr>
        <p:txBody>
          <a:bodyPr wrap="square" lIns="76200" tIns="38100" rIns="57150" bIns="38100" anchor="ctr">
            <a:normAutofit/>
          </a:bodyPr>
          <a:lstStyle/>
          <a:p>
            <a:pPr algn="l">
              <a:lnSpc>
                <a:spcPct val="105000"/>
              </a:lnSpc>
              <a:buNone/>
              <a:defRPr sz="1050" b="1">
                <a:solidFill>
                  <a:srgbClr val="FFFFFF"/>
                </a:solidFill>
                <a:latin typeface="微软雅黑" panose="020B0503020204020204" charset="-122"/>
                <a:ea typeface="微软雅黑" panose="020B0503020204020204" charset="-122"/>
                <a:cs typeface="微软雅黑" panose="020B0503020204020204" charset="-122"/>
              </a:defRPr>
            </a:pPr>
            <a:r>
              <a:rPr sz="1050" b="1">
                <a:solidFill>
                  <a:srgbClr val="FFFFFF"/>
                </a:solidFill>
                <a:latin typeface="微软雅黑" panose="020B0503020204020204" charset="-122"/>
                <a:ea typeface="微软雅黑" panose="020B0503020204020204" charset="-122"/>
                <a:cs typeface="微软雅黑" panose="020B0503020204020204" charset="-122"/>
              </a:rPr>
              <a:t>增广逆概率加权价值</a:t>
            </a:r>
            <a:endParaRPr sz="105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矩形 30"/>
          <p:cNvSpPr>
            <a:spLocks noGrp="1"/>
          </p:cNvSpPr>
          <p:nvPr/>
        </p:nvSpPr>
        <p:spPr>
          <a:xfrm>
            <a:off x="4476750" y="4419600"/>
            <a:ext cx="2000250" cy="304800"/>
          </a:xfrm>
          <a:prstGeom prst="rect">
            <a:avLst/>
          </a:prstGeom>
          <a:solidFill>
            <a:srgbClr val="0B1F33"/>
          </a:solidFill>
          <a:ln w="0">
            <a:noFill/>
            <a:prstDash val="solid"/>
          </a:ln>
        </p:spPr>
        <p:txBody>
          <a:bodyPr wrap="square" lIns="76200" tIns="38100" rIns="57150" bIns="38100" anchor="ctr">
            <a:normAutofit/>
          </a:bodyPr>
          <a:lstStyle/>
          <a:p>
            <a:pPr algn="l">
              <a:lnSpc>
                <a:spcPct val="105000"/>
              </a:lnSpc>
              <a:buNone/>
              <a:defRPr sz="1050" b="1">
                <a:solidFill>
                  <a:srgbClr val="FFFFFF"/>
                </a:solidFill>
                <a:latin typeface="微软雅黑" panose="020B0503020204020204" charset="-122"/>
                <a:ea typeface="微软雅黑" panose="020B0503020204020204" charset="-122"/>
                <a:cs typeface="微软雅黑" panose="020B0503020204020204" charset="-122"/>
              </a:defRPr>
            </a:pPr>
            <a:r>
              <a:rPr sz="1050" b="1">
                <a:solidFill>
                  <a:srgbClr val="FFFFFF"/>
                </a:solidFill>
                <a:latin typeface="微软雅黑" panose="020B0503020204020204" charset="-122"/>
                <a:ea typeface="微软雅黑" panose="020B0503020204020204" charset="-122"/>
                <a:cs typeface="微软雅黑" panose="020B0503020204020204" charset="-122"/>
              </a:rPr>
              <a:t>自助法 95%置信区间</a:t>
            </a:r>
            <a:endParaRPr sz="105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2" name="矩形 31"/>
          <p:cNvSpPr>
            <a:spLocks noGrp="1"/>
          </p:cNvSpPr>
          <p:nvPr/>
        </p:nvSpPr>
        <p:spPr>
          <a:xfrm>
            <a:off x="6572250" y="4419600"/>
            <a:ext cx="1381125" cy="304800"/>
          </a:xfrm>
          <a:prstGeom prst="rect">
            <a:avLst/>
          </a:prstGeom>
          <a:solidFill>
            <a:srgbClr val="0B1F33"/>
          </a:solidFill>
          <a:ln w="0">
            <a:noFill/>
            <a:prstDash val="solid"/>
          </a:ln>
        </p:spPr>
        <p:txBody>
          <a:bodyPr wrap="square" lIns="76200" tIns="38100" rIns="57150" bIns="38100" anchor="ctr">
            <a:normAutofit/>
          </a:bodyPr>
          <a:lstStyle/>
          <a:p>
            <a:pPr algn="l">
              <a:lnSpc>
                <a:spcPct val="105000"/>
              </a:lnSpc>
              <a:buNone/>
              <a:defRPr sz="1050" b="1">
                <a:solidFill>
                  <a:srgbClr val="FFFFFF"/>
                </a:solidFill>
                <a:latin typeface="微软雅黑" panose="020B0503020204020204" charset="-122"/>
                <a:ea typeface="微软雅黑" panose="020B0503020204020204" charset="-122"/>
                <a:cs typeface="微软雅黑" panose="020B0503020204020204" charset="-122"/>
              </a:defRPr>
            </a:pPr>
            <a:r>
              <a:rPr sz="1050" b="1">
                <a:solidFill>
                  <a:srgbClr val="FFFFFF"/>
                </a:solidFill>
                <a:latin typeface="微软雅黑" panose="020B0503020204020204" charset="-122"/>
                <a:ea typeface="微软雅黑" panose="020B0503020204020204" charset="-122"/>
                <a:cs typeface="微软雅黑" panose="020B0503020204020204" charset="-122"/>
              </a:rPr>
              <a:t>相对最佳静态策略</a:t>
            </a:r>
            <a:endParaRPr sz="1050"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742950" y="4762500"/>
            <a:ext cx="2076450" cy="295275"/>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314252"/>
                </a:solidFill>
                <a:latin typeface="微软雅黑" panose="020B0503020204020204" charset="-122"/>
                <a:ea typeface="微软雅黑" panose="020B0503020204020204" charset="-122"/>
                <a:cs typeface="微软雅黑" panose="020B0503020204020204" charset="-122"/>
              </a:defRPr>
            </a:pPr>
            <a:r>
              <a:rPr sz="975" b="1">
                <a:solidFill>
                  <a:srgbClr val="314252"/>
                </a:solidFill>
                <a:latin typeface="微软雅黑" panose="020B0503020204020204" charset="-122"/>
                <a:ea typeface="微软雅黑" panose="020B0503020204020204" charset="-122"/>
                <a:cs typeface="微软雅黑" panose="020B0503020204020204" charset="-122"/>
              </a:rPr>
              <a:t>全量不发邮件</a:t>
            </a:r>
            <a:endParaRPr sz="975"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4" name="矩形 33"/>
          <p:cNvSpPr>
            <a:spLocks noGrp="1"/>
          </p:cNvSpPr>
          <p:nvPr/>
        </p:nvSpPr>
        <p:spPr>
          <a:xfrm>
            <a:off x="3028950" y="4762500"/>
            <a:ext cx="1314450" cy="295275"/>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314252"/>
                </a:solidFill>
                <a:latin typeface="微软雅黑" panose="020B0503020204020204" charset="-122"/>
                <a:ea typeface="微软雅黑" panose="020B0503020204020204" charset="-122"/>
                <a:cs typeface="微软雅黑" panose="020B0503020204020204" charset="-122"/>
              </a:defRPr>
            </a:pPr>
            <a:r>
              <a:rPr sz="975" b="1">
                <a:solidFill>
                  <a:srgbClr val="314252"/>
                </a:solidFill>
                <a:latin typeface="微软雅黑" panose="020B0503020204020204" charset="-122"/>
                <a:ea typeface="微软雅黑" panose="020B0503020204020204" charset="-122"/>
                <a:cs typeface="微软雅黑" panose="020B0503020204020204" charset="-122"/>
              </a:rPr>
              <a:t>0.657062</a:t>
            </a:r>
            <a:endParaRPr sz="975"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5" name="矩形 34"/>
          <p:cNvSpPr>
            <a:spLocks noGrp="1"/>
          </p:cNvSpPr>
          <p:nvPr/>
        </p:nvSpPr>
        <p:spPr>
          <a:xfrm>
            <a:off x="4552950" y="4762500"/>
            <a:ext cx="1885950" cy="295275"/>
          </a:xfrm>
          <a:prstGeom prst="rect">
            <a:avLst/>
          </a:prstGeom>
          <a:noFill/>
          <a:ln w="0">
            <a:noFill/>
            <a:prstDash val="solid"/>
          </a:ln>
        </p:spPr>
        <p:txBody>
          <a:bodyPr wrap="square" lIns="0" tIns="0" rIns="0" bIns="0" anchor="ctr">
            <a:normAutofit/>
          </a:bodyPr>
          <a:lstStyle/>
          <a:p>
            <a:pPr algn="l">
              <a:lnSpc>
                <a:spcPct val="105000"/>
              </a:lnSpc>
              <a:buNone/>
              <a:defRPr sz="975" b="0">
                <a:solidFill>
                  <a:srgbClr val="314252"/>
                </a:solidFill>
                <a:latin typeface="微软雅黑" panose="020B0503020204020204" charset="-122"/>
                <a:ea typeface="微软雅黑" panose="020B0503020204020204" charset="-122"/>
                <a:cs typeface="微软雅黑" panose="020B0503020204020204" charset="-122"/>
              </a:defRPr>
            </a:pPr>
            <a:r>
              <a:rPr sz="975" b="0">
                <a:solidFill>
                  <a:srgbClr val="314252"/>
                </a:solidFill>
                <a:latin typeface="微软雅黑" panose="020B0503020204020204" charset="-122"/>
                <a:ea typeface="微软雅黑" panose="020B0503020204020204" charset="-122"/>
                <a:cs typeface="微软雅黑" panose="020B0503020204020204" charset="-122"/>
              </a:rPr>
              <a:t>[0.509077, 0.814866]</a:t>
            </a:r>
            <a:endParaRPr sz="9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6" name="矩形 35"/>
          <p:cNvSpPr>
            <a:spLocks noGrp="1"/>
          </p:cNvSpPr>
          <p:nvPr/>
        </p:nvSpPr>
        <p:spPr>
          <a:xfrm>
            <a:off x="6648450" y="4762500"/>
            <a:ext cx="1266825" cy="295275"/>
          </a:xfrm>
          <a:prstGeom prst="rect">
            <a:avLst/>
          </a:prstGeom>
          <a:noFill/>
          <a:ln w="0">
            <a:noFill/>
            <a:prstDash val="solid"/>
          </a:ln>
        </p:spPr>
        <p:txBody>
          <a:bodyPr wrap="square" lIns="0" tIns="0" rIns="0" bIns="0" anchor="ctr">
            <a:normAutofit/>
          </a:bodyPr>
          <a:lstStyle/>
          <a:p>
            <a:pPr algn="l">
              <a:lnSpc>
                <a:spcPct val="105000"/>
              </a:lnSpc>
              <a:buNone/>
              <a:defRPr sz="975" b="0">
                <a:solidFill>
                  <a:srgbClr val="314252"/>
                </a:solidFill>
                <a:latin typeface="微软雅黑" panose="020B0503020204020204" charset="-122"/>
                <a:ea typeface="微软雅黑" panose="020B0503020204020204" charset="-122"/>
                <a:cs typeface="微软雅黑" panose="020B0503020204020204" charset="-122"/>
              </a:defRPr>
            </a:pPr>
            <a:r>
              <a:rPr sz="975" b="0">
                <a:solidFill>
                  <a:srgbClr val="314252"/>
                </a:solidFill>
                <a:latin typeface="微软雅黑" panose="020B0503020204020204" charset="-122"/>
                <a:ea typeface="微软雅黑" panose="020B0503020204020204" charset="-122"/>
                <a:cs typeface="微软雅黑" panose="020B0503020204020204" charset="-122"/>
              </a:rPr>
              <a:t>−0.767766</a:t>
            </a:r>
            <a:endParaRPr sz="9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7" name="直接连接符 36"/>
          <p:cNvSpPr>
            <a:spLocks noGrp="1"/>
          </p:cNvSpPr>
          <p:nvPr/>
        </p:nvSpPr>
        <p:spPr>
          <a:xfrm>
            <a:off x="666750" y="5067300"/>
            <a:ext cx="7286625" cy="953"/>
          </a:xfrm>
          <a:prstGeom prst="line">
            <a:avLst/>
          </a:prstGeom>
          <a:noFill/>
          <a:ln w="9525">
            <a:solidFill>
              <a:srgbClr val="E6ECEF"/>
            </a:solidFill>
            <a:prstDash val="solid"/>
          </a:ln>
        </p:spPr>
      </p:sp>
      <p:sp>
        <p:nvSpPr>
          <p:cNvPr id="38" name="矩形 37"/>
          <p:cNvSpPr>
            <a:spLocks noGrp="1"/>
          </p:cNvSpPr>
          <p:nvPr/>
        </p:nvSpPr>
        <p:spPr>
          <a:xfrm>
            <a:off x="742950" y="5105400"/>
            <a:ext cx="2076450" cy="295275"/>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314252"/>
                </a:solidFill>
                <a:latin typeface="微软雅黑" panose="020B0503020204020204" charset="-122"/>
                <a:ea typeface="微软雅黑" panose="020B0503020204020204" charset="-122"/>
                <a:cs typeface="微软雅黑" panose="020B0503020204020204" charset="-122"/>
              </a:defRPr>
            </a:pPr>
            <a:r>
              <a:rPr sz="975" b="1">
                <a:solidFill>
                  <a:srgbClr val="314252"/>
                </a:solidFill>
                <a:latin typeface="微软雅黑" panose="020B0503020204020204" charset="-122"/>
                <a:ea typeface="微软雅黑" panose="020B0503020204020204" charset="-122"/>
                <a:cs typeface="微软雅黑" panose="020B0503020204020204" charset="-122"/>
              </a:rPr>
              <a:t>全量男装邮件</a:t>
            </a:r>
            <a:endParaRPr sz="975"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39" name="矩形 38"/>
          <p:cNvSpPr>
            <a:spLocks noGrp="1"/>
          </p:cNvSpPr>
          <p:nvPr/>
        </p:nvSpPr>
        <p:spPr>
          <a:xfrm>
            <a:off x="3028950" y="5105400"/>
            <a:ext cx="1314450" cy="295275"/>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314252"/>
                </a:solidFill>
                <a:latin typeface="微软雅黑" panose="020B0503020204020204" charset="-122"/>
                <a:ea typeface="微软雅黑" panose="020B0503020204020204" charset="-122"/>
                <a:cs typeface="微软雅黑" panose="020B0503020204020204" charset="-122"/>
              </a:defRPr>
            </a:pPr>
            <a:r>
              <a:rPr sz="975" b="1">
                <a:solidFill>
                  <a:srgbClr val="314252"/>
                </a:solidFill>
                <a:latin typeface="微软雅黑" panose="020B0503020204020204" charset="-122"/>
                <a:ea typeface="微软雅黑" panose="020B0503020204020204" charset="-122"/>
                <a:cs typeface="微软雅黑" panose="020B0503020204020204" charset="-122"/>
              </a:rPr>
              <a:t>1.424828</a:t>
            </a:r>
            <a:endParaRPr sz="975"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40" name="矩形 39"/>
          <p:cNvSpPr>
            <a:spLocks noGrp="1"/>
          </p:cNvSpPr>
          <p:nvPr/>
        </p:nvSpPr>
        <p:spPr>
          <a:xfrm>
            <a:off x="4552950" y="5105400"/>
            <a:ext cx="1885950" cy="295275"/>
          </a:xfrm>
          <a:prstGeom prst="rect">
            <a:avLst/>
          </a:prstGeom>
          <a:noFill/>
          <a:ln w="0">
            <a:noFill/>
            <a:prstDash val="solid"/>
          </a:ln>
        </p:spPr>
        <p:txBody>
          <a:bodyPr wrap="square" lIns="0" tIns="0" rIns="0" bIns="0" anchor="ctr">
            <a:normAutofit/>
          </a:bodyPr>
          <a:lstStyle/>
          <a:p>
            <a:pPr algn="l">
              <a:lnSpc>
                <a:spcPct val="105000"/>
              </a:lnSpc>
              <a:buNone/>
              <a:defRPr sz="975" b="0">
                <a:solidFill>
                  <a:srgbClr val="314252"/>
                </a:solidFill>
                <a:latin typeface="微软雅黑" panose="020B0503020204020204" charset="-122"/>
                <a:ea typeface="微软雅黑" panose="020B0503020204020204" charset="-122"/>
                <a:cs typeface="微软雅黑" panose="020B0503020204020204" charset="-122"/>
              </a:defRPr>
            </a:pPr>
            <a:r>
              <a:rPr sz="975" b="0">
                <a:solidFill>
                  <a:srgbClr val="314252"/>
                </a:solidFill>
                <a:latin typeface="微软雅黑" panose="020B0503020204020204" charset="-122"/>
                <a:ea typeface="微软雅黑" panose="020B0503020204020204" charset="-122"/>
                <a:cs typeface="微软雅黑" panose="020B0503020204020204" charset="-122"/>
              </a:rPr>
              <a:t>[1.209821, 1.667769]</a:t>
            </a:r>
            <a:endParaRPr sz="9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41" name="矩形 40"/>
          <p:cNvSpPr>
            <a:spLocks noGrp="1"/>
          </p:cNvSpPr>
          <p:nvPr/>
        </p:nvSpPr>
        <p:spPr>
          <a:xfrm>
            <a:off x="6648450" y="5105400"/>
            <a:ext cx="1266825" cy="295275"/>
          </a:xfrm>
          <a:prstGeom prst="rect">
            <a:avLst/>
          </a:prstGeom>
          <a:noFill/>
          <a:ln w="0">
            <a:noFill/>
            <a:prstDash val="solid"/>
          </a:ln>
        </p:spPr>
        <p:txBody>
          <a:bodyPr wrap="square" lIns="0" tIns="0" rIns="0" bIns="0" anchor="ctr">
            <a:normAutofit/>
          </a:bodyPr>
          <a:lstStyle/>
          <a:p>
            <a:pPr algn="l">
              <a:lnSpc>
                <a:spcPct val="105000"/>
              </a:lnSpc>
              <a:buNone/>
              <a:defRPr sz="975" b="0">
                <a:solidFill>
                  <a:srgbClr val="314252"/>
                </a:solidFill>
                <a:latin typeface="微软雅黑" panose="020B0503020204020204" charset="-122"/>
                <a:ea typeface="微软雅黑" panose="020B0503020204020204" charset="-122"/>
                <a:cs typeface="微软雅黑" panose="020B0503020204020204" charset="-122"/>
              </a:defRPr>
            </a:pPr>
            <a:r>
              <a:rPr sz="975" b="0">
                <a:solidFill>
                  <a:srgbClr val="314252"/>
                </a:solidFill>
                <a:latin typeface="微软雅黑" panose="020B0503020204020204" charset="-122"/>
                <a:ea typeface="微软雅黑" panose="020B0503020204020204" charset="-122"/>
                <a:cs typeface="微软雅黑" panose="020B0503020204020204" charset="-122"/>
              </a:rPr>
              <a:t>0</a:t>
            </a:r>
            <a:endParaRPr sz="9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42" name="直接连接符 41"/>
          <p:cNvSpPr>
            <a:spLocks noGrp="1"/>
          </p:cNvSpPr>
          <p:nvPr/>
        </p:nvSpPr>
        <p:spPr>
          <a:xfrm>
            <a:off x="666750" y="5410200"/>
            <a:ext cx="7286625" cy="953"/>
          </a:xfrm>
          <a:prstGeom prst="line">
            <a:avLst/>
          </a:prstGeom>
          <a:noFill/>
          <a:ln w="9525">
            <a:solidFill>
              <a:srgbClr val="E6ECEF"/>
            </a:solidFill>
            <a:prstDash val="solid"/>
          </a:ln>
        </p:spPr>
      </p:sp>
      <p:sp>
        <p:nvSpPr>
          <p:cNvPr id="43" name="矩形 42"/>
          <p:cNvSpPr>
            <a:spLocks noGrp="1"/>
          </p:cNvSpPr>
          <p:nvPr/>
        </p:nvSpPr>
        <p:spPr>
          <a:xfrm>
            <a:off x="742950" y="5448300"/>
            <a:ext cx="2076450" cy="295275"/>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314252"/>
                </a:solidFill>
                <a:latin typeface="微软雅黑" panose="020B0503020204020204" charset="-122"/>
                <a:ea typeface="微软雅黑" panose="020B0503020204020204" charset="-122"/>
                <a:cs typeface="微软雅黑" panose="020B0503020204020204" charset="-122"/>
              </a:defRPr>
            </a:pPr>
            <a:r>
              <a:rPr sz="975" b="1">
                <a:solidFill>
                  <a:srgbClr val="314252"/>
                </a:solidFill>
                <a:latin typeface="微软雅黑" panose="020B0503020204020204" charset="-122"/>
                <a:ea typeface="微软雅黑" panose="020B0503020204020204" charset="-122"/>
                <a:cs typeface="微软雅黑" panose="020B0503020204020204" charset="-122"/>
              </a:rPr>
              <a:t>全量女装邮件</a:t>
            </a:r>
            <a:endParaRPr sz="975"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44" name="矩形 43"/>
          <p:cNvSpPr>
            <a:spLocks noGrp="1"/>
          </p:cNvSpPr>
          <p:nvPr/>
        </p:nvSpPr>
        <p:spPr>
          <a:xfrm>
            <a:off x="3028950" y="5448300"/>
            <a:ext cx="1314450" cy="295275"/>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314252"/>
                </a:solidFill>
                <a:latin typeface="微软雅黑" panose="020B0503020204020204" charset="-122"/>
                <a:ea typeface="微软雅黑" panose="020B0503020204020204" charset="-122"/>
                <a:cs typeface="微软雅黑" panose="020B0503020204020204" charset="-122"/>
              </a:defRPr>
            </a:pPr>
            <a:r>
              <a:rPr sz="975" b="1">
                <a:solidFill>
                  <a:srgbClr val="314252"/>
                </a:solidFill>
                <a:latin typeface="微软雅黑" panose="020B0503020204020204" charset="-122"/>
                <a:ea typeface="微软雅黑" panose="020B0503020204020204" charset="-122"/>
                <a:cs typeface="微软雅黑" panose="020B0503020204020204" charset="-122"/>
              </a:rPr>
              <a:t>1.075808</a:t>
            </a:r>
            <a:endParaRPr sz="975"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45" name="矩形 44"/>
          <p:cNvSpPr>
            <a:spLocks noGrp="1"/>
          </p:cNvSpPr>
          <p:nvPr/>
        </p:nvSpPr>
        <p:spPr>
          <a:xfrm>
            <a:off x="4552950" y="5448300"/>
            <a:ext cx="1885950" cy="295275"/>
          </a:xfrm>
          <a:prstGeom prst="rect">
            <a:avLst/>
          </a:prstGeom>
          <a:noFill/>
          <a:ln w="0">
            <a:noFill/>
            <a:prstDash val="solid"/>
          </a:ln>
        </p:spPr>
        <p:txBody>
          <a:bodyPr wrap="square" lIns="0" tIns="0" rIns="0" bIns="0" anchor="ctr">
            <a:normAutofit/>
          </a:bodyPr>
          <a:lstStyle/>
          <a:p>
            <a:pPr algn="l">
              <a:lnSpc>
                <a:spcPct val="105000"/>
              </a:lnSpc>
              <a:buNone/>
              <a:defRPr sz="975" b="0">
                <a:solidFill>
                  <a:srgbClr val="314252"/>
                </a:solidFill>
                <a:latin typeface="微软雅黑" panose="020B0503020204020204" charset="-122"/>
                <a:ea typeface="微软雅黑" panose="020B0503020204020204" charset="-122"/>
                <a:cs typeface="微软雅黑" panose="020B0503020204020204" charset="-122"/>
              </a:defRPr>
            </a:pPr>
            <a:r>
              <a:rPr sz="975" b="0">
                <a:solidFill>
                  <a:srgbClr val="314252"/>
                </a:solidFill>
                <a:latin typeface="微软雅黑" panose="020B0503020204020204" charset="-122"/>
                <a:ea typeface="微软雅黑" panose="020B0503020204020204" charset="-122"/>
                <a:cs typeface="微软雅黑" panose="020B0503020204020204" charset="-122"/>
              </a:rPr>
              <a:t>[0.881352, 1.284452]</a:t>
            </a:r>
            <a:endParaRPr sz="9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46" name="矩形 45"/>
          <p:cNvSpPr>
            <a:spLocks noGrp="1"/>
          </p:cNvSpPr>
          <p:nvPr/>
        </p:nvSpPr>
        <p:spPr>
          <a:xfrm>
            <a:off x="6648450" y="5448300"/>
            <a:ext cx="1266825" cy="295275"/>
          </a:xfrm>
          <a:prstGeom prst="rect">
            <a:avLst/>
          </a:prstGeom>
          <a:noFill/>
          <a:ln w="0">
            <a:noFill/>
            <a:prstDash val="solid"/>
          </a:ln>
        </p:spPr>
        <p:txBody>
          <a:bodyPr wrap="square" lIns="0" tIns="0" rIns="0" bIns="0" anchor="ctr">
            <a:normAutofit/>
          </a:bodyPr>
          <a:lstStyle/>
          <a:p>
            <a:pPr algn="l">
              <a:lnSpc>
                <a:spcPct val="105000"/>
              </a:lnSpc>
              <a:buNone/>
              <a:defRPr sz="975" b="0">
                <a:solidFill>
                  <a:srgbClr val="314252"/>
                </a:solidFill>
                <a:latin typeface="微软雅黑" panose="020B0503020204020204" charset="-122"/>
                <a:ea typeface="微软雅黑" panose="020B0503020204020204" charset="-122"/>
                <a:cs typeface="微软雅黑" panose="020B0503020204020204" charset="-122"/>
              </a:defRPr>
            </a:pPr>
            <a:r>
              <a:rPr sz="975" b="0">
                <a:solidFill>
                  <a:srgbClr val="314252"/>
                </a:solidFill>
                <a:latin typeface="微软雅黑" panose="020B0503020204020204" charset="-122"/>
                <a:ea typeface="微软雅黑" panose="020B0503020204020204" charset="-122"/>
                <a:cs typeface="微软雅黑" panose="020B0503020204020204" charset="-122"/>
              </a:rPr>
              <a:t>−0.349020</a:t>
            </a:r>
            <a:endParaRPr sz="9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47" name="直接连接符 46"/>
          <p:cNvSpPr>
            <a:spLocks noGrp="1"/>
          </p:cNvSpPr>
          <p:nvPr/>
        </p:nvSpPr>
        <p:spPr>
          <a:xfrm>
            <a:off x="666750" y="5753100"/>
            <a:ext cx="7286625" cy="953"/>
          </a:xfrm>
          <a:prstGeom prst="line">
            <a:avLst/>
          </a:prstGeom>
          <a:noFill/>
          <a:ln w="9525">
            <a:solidFill>
              <a:srgbClr val="E6ECEF"/>
            </a:solidFill>
            <a:prstDash val="solid"/>
          </a:ln>
        </p:spPr>
      </p:sp>
      <p:sp>
        <p:nvSpPr>
          <p:cNvPr id="48" name="矩形 47"/>
          <p:cNvSpPr>
            <a:spLocks noGrp="1"/>
          </p:cNvSpPr>
          <p:nvPr/>
        </p:nvSpPr>
        <p:spPr>
          <a:xfrm>
            <a:off x="742950" y="5791200"/>
            <a:ext cx="2076450" cy="295275"/>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314252"/>
                </a:solidFill>
                <a:latin typeface="微软雅黑" panose="020B0503020204020204" charset="-122"/>
                <a:ea typeface="微软雅黑" panose="020B0503020204020204" charset="-122"/>
                <a:cs typeface="微软雅黑" panose="020B0503020204020204" charset="-122"/>
              </a:defRPr>
            </a:pPr>
            <a:r>
              <a:rPr sz="975" b="1">
                <a:solidFill>
                  <a:srgbClr val="314252"/>
                </a:solidFill>
                <a:latin typeface="微软雅黑" panose="020B0503020204020204" charset="-122"/>
                <a:ea typeface="微软雅黑" panose="020B0503020204020204" charset="-122"/>
                <a:cs typeface="微软雅黑" panose="020B0503020204020204" charset="-122"/>
              </a:rPr>
              <a:t>个性化双重稳健策略</a:t>
            </a:r>
            <a:endParaRPr sz="975"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49" name="矩形 48"/>
          <p:cNvSpPr>
            <a:spLocks noGrp="1"/>
          </p:cNvSpPr>
          <p:nvPr/>
        </p:nvSpPr>
        <p:spPr>
          <a:xfrm>
            <a:off x="3028950" y="5791200"/>
            <a:ext cx="1314450" cy="295275"/>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314252"/>
                </a:solidFill>
                <a:latin typeface="微软雅黑" panose="020B0503020204020204" charset="-122"/>
                <a:ea typeface="微软雅黑" panose="020B0503020204020204" charset="-122"/>
                <a:cs typeface="微软雅黑" panose="020B0503020204020204" charset="-122"/>
              </a:defRPr>
            </a:pPr>
            <a:r>
              <a:rPr sz="975" b="1">
                <a:solidFill>
                  <a:srgbClr val="314252"/>
                </a:solidFill>
                <a:latin typeface="微软雅黑" panose="020B0503020204020204" charset="-122"/>
                <a:ea typeface="微软雅黑" panose="020B0503020204020204" charset="-122"/>
                <a:cs typeface="微软雅黑" panose="020B0503020204020204" charset="-122"/>
              </a:rPr>
              <a:t>1.346358</a:t>
            </a:r>
            <a:endParaRPr sz="975" b="1">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50" name="矩形 49"/>
          <p:cNvSpPr>
            <a:spLocks noGrp="1"/>
          </p:cNvSpPr>
          <p:nvPr/>
        </p:nvSpPr>
        <p:spPr>
          <a:xfrm>
            <a:off x="4552950" y="5791200"/>
            <a:ext cx="1885950" cy="295275"/>
          </a:xfrm>
          <a:prstGeom prst="rect">
            <a:avLst/>
          </a:prstGeom>
          <a:noFill/>
          <a:ln w="0">
            <a:noFill/>
            <a:prstDash val="solid"/>
          </a:ln>
        </p:spPr>
        <p:txBody>
          <a:bodyPr wrap="square" lIns="0" tIns="0" rIns="0" bIns="0" anchor="ctr">
            <a:normAutofit/>
          </a:bodyPr>
          <a:lstStyle/>
          <a:p>
            <a:pPr algn="l">
              <a:lnSpc>
                <a:spcPct val="105000"/>
              </a:lnSpc>
              <a:buNone/>
              <a:defRPr sz="975" b="0">
                <a:solidFill>
                  <a:srgbClr val="314252"/>
                </a:solidFill>
                <a:latin typeface="微软雅黑" panose="020B0503020204020204" charset="-122"/>
                <a:ea typeface="微软雅黑" panose="020B0503020204020204" charset="-122"/>
                <a:cs typeface="微软雅黑" panose="020B0503020204020204" charset="-122"/>
              </a:defRPr>
            </a:pPr>
            <a:r>
              <a:rPr sz="975" b="0">
                <a:solidFill>
                  <a:srgbClr val="314252"/>
                </a:solidFill>
                <a:latin typeface="微软雅黑" panose="020B0503020204020204" charset="-122"/>
                <a:ea typeface="微软雅黑" panose="020B0503020204020204" charset="-122"/>
                <a:cs typeface="微软雅黑" panose="020B0503020204020204" charset="-122"/>
              </a:rPr>
              <a:t>[1.124719, 1.585042]</a:t>
            </a:r>
            <a:endParaRPr sz="975"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51" name="矩形 50"/>
          <p:cNvSpPr>
            <a:spLocks noGrp="1"/>
          </p:cNvSpPr>
          <p:nvPr/>
        </p:nvSpPr>
        <p:spPr>
          <a:xfrm>
            <a:off x="6648450" y="5791200"/>
            <a:ext cx="1266825" cy="295275"/>
          </a:xfrm>
          <a:prstGeom prst="rect">
            <a:avLst/>
          </a:prstGeom>
          <a:noFill/>
          <a:ln w="0">
            <a:noFill/>
            <a:prstDash val="solid"/>
          </a:ln>
        </p:spPr>
        <p:txBody>
          <a:bodyPr wrap="square" lIns="0" tIns="0" rIns="0" bIns="0" anchor="ctr">
            <a:normAutofit/>
          </a:bodyPr>
          <a:lstStyle/>
          <a:p>
            <a:pPr algn="l">
              <a:lnSpc>
                <a:spcPct val="105000"/>
              </a:lnSpc>
              <a:buNone/>
              <a:defRPr sz="975" b="1">
                <a:solidFill>
                  <a:srgbClr val="EF6A5B"/>
                </a:solidFill>
                <a:latin typeface="微软雅黑" panose="020B0503020204020204" charset="-122"/>
                <a:ea typeface="微软雅黑" panose="020B0503020204020204" charset="-122"/>
                <a:cs typeface="微软雅黑" panose="020B0503020204020204" charset="-122"/>
              </a:defRPr>
            </a:pPr>
            <a:r>
              <a:rPr sz="975" b="1">
                <a:solidFill>
                  <a:srgbClr val="EF6A5B"/>
                </a:solidFill>
                <a:latin typeface="微软雅黑" panose="020B0503020204020204" charset="-122"/>
                <a:ea typeface="微软雅黑" panose="020B0503020204020204" charset="-122"/>
                <a:cs typeface="微软雅黑" panose="020B0503020204020204" charset="-122"/>
              </a:rPr>
              <a:t>−0.078470</a:t>
            </a:r>
            <a:endParaRPr sz="975" b="1">
              <a:solidFill>
                <a:srgbClr val="EF6A5B"/>
              </a:solidFill>
              <a:latin typeface="微软雅黑" panose="020B0503020204020204" charset="-122"/>
              <a:ea typeface="微软雅黑" panose="020B0503020204020204" charset="-122"/>
              <a:cs typeface="微软雅黑" panose="020B0503020204020204" charset="-122"/>
            </a:endParaRPr>
          </a:p>
        </p:txBody>
      </p:sp>
      <p:sp>
        <p:nvSpPr>
          <p:cNvPr id="52" name="直接连接符 51"/>
          <p:cNvSpPr>
            <a:spLocks noGrp="1"/>
          </p:cNvSpPr>
          <p:nvPr/>
        </p:nvSpPr>
        <p:spPr>
          <a:xfrm>
            <a:off x="666750" y="6096000"/>
            <a:ext cx="7286625" cy="953"/>
          </a:xfrm>
          <a:prstGeom prst="line">
            <a:avLst/>
          </a:prstGeom>
          <a:noFill/>
          <a:ln w="9525">
            <a:solidFill>
              <a:srgbClr val="E6ECEF"/>
            </a:solidFill>
            <a:prstDash val="solid"/>
          </a:ln>
        </p:spPr>
      </p:sp>
      <p:sp>
        <p:nvSpPr>
          <p:cNvPr id="53" name="圆角矩形 52"/>
          <p:cNvSpPr>
            <a:spLocks noGrp="1"/>
          </p:cNvSpPr>
          <p:nvPr/>
        </p:nvSpPr>
        <p:spPr>
          <a:xfrm>
            <a:off x="8420100" y="1609725"/>
            <a:ext cx="3067050" cy="4238625"/>
          </a:xfrm>
          <a:prstGeom prst="roundRect">
            <a:avLst>
              <a:gd name="adj" fmla="val 3727"/>
            </a:avLst>
          </a:prstGeom>
          <a:solidFill>
            <a:srgbClr val="F4F7F8"/>
          </a:solidFill>
          <a:ln w="0">
            <a:noFill/>
            <a:prstDash val="solid"/>
          </a:ln>
        </p:spPr>
      </p:sp>
      <p:sp>
        <p:nvSpPr>
          <p:cNvPr id="54" name="矩形 53"/>
          <p:cNvSpPr>
            <a:spLocks noGrp="1"/>
          </p:cNvSpPr>
          <p:nvPr/>
        </p:nvSpPr>
        <p:spPr>
          <a:xfrm>
            <a:off x="8667750" y="1847850"/>
            <a:ext cx="2571750" cy="285750"/>
          </a:xfrm>
          <a:prstGeom prst="rect">
            <a:avLst/>
          </a:prstGeom>
          <a:noFill/>
          <a:ln w="0">
            <a:noFill/>
            <a:prstDash val="solid"/>
          </a:ln>
        </p:spPr>
        <p:txBody>
          <a:bodyPr wrap="square" lIns="0" tIns="0" rIns="0" bIns="0" anchor="t">
            <a:normAutofit/>
          </a:bodyPr>
          <a:lstStyle/>
          <a:p>
            <a:pPr algn="l">
              <a:lnSpc>
                <a:spcPct val="105000"/>
              </a:lnSpc>
              <a:buNone/>
              <a:defRPr sz="1575" b="1">
                <a:solidFill>
                  <a:srgbClr val="0B1F33"/>
                </a:solidFill>
                <a:latin typeface="微软雅黑" panose="020B0503020204020204" charset="-122"/>
                <a:ea typeface="微软雅黑" panose="020B0503020204020204" charset="-122"/>
                <a:cs typeface="微软雅黑" panose="020B0503020204020204" charset="-122"/>
              </a:defRPr>
            </a:pPr>
            <a:r>
              <a:rPr sz="1575" b="1">
                <a:solidFill>
                  <a:srgbClr val="0B1F33"/>
                </a:solidFill>
                <a:latin typeface="微软雅黑" panose="020B0503020204020204" charset="-122"/>
                <a:ea typeface="微软雅黑" panose="020B0503020204020204" charset="-122"/>
                <a:cs typeface="微软雅黑" panose="020B0503020204020204" charset="-122"/>
              </a:rPr>
              <a:t>解读规则</a:t>
            </a:r>
            <a:endParaRPr sz="1575" b="1">
              <a:solidFill>
                <a:srgbClr val="0B1F33"/>
              </a:solidFill>
              <a:latin typeface="微软雅黑" panose="020B0503020204020204" charset="-122"/>
              <a:ea typeface="微软雅黑" panose="020B0503020204020204" charset="-122"/>
              <a:cs typeface="微软雅黑" panose="020B0503020204020204" charset="-122"/>
            </a:endParaRPr>
          </a:p>
        </p:txBody>
      </p:sp>
      <p:sp>
        <p:nvSpPr>
          <p:cNvPr id="55" name="椭圆 54"/>
          <p:cNvSpPr>
            <a:spLocks noGrp="1"/>
          </p:cNvSpPr>
          <p:nvPr/>
        </p:nvSpPr>
        <p:spPr>
          <a:xfrm>
            <a:off x="8696325" y="2457450"/>
            <a:ext cx="76200" cy="76200"/>
          </a:xfrm>
          <a:prstGeom prst="ellipse">
            <a:avLst/>
          </a:prstGeom>
          <a:solidFill>
            <a:srgbClr val="00A6A6"/>
          </a:solidFill>
          <a:ln w="0">
            <a:noFill/>
            <a:prstDash val="solid"/>
          </a:ln>
        </p:spPr>
      </p:sp>
      <p:sp>
        <p:nvSpPr>
          <p:cNvPr id="56" name="矩形 55"/>
          <p:cNvSpPr>
            <a:spLocks noGrp="1"/>
          </p:cNvSpPr>
          <p:nvPr/>
        </p:nvSpPr>
        <p:spPr>
          <a:xfrm>
            <a:off x="8896350" y="2381250"/>
            <a:ext cx="2343150" cy="228600"/>
          </a:xfrm>
          <a:prstGeom prst="rect">
            <a:avLst/>
          </a:prstGeom>
          <a:noFill/>
          <a:ln w="0">
            <a:noFill/>
            <a:prstDash val="solid"/>
          </a:ln>
        </p:spPr>
        <p:txBody>
          <a:bodyPr wrap="square" lIns="0" tIns="0" rIns="0" bIns="0" anchor="t">
            <a:normAutofit/>
          </a:bodyPr>
          <a:lstStyle/>
          <a:p>
            <a:pPr algn="l">
              <a:lnSpc>
                <a:spcPct val="105000"/>
              </a:lnSpc>
              <a:buNone/>
              <a:defRPr sz="1350" b="1">
                <a:solidFill>
                  <a:srgbClr val="17222E"/>
                </a:solidFill>
                <a:latin typeface="微软雅黑" panose="020B0503020204020204" charset="-122"/>
                <a:ea typeface="微软雅黑" panose="020B0503020204020204" charset="-122"/>
                <a:cs typeface="微软雅黑" panose="020B0503020204020204" charset="-122"/>
              </a:defRPr>
            </a:pPr>
            <a:r>
              <a:rPr sz="1350" b="1">
                <a:solidFill>
                  <a:srgbClr val="17222E"/>
                </a:solidFill>
                <a:latin typeface="微软雅黑" panose="020B0503020204020204" charset="-122"/>
                <a:ea typeface="微软雅黑" panose="020B0503020204020204" charset="-122"/>
                <a:cs typeface="微软雅黑" panose="020B0503020204020204" charset="-122"/>
              </a:rPr>
              <a:t>消费金额是主要指标</a:t>
            </a:r>
            <a:endParaRPr sz="135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57" name="矩形 56"/>
          <p:cNvSpPr>
            <a:spLocks noGrp="1"/>
          </p:cNvSpPr>
          <p:nvPr/>
        </p:nvSpPr>
        <p:spPr>
          <a:xfrm>
            <a:off x="8896350" y="2638425"/>
            <a:ext cx="2343150" cy="523875"/>
          </a:xfrm>
          <a:prstGeom prst="rect">
            <a:avLst/>
          </a:prstGeom>
          <a:noFill/>
          <a:ln w="0">
            <a:noFill/>
            <a:prstDash val="solid"/>
          </a:ln>
        </p:spPr>
        <p:txBody>
          <a:bodyPr wrap="square" lIns="0" tIns="0" rIns="0" bIns="0" anchor="t">
            <a:normAutofit/>
          </a:bodyPr>
          <a:lstStyle/>
          <a:p>
            <a:pPr algn="l">
              <a:lnSpc>
                <a:spcPct val="112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所有数值均为意向处理口径下的每名随机客户结果。</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58" name="椭圆 57"/>
          <p:cNvSpPr>
            <a:spLocks noGrp="1"/>
          </p:cNvSpPr>
          <p:nvPr/>
        </p:nvSpPr>
        <p:spPr>
          <a:xfrm>
            <a:off x="8696325" y="3352800"/>
            <a:ext cx="76200" cy="76200"/>
          </a:xfrm>
          <a:prstGeom prst="ellipse">
            <a:avLst/>
          </a:prstGeom>
          <a:solidFill>
            <a:srgbClr val="EF6A5B"/>
          </a:solidFill>
          <a:ln w="0">
            <a:noFill/>
            <a:prstDash val="solid"/>
          </a:ln>
        </p:spPr>
      </p:sp>
      <p:sp>
        <p:nvSpPr>
          <p:cNvPr id="59" name="矩形 58"/>
          <p:cNvSpPr>
            <a:spLocks noGrp="1"/>
          </p:cNvSpPr>
          <p:nvPr/>
        </p:nvSpPr>
        <p:spPr>
          <a:xfrm>
            <a:off x="8896350" y="3276600"/>
            <a:ext cx="2343150" cy="228600"/>
          </a:xfrm>
          <a:prstGeom prst="rect">
            <a:avLst/>
          </a:prstGeom>
          <a:noFill/>
          <a:ln w="0">
            <a:noFill/>
            <a:prstDash val="solid"/>
          </a:ln>
        </p:spPr>
        <p:txBody>
          <a:bodyPr wrap="square" lIns="0" tIns="0" rIns="0" bIns="0" anchor="t">
            <a:normAutofit/>
          </a:bodyPr>
          <a:lstStyle/>
          <a:p>
            <a:pPr algn="l">
              <a:lnSpc>
                <a:spcPct val="105000"/>
              </a:lnSpc>
              <a:buNone/>
              <a:defRPr sz="1350" b="1">
                <a:solidFill>
                  <a:srgbClr val="17222E"/>
                </a:solidFill>
                <a:latin typeface="微软雅黑" panose="020B0503020204020204" charset="-122"/>
                <a:ea typeface="微软雅黑" panose="020B0503020204020204" charset="-122"/>
                <a:cs typeface="微软雅黑" panose="020B0503020204020204" charset="-122"/>
              </a:defRPr>
            </a:pPr>
            <a:r>
              <a:rPr sz="1350" b="1">
                <a:solidFill>
                  <a:srgbClr val="17222E"/>
                </a:solidFill>
                <a:latin typeface="微软雅黑" panose="020B0503020204020204" charset="-122"/>
                <a:ea typeface="微软雅黑" panose="020B0503020204020204" charset="-122"/>
                <a:cs typeface="微软雅黑" panose="020B0503020204020204" charset="-122"/>
              </a:rPr>
              <a:t>严格稳健性检验不可忽略</a:t>
            </a:r>
            <a:endParaRPr sz="135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60" name="矩形 59"/>
          <p:cNvSpPr>
            <a:spLocks noGrp="1"/>
          </p:cNvSpPr>
          <p:nvPr/>
        </p:nvSpPr>
        <p:spPr>
          <a:xfrm>
            <a:off x="8896350" y="3533775"/>
            <a:ext cx="2343150" cy="619125"/>
          </a:xfrm>
          <a:prstGeom prst="rect">
            <a:avLst/>
          </a:prstGeom>
          <a:noFill/>
          <a:ln w="0">
            <a:noFill/>
            <a:prstDash val="solid"/>
          </a:ln>
        </p:spPr>
        <p:txBody>
          <a:bodyPr wrap="square" lIns="0" tIns="0" rIns="0" bIns="0" anchor="t">
            <a:normAutofit/>
          </a:bodyPr>
          <a:lstStyle/>
          <a:p>
            <a:pPr algn="l">
              <a:lnSpc>
                <a:spcPct val="112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男装邮件与女装邮件的优劣不能定论，因为严格置换检验显著性概率为 0.0811。</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61" name="椭圆 60"/>
          <p:cNvSpPr>
            <a:spLocks noGrp="1"/>
          </p:cNvSpPr>
          <p:nvPr/>
        </p:nvSpPr>
        <p:spPr>
          <a:xfrm>
            <a:off x="8696325" y="4371975"/>
            <a:ext cx="76200" cy="76200"/>
          </a:xfrm>
          <a:prstGeom prst="ellipse">
            <a:avLst/>
          </a:prstGeom>
          <a:solidFill>
            <a:srgbClr val="173A5E"/>
          </a:solidFill>
          <a:ln w="0">
            <a:noFill/>
            <a:prstDash val="solid"/>
          </a:ln>
        </p:spPr>
      </p:sp>
      <p:sp>
        <p:nvSpPr>
          <p:cNvPr id="62" name="矩形 61"/>
          <p:cNvSpPr>
            <a:spLocks noGrp="1"/>
          </p:cNvSpPr>
          <p:nvPr/>
        </p:nvSpPr>
        <p:spPr>
          <a:xfrm>
            <a:off x="8896350" y="4295775"/>
            <a:ext cx="2343150" cy="228600"/>
          </a:xfrm>
          <a:prstGeom prst="rect">
            <a:avLst/>
          </a:prstGeom>
          <a:noFill/>
          <a:ln w="0">
            <a:noFill/>
            <a:prstDash val="solid"/>
          </a:ln>
        </p:spPr>
        <p:txBody>
          <a:bodyPr wrap="square" lIns="0" tIns="0" rIns="0" bIns="0" anchor="t">
            <a:normAutofit/>
          </a:bodyPr>
          <a:lstStyle/>
          <a:p>
            <a:pPr algn="l">
              <a:lnSpc>
                <a:spcPct val="105000"/>
              </a:lnSpc>
              <a:buNone/>
              <a:defRPr sz="1350" b="1">
                <a:solidFill>
                  <a:srgbClr val="17222E"/>
                </a:solidFill>
                <a:latin typeface="微软雅黑" panose="020B0503020204020204" charset="-122"/>
                <a:ea typeface="微软雅黑" panose="020B0503020204020204" charset="-122"/>
                <a:cs typeface="微软雅黑" panose="020B0503020204020204" charset="-122"/>
              </a:defRPr>
            </a:pPr>
            <a:r>
              <a:rPr sz="1350" b="1">
                <a:solidFill>
                  <a:srgbClr val="17222E"/>
                </a:solidFill>
                <a:latin typeface="微软雅黑" panose="020B0503020204020204" charset="-122"/>
                <a:ea typeface="微软雅黑" panose="020B0503020204020204" charset="-122"/>
                <a:cs typeface="微软雅黑" panose="020B0503020204020204" charset="-122"/>
              </a:rPr>
              <a:t>策略价值并非投资回报率</a:t>
            </a:r>
            <a:endParaRPr sz="1350" b="1">
              <a:solidFill>
                <a:srgbClr val="17222E"/>
              </a:solidFill>
              <a:latin typeface="微软雅黑" panose="020B0503020204020204" charset="-122"/>
              <a:ea typeface="微软雅黑" panose="020B0503020204020204" charset="-122"/>
              <a:cs typeface="微软雅黑" panose="020B0503020204020204" charset="-122"/>
            </a:endParaRPr>
          </a:p>
        </p:txBody>
      </p:sp>
      <p:sp>
        <p:nvSpPr>
          <p:cNvPr id="63" name="矩形 62"/>
          <p:cNvSpPr>
            <a:spLocks noGrp="1"/>
          </p:cNvSpPr>
          <p:nvPr/>
        </p:nvSpPr>
        <p:spPr>
          <a:xfrm>
            <a:off x="8896350" y="4552950"/>
            <a:ext cx="2343150" cy="742950"/>
          </a:xfrm>
          <a:prstGeom prst="rect">
            <a:avLst/>
          </a:prstGeom>
          <a:noFill/>
          <a:ln w="0">
            <a:noFill/>
            <a:prstDash val="solid"/>
          </a:ln>
        </p:spPr>
        <p:txBody>
          <a:bodyPr wrap="square" lIns="0" tIns="0" rIns="0" bIns="0" anchor="t">
            <a:normAutofit/>
          </a:bodyPr>
          <a:lstStyle/>
          <a:p>
            <a:pPr algn="l">
              <a:lnSpc>
                <a:spcPct val="112000"/>
              </a:lnSpc>
              <a:buNone/>
              <a:defRPr sz="1200" b="0">
                <a:solidFill>
                  <a:srgbClr val="314252"/>
                </a:solidFill>
                <a:latin typeface="微软雅黑" panose="020B0503020204020204" charset="-122"/>
                <a:ea typeface="微软雅黑" panose="020B0503020204020204" charset="-122"/>
                <a:cs typeface="微软雅黑" panose="020B0503020204020204" charset="-122"/>
              </a:defRPr>
            </a:pPr>
            <a:r>
              <a:rPr sz="1200" b="0">
                <a:solidFill>
                  <a:srgbClr val="314252"/>
                </a:solidFill>
                <a:latin typeface="微软雅黑" panose="020B0503020204020204" charset="-122"/>
                <a:ea typeface="微软雅黑" panose="020B0503020204020204" charset="-122"/>
                <a:cs typeface="微软雅黑" panose="020B0503020204020204" charset="-122"/>
              </a:rPr>
              <a:t>增广逆概率加权估计预期消费金额；成本情景基于假设，并非利润核算。</a:t>
            </a:r>
            <a:endParaRPr sz="1200" b="0">
              <a:solidFill>
                <a:srgbClr val="314252"/>
              </a:solidFill>
              <a:latin typeface="微软雅黑" panose="020B0503020204020204" charset="-122"/>
              <a:ea typeface="微软雅黑" panose="020B0503020204020204" charset="-122"/>
              <a:cs typeface="微软雅黑" panose="020B0503020204020204" charset="-122"/>
            </a:endParaRPr>
          </a:p>
        </p:txBody>
      </p:sp>
      <p:sp>
        <p:nvSpPr>
          <p:cNvPr id="64" name="矩形 63"/>
          <p:cNvSpPr>
            <a:spLocks noGrp="1"/>
          </p:cNvSpPr>
          <p:nvPr/>
        </p:nvSpPr>
        <p:spPr>
          <a:xfrm>
            <a:off x="8667750" y="5314950"/>
            <a:ext cx="2571750" cy="514350"/>
          </a:xfrm>
          <a:prstGeom prst="rect">
            <a:avLst/>
          </a:prstGeom>
          <a:noFill/>
          <a:ln w="0">
            <a:noFill/>
            <a:prstDash val="solid"/>
          </a:ln>
        </p:spPr>
        <p:txBody>
          <a:bodyPr wrap="square" lIns="0" tIns="0" rIns="0" bIns="0" anchor="t">
            <a:normAutofit fontScale="97018"/>
          </a:bodyPr>
          <a:lstStyle/>
          <a:p>
            <a:pPr algn="l">
              <a:lnSpc>
                <a:spcPct val="105000"/>
              </a:lnSpc>
              <a:buNone/>
              <a:defRPr sz="1050" b="1">
                <a:solidFill>
                  <a:srgbClr val="EF6A5B"/>
                </a:solidFill>
                <a:latin typeface="微软雅黑" panose="020B0503020204020204" charset="-122"/>
                <a:ea typeface="微软雅黑" panose="020B0503020204020204" charset="-122"/>
                <a:cs typeface="微软雅黑" panose="020B0503020204020204" charset="-122"/>
              </a:defRPr>
            </a:pPr>
            <a:r>
              <a:rPr sz="1050" b="1">
                <a:solidFill>
                  <a:srgbClr val="EF6A5B"/>
                </a:solidFill>
                <a:latin typeface="微软雅黑" panose="020B0503020204020204" charset="-122"/>
                <a:ea typeface="微软雅黑" panose="020B0503020204020204" charset="-122"/>
                <a:cs typeface="微软雅黑" panose="020B0503020204020204" charset="-122"/>
              </a:rPr>
              <a:t>个性化策略相对全量男装邮件的配对自助法：</a:t>
            </a:r>
            <a:endParaRPr sz="1050" b="1">
              <a:solidFill>
                <a:srgbClr val="EF6A5B"/>
              </a:solidFill>
              <a:latin typeface="微软雅黑" panose="020B0503020204020204" charset="-122"/>
              <a:ea typeface="微软雅黑" panose="020B0503020204020204" charset="-122"/>
              <a:cs typeface="微软雅黑" panose="020B0503020204020204" charset="-122"/>
            </a:endParaRPr>
          </a:p>
          <a:p>
            <a:pPr algn="l">
              <a:lnSpc>
                <a:spcPct val="105000"/>
              </a:lnSpc>
              <a:buNone/>
              <a:defRPr sz="1050" b="1">
                <a:solidFill>
                  <a:srgbClr val="EF6A5B"/>
                </a:solidFill>
                <a:latin typeface="微软雅黑" panose="020B0503020204020204" charset="-122"/>
                <a:ea typeface="微软雅黑" panose="020B0503020204020204" charset="-122"/>
                <a:cs typeface="微软雅黑" panose="020B0503020204020204" charset="-122"/>
              </a:defRPr>
            </a:pPr>
            <a:r>
              <a:rPr sz="1050" b="1">
                <a:solidFill>
                  <a:srgbClr val="EF6A5B"/>
                </a:solidFill>
                <a:latin typeface="微软雅黑" panose="020B0503020204020204" charset="-122"/>
                <a:ea typeface="微软雅黑" panose="020B0503020204020204" charset="-122"/>
                <a:cs typeface="微软雅黑" panose="020B0503020204020204" charset="-122"/>
              </a:rPr>
              <a:t>−0.078470 [−0.204182, 0.047177]，显著性概率 = 0.2239</a:t>
            </a:r>
            <a:endParaRPr sz="1050" b="1">
              <a:solidFill>
                <a:srgbClr val="EF6A5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3839</Words>
  <Application>WPS 演示</Application>
  <PresentationFormat>Converted Presentation</PresentationFormat>
  <Paragraphs>595</Paragraphs>
  <Slides>12</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12</vt:i4>
      </vt:variant>
    </vt:vector>
  </HeadingPairs>
  <TitlesOfParts>
    <vt:vector size="19" baseType="lpstr">
      <vt:lpstr>Arial</vt:lpstr>
      <vt:lpstr>宋体</vt:lpstr>
      <vt:lpstr>Wingdings</vt:lpstr>
      <vt:lpstr>微软雅黑</vt:lpstr>
      <vt:lpstr>Arial Unicode MS</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Dante</cp:lastModifiedBy>
  <cp:revision>1</cp:revision>
  <dcterms:created xsi:type="dcterms:W3CDTF">2026-09-02T11:53:48Z</dcterms:created>
  <dcterms:modified xsi:type="dcterms:W3CDTF">2026-09-02T11:53:48Z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51C9F5EF9A944FEFB09C44DD09920616_12</vt:lpwstr>
  </property>
  <property fmtid="{D5CDD505-2E9C-101B-9397-08002B2CF9AE}" pid="3" name="KSOProductBuildVer">
    <vt:lpwstr>2052-12.1.0.28043</vt:lpwstr>
  </property>
</Properties>
</file>