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人均消费金额</c:f>
              <c:strCache>
                <c:ptCount val="1"/>
                <c:pt idx="0">
                  <c:v>人均消费金额</c:v>
                </c:pt>
              </c:strCache>
            </c:strRef>
          </c:tx>
          <c:spPr>
            <a:solidFill>
              <a:srgbClr val="00A6A6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B7B88"/>
              </a:solidFill>
            </c:spPr>
            <c:extLst>
              <c:ext xmlns:c16="http://schemas.microsoft.com/office/drawing/2014/chart" uri="{C3380CC4-5D6E-409C-BE32-E72D297353CC}">
                <c16:uniqueId val="{00000001-21D5-4E52-84EB-A3690C56C49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1D5-4E52-84EB-A3690C56C49D}"/>
              </c:ext>
            </c:extLst>
          </c:dPt>
          <c:dPt>
            <c:idx val="2"/>
            <c:invertIfNegative val="0"/>
            <c:bubble3D val="0"/>
            <c:spPr>
              <a:solidFill>
                <a:srgbClr val="173A5E"/>
              </a:solidFill>
            </c:spPr>
            <c:extLst>
              <c:ext xmlns:c16="http://schemas.microsoft.com/office/drawing/2014/chart" uri="{C3380CC4-5D6E-409C-BE32-E72D297353CC}">
                <c16:uniqueId val="{00000005-21D5-4E52-84EB-A3690C56C49D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{"不发邮件","男装邮件","女装邮件"}</c:f>
              <c:strCache>
                <c:ptCount val="3"/>
                <c:pt idx="0">
                  <c:v>不发邮件</c:v>
                </c:pt>
                <c:pt idx="1">
                  <c:v>男装邮件</c:v>
                </c:pt>
                <c:pt idx="2">
                  <c:v>女装邮件</c:v>
                </c:pt>
              </c:strCache>
            </c:strRef>
          </c:cat>
          <c:val>
            <c:numRef>
              <c:f>{0.6527893551,1.422616511,1.077201571}</c:f>
              <c:numCache>
                <c:formatCode>0.000</c:formatCode>
                <c:ptCount val="3"/>
                <c:pt idx="0">
                  <c:v>0.65278935510000002</c:v>
                </c:pt>
                <c:pt idx="1">
                  <c:v>1.422616511</c:v>
                </c:pt>
                <c:pt idx="2">
                  <c:v>1.077201571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21D5-4E52-84EB-A3690C56C4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ECEF"/>
            </a:solidFill>
            <a:prstDash val="solid"/>
          </a:ln>
        </c:spPr>
        <c:txPr>
          <a:bodyPr rot="-60000000" spcFirstLastPara="0" vert="horz" wrap="square" anchor="ctr" anchorCtr="1"/>
          <a:lstStyle/>
          <a:p>
            <a:pPr>
              <a:defRPr sz="1050" b="0" i="0" u="none">
                <a:solidFill>
                  <a:srgbClr val="314252"/>
                </a:solidFill>
                <a:latin typeface="+mn-lt"/>
                <a:ea typeface="+mn-lt"/>
                <a:cs typeface="+mn-lt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w="9525">
              <a:solidFill>
                <a:srgbClr val="E6EC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E6ECEF"/>
            </a:solidFill>
            <a:prstDash val="solid"/>
          </a:ln>
        </c:spPr>
        <c:txPr>
          <a:bodyPr rot="-60000000" vert="horz" anchor="ctr" anchorCtr="1"/>
          <a:lstStyle/>
          <a:p>
            <a:pPr>
              <a:defRPr sz="900" b="0" i="0" u="none">
                <a:solidFill>
                  <a:srgbClr val="6B7B88"/>
                </a:solidFill>
                <a:latin typeface="+mn-lt"/>
                <a:ea typeface="+mn-lt"/>
                <a:cs typeface="+mn-lt"/>
              </a:defRPr>
            </a:pPr>
            <a:endParaRPr lang="zh-CN"/>
          </a:p>
        </c:txPr>
        <c:crossAx val="48650112"/>
        <c:crosses val="autoZero"/>
        <c:crossBetween val="between"/>
        <c:majorUnit val="0.4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增广逆概率加权策略价值</c:f>
              <c:strCache>
                <c:ptCount val="1"/>
                <c:pt idx="0">
                  <c:v>增广逆概率加权策略价值</c:v>
                </c:pt>
              </c:strCache>
            </c:strRef>
          </c:tx>
          <c:spPr>
            <a:solidFill>
              <a:srgbClr val="00A6A6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6B7B88"/>
              </a:solidFill>
            </c:spPr>
            <c:extLst>
              <c:ext xmlns:c16="http://schemas.microsoft.com/office/drawing/2014/chart" uri="{C3380CC4-5D6E-409C-BE32-E72D297353CC}">
                <c16:uniqueId val="{00000001-5117-4727-ADA0-8D3165294DA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117-4727-ADA0-8D3165294DAD}"/>
              </c:ext>
            </c:extLst>
          </c:dPt>
          <c:dPt>
            <c:idx val="2"/>
            <c:invertIfNegative val="0"/>
            <c:bubble3D val="0"/>
            <c:spPr>
              <a:solidFill>
                <a:srgbClr val="173A5E"/>
              </a:solidFill>
            </c:spPr>
            <c:extLst>
              <c:ext xmlns:c16="http://schemas.microsoft.com/office/drawing/2014/chart" uri="{C3380CC4-5D6E-409C-BE32-E72D297353CC}">
                <c16:uniqueId val="{00000005-5117-4727-ADA0-8D3165294DAD}"/>
              </c:ext>
            </c:extLst>
          </c:dPt>
          <c:dPt>
            <c:idx val="3"/>
            <c:invertIfNegative val="0"/>
            <c:bubble3D val="0"/>
            <c:spPr>
              <a:solidFill>
                <a:srgbClr val="EF6A5B"/>
              </a:solidFill>
            </c:spPr>
            <c:extLst>
              <c:ext xmlns:c16="http://schemas.microsoft.com/office/drawing/2014/chart" uri="{C3380CC4-5D6E-409C-BE32-E72D297353CC}">
                <c16:uniqueId val="{00000007-5117-4727-ADA0-8D3165294DAD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{"全量不发邮件","全量男装邮件","全量女装邮件","个性化双重稳健策略"}</c:f>
              <c:strCache>
                <c:ptCount val="4"/>
                <c:pt idx="0">
                  <c:v>全量不发邮件</c:v>
                </c:pt>
                <c:pt idx="1">
                  <c:v>全量男装邮件</c:v>
                </c:pt>
                <c:pt idx="2">
                  <c:v>全量女装邮件</c:v>
                </c:pt>
                <c:pt idx="3">
                  <c:v>个性化双重稳健策略</c:v>
                </c:pt>
              </c:strCache>
            </c:strRef>
          </c:cat>
          <c:val>
            <c:numRef>
              <c:f>{0.6570620492,1.4248277796,1.075808089,1.3463578305}</c:f>
              <c:numCache>
                <c:formatCode>0.000</c:formatCode>
                <c:ptCount val="4"/>
                <c:pt idx="0">
                  <c:v>0.6570620492</c:v>
                </c:pt>
                <c:pt idx="1">
                  <c:v>1.4248277796</c:v>
                </c:pt>
                <c:pt idx="2">
                  <c:v>1.0758080889999999</c:v>
                </c:pt>
                <c:pt idx="3">
                  <c:v>1.3463578304999999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5117-4727-ADA0-8D3165294D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6EC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E6ECEF"/>
            </a:solidFill>
            <a:prstDash val="solid"/>
          </a:ln>
        </c:spPr>
        <c:txPr>
          <a:bodyPr rot="-60000000" spcFirstLastPara="0" vert="horz" wrap="square" anchor="ctr" anchorCtr="1"/>
          <a:lstStyle/>
          <a:p>
            <a:pPr>
              <a:defRPr sz="900" b="0" i="0" u="none">
                <a:solidFill>
                  <a:srgbClr val="6B7B88"/>
                </a:solidFill>
                <a:latin typeface="+mn-lt"/>
                <a:ea typeface="+mn-lt"/>
                <a:cs typeface="+mn-lt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rot="-60000000" vert="horz" anchor="ctr" anchorCtr="1"/>
          <a:lstStyle/>
          <a:p>
            <a:pPr>
              <a:defRPr sz="1050" b="0" i="0" u="none">
                <a:solidFill>
                  <a:srgbClr val="314252"/>
                </a:solidFill>
                <a:latin typeface="+mn-lt"/>
                <a:ea typeface="+mn-lt"/>
                <a:cs typeface="+mn-lt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全量不发邮件</c:f>
              <c:strCache>
                <c:ptCount val="1"/>
                <c:pt idx="0">
                  <c:v>全量不发邮件</c:v>
                </c:pt>
              </c:strCache>
            </c:strRef>
          </c:tx>
          <c:spPr>
            <a:ln w="28575">
              <a:solidFill>
                <a:srgbClr val="6B7B88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6B7B88"/>
              </a:solidFill>
            </c:spPr>
          </c:marker>
          <c:cat>
            <c:numRef>
              <c:f>{0,0.05,0.1,0.25,0.5,1}</c:f>
              <c:numCache>
                <c:formatCode>General</c:formatCode>
                <c:ptCount val="6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1</c:v>
                </c:pt>
              </c:numCache>
            </c:numRef>
          </c:cat>
          <c:val>
            <c:numRef>
              <c:f>{0.657062,0.657062,0.657062,0.657062,0.657062,0.657062}</c:f>
              <c:numCache>
                <c:formatCode>0.0</c:formatCode>
                <c:ptCount val="6"/>
                <c:pt idx="0">
                  <c:v>0.65706200000000003</c:v>
                </c:pt>
                <c:pt idx="1">
                  <c:v>0.65706200000000003</c:v>
                </c:pt>
                <c:pt idx="2">
                  <c:v>0.65706200000000003</c:v>
                </c:pt>
                <c:pt idx="3">
                  <c:v>0.65706200000000003</c:v>
                </c:pt>
                <c:pt idx="4">
                  <c:v>0.65706200000000003</c:v>
                </c:pt>
                <c:pt idx="5">
                  <c:v>0.65706200000000003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5B-4A58-9CB0-6D68A492E099}"/>
            </c:ext>
          </c:extLst>
        </c:ser>
        <c:ser>
          <c:idx val="1"/>
          <c:order val="1"/>
          <c:tx>
            <c:strRef>
              <c:f>全量男装邮件</c:f>
              <c:strCache>
                <c:ptCount val="1"/>
                <c:pt idx="0">
                  <c:v>全量男装邮件</c:v>
                </c:pt>
              </c:strCache>
            </c:strRef>
          </c:tx>
          <c:spPr>
            <a:ln w="38100">
              <a:solidFill>
                <a:srgbClr val="00A6A6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A6A6"/>
              </a:solidFill>
            </c:spPr>
          </c:marker>
          <c:cat>
            <c:numRef>
              <c:f>{0,0.05,0.1,0.25,0.5,1}</c:f>
              <c:numCache>
                <c:formatCode>General</c:formatCode>
                <c:ptCount val="6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1</c:v>
                </c:pt>
              </c:numCache>
            </c:numRef>
          </c:cat>
          <c:val>
            <c:numRef>
              <c:f>{1.424828,1.374828,1.324828,1.174828,0.924828,0.424828}</c:f>
              <c:numCache>
                <c:formatCode>0.0</c:formatCode>
                <c:ptCount val="6"/>
                <c:pt idx="0">
                  <c:v>1.424828</c:v>
                </c:pt>
                <c:pt idx="1">
                  <c:v>1.3748279999999999</c:v>
                </c:pt>
                <c:pt idx="2">
                  <c:v>1.3248279999999999</c:v>
                </c:pt>
                <c:pt idx="3">
                  <c:v>1.174828</c:v>
                </c:pt>
                <c:pt idx="4">
                  <c:v>0.92482799999999998</c:v>
                </c:pt>
                <c:pt idx="5">
                  <c:v>0.42482799999999998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5B-4A58-9CB0-6D68A492E099}"/>
            </c:ext>
          </c:extLst>
        </c:ser>
        <c:ser>
          <c:idx val="2"/>
          <c:order val="2"/>
          <c:tx>
            <c:strRef>
              <c:f>全量女装邮件</c:f>
              <c:strCache>
                <c:ptCount val="1"/>
                <c:pt idx="0">
                  <c:v>全量女装邮件</c:v>
                </c:pt>
              </c:strCache>
            </c:strRef>
          </c:tx>
          <c:spPr>
            <a:ln w="28575">
              <a:solidFill>
                <a:srgbClr val="173A5E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73A5E"/>
              </a:solidFill>
            </c:spPr>
          </c:marker>
          <c:cat>
            <c:numRef>
              <c:f>{0,0.05,0.1,0.25,0.5,1}</c:f>
              <c:numCache>
                <c:formatCode>General</c:formatCode>
                <c:ptCount val="6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1</c:v>
                </c:pt>
              </c:numCache>
            </c:numRef>
          </c:cat>
          <c:val>
            <c:numRef>
              <c:f>{1.075808,1.025808,0.975808,0.825808,0.575808,0.075808}</c:f>
              <c:numCache>
                <c:formatCode>0.0</c:formatCode>
                <c:ptCount val="6"/>
                <c:pt idx="0">
                  <c:v>1.0758080000000001</c:v>
                </c:pt>
                <c:pt idx="1">
                  <c:v>1.0258080000000001</c:v>
                </c:pt>
                <c:pt idx="2">
                  <c:v>0.97580800000000001</c:v>
                </c:pt>
                <c:pt idx="3">
                  <c:v>0.82580799999999999</c:v>
                </c:pt>
                <c:pt idx="4">
                  <c:v>0.57580799999999999</c:v>
                </c:pt>
                <c:pt idx="5">
                  <c:v>7.5808E-2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5B-4A58-9CB0-6D68A492E099}"/>
            </c:ext>
          </c:extLst>
        </c:ser>
        <c:ser>
          <c:idx val="3"/>
          <c:order val="3"/>
          <c:tx>
            <c:strRef>
              <c:f>个性化双重稳健策略</c:f>
              <c:strCache>
                <c:ptCount val="1"/>
                <c:pt idx="0">
                  <c:v>个性化双重稳健策略</c:v>
                </c:pt>
              </c:strCache>
            </c:strRef>
          </c:tx>
          <c:spPr>
            <a:ln w="28575">
              <a:solidFill>
                <a:srgbClr val="EF6A5B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EF6A5B"/>
              </a:solidFill>
            </c:spPr>
          </c:marker>
          <c:cat>
            <c:numRef>
              <c:f>{0,0.05,0.1,0.25,0.5,1}</c:f>
              <c:numCache>
                <c:formatCode>General</c:formatCode>
                <c:ptCount val="6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1</c:v>
                </c:pt>
              </c:numCache>
            </c:numRef>
          </c:cat>
          <c:val>
            <c:numRef>
              <c:f>{1.346358,1.296827,1.244832,1.096677,0.836934,0.686666}</c:f>
              <c:numCache>
                <c:formatCode>0.0</c:formatCode>
                <c:ptCount val="6"/>
                <c:pt idx="0">
                  <c:v>1.3463579999999999</c:v>
                </c:pt>
                <c:pt idx="1">
                  <c:v>1.296827</c:v>
                </c:pt>
                <c:pt idx="2">
                  <c:v>1.2448319999999999</c:v>
                </c:pt>
                <c:pt idx="3">
                  <c:v>1.0966769999999999</c:v>
                </c:pt>
                <c:pt idx="4">
                  <c:v>0.83693399999999996</c:v>
                </c:pt>
                <c:pt idx="5">
                  <c:v>0.686666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5B-4A58-9CB0-6D68A492E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 b="1" i="0" u="none">
                    <a:solidFill>
                      <a:srgbClr val="6B7B88"/>
                    </a:solidFill>
                    <a:latin typeface="+mn-lt"/>
                    <a:ea typeface="+mn-lt"/>
                    <a:cs typeface="+mn-lt"/>
                  </a:rPr>
                  <a:t>假设的邮件成本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E6ECEF"/>
            </a:solidFill>
            <a:prstDash val="solid"/>
          </a:ln>
        </c:spPr>
        <c:txPr>
          <a:bodyPr rot="-60000000" spcFirstLastPara="0" vert="horz" wrap="square" anchor="ctr" anchorCtr="1"/>
          <a:lstStyle/>
          <a:p>
            <a:pPr>
              <a:defRPr sz="900" b="0" i="0" u="none">
                <a:solidFill>
                  <a:srgbClr val="314252"/>
                </a:solidFill>
                <a:latin typeface="+mn-lt"/>
                <a:ea typeface="+mn-lt"/>
                <a:cs typeface="+mn-lt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w="9525">
              <a:solidFill>
                <a:srgbClr val="E6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E6ECEF"/>
            </a:solidFill>
            <a:prstDash val="solid"/>
          </a:ln>
        </c:spPr>
        <c:txPr>
          <a:bodyPr rot="-60000000" vert="horz" anchor="ctr" anchorCtr="1"/>
          <a:lstStyle/>
          <a:p>
            <a:pPr>
              <a:defRPr sz="900" b="0" i="0" u="none">
                <a:solidFill>
                  <a:srgbClr val="6B7B88"/>
                </a:solidFill>
                <a:latin typeface="+mn-lt"/>
                <a:ea typeface="+mn-lt"/>
                <a:cs typeface="+mn-lt"/>
              </a:defRPr>
            </a:pPr>
            <a:endParaRPr lang="zh-CN"/>
          </a:p>
        </c:txPr>
        <c:crossAx val="48650112"/>
        <c:crosses val="autoZero"/>
        <c:crossBetween val="between"/>
        <c:majorUnit val="0.4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rot="0" vert="horz" anchor="ctr" anchorCtr="1"/>
        <a:lstStyle/>
        <a:p>
          <a:pPr>
            <a:defRPr sz="900" b="0" i="0" u="none">
              <a:solidFill>
                <a:srgbClr val="314252"/>
              </a:solidFill>
              <a:latin typeface="+mn-lt"/>
              <a:ea typeface="+mn-lt"/>
              <a:cs typeface="+mn-lt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1C2BA-BB58-4BE6-A372-7B54B42635B0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0E193-046A-4C25-A24E-690275CD00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790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- 2.AB Test/abn_experiment_analysis/01_group_summary.csv</a:t>
            </a:r>
          </a:p>
          <a:p>
            <a:r>
              <a:t>- 5.策略优化/multi_action_policy_evaluation/04_policy_decision.txt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- 2.AB Test/spend_robustness/04_robustness_comparison.csv</a:t>
            </a:r>
          </a:p>
          <a:p>
            <a:r>
              <a:t>- 3.异质性效应/univariate_hte_analysis/04_moderator_summary.csv</a:t>
            </a:r>
          </a:p>
          <a:p>
            <a:r>
              <a:t>- 4.Uplift/crossfitted_uplift_validation/06_model_decision.csv</a:t>
            </a:r>
          </a:p>
          <a:p>
            <a:r>
              <a:t>- 5.策略优化/multi_action_policy_evaluation/02_policy_values.csv</a:t>
            </a:r>
          </a:p>
          <a:p>
            <a:r>
              <a:t>- 5.策略优化/multi_action_policy_evaluation/03_policy_comparisons.csv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- 1.实验数据审计/results/00_audit_summary.txt</a:t>
            </a:r>
          </a:p>
          <a:p>
            <a:r>
              <a:t>- 1.实验数据审计/results/03_segment_counts.csv</a:t>
            </a:r>
          </a:p>
          <a:p>
            <a:r>
              <a:t>- 1.实验数据审计/results/04_srm_test.csv</a:t>
            </a:r>
          </a:p>
          <a:p>
            <a:r>
              <a:t>- 1.实验数据审计/results/05_numeric_covariate_balance.csv</a:t>
            </a:r>
          </a:p>
          <a:p>
            <a:r>
              <a:t>- 1.实验数据审计/results/06_categorical_covariate_balance.csv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- 2.AB Test/abn_experiment_analysis/01_group_summary.csv</a:t>
            </a:r>
          </a:p>
          <a:p>
            <a:r>
              <a:t>- 2.AB Test/abn_experiment_analysis/03_primary_spend_contrasts.csv</a:t>
            </a:r>
          </a:p>
          <a:p>
            <a:r>
              <a:t>- 2.AB Test/abn_experiment_analysis/04_secondary_outcome_contrasts.csv</a:t>
            </a:r>
          </a:p>
          <a:p>
            <a:r>
              <a:t>[/Sources]</a:t>
            </a:r>
          </a:p>
          <a:p>
            <a:endParaRPr/>
          </a:p>
          <a:p>
            <a:r>
              <a:t>Visit and Conversion are directionally consistent secondary outcomes; the deck does not claim a causal mediation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- 2.AB Test/spend_robustness/04_robustness_comparison.csv</a:t>
            </a:r>
          </a:p>
          <a:p>
            <a:r>
              <a:t>- 2.AB Test/spend_robustness/05_robustness_summary.txt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- 3.异质性效应/univariate_hte_analysis/04_moderator_summary.csv</a:t>
            </a:r>
          </a:p>
          <a:p>
            <a:r>
              <a:t>- 3.异质性效应/univariate_hte_analysis/05_supported_subgroup_effects.csv</a:t>
            </a:r>
          </a:p>
          <a:p>
            <a:r>
              <a:t>- 4.Uplift/crossfitted_uplift_validation/02_model_summary.csv</a:t>
            </a:r>
          </a:p>
          <a:p>
            <a:r>
              <a:t>- 4.Uplift/crossfitted_uplift_validation/04_top_bottom_bootstrap.csv</a:t>
            </a:r>
          </a:p>
          <a:p>
            <a:r>
              <a:t>- 4.Uplift/crossfitted_uplift_validation/06_model_decision.csv</a:t>
            </a:r>
          </a:p>
          <a:p>
            <a:r>
              <a:t>- 4.Uplift/crossfitted_uplift_validation/07_uplift_decision.txt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- 5.策略优化/multi_action_policy_evaluation/01_personalized_allocation.csv</a:t>
            </a:r>
          </a:p>
          <a:p>
            <a:r>
              <a:t>- 5.策略优化/multi_action_policy_evaluation/02_policy_values.csv</a:t>
            </a:r>
          </a:p>
          <a:p>
            <a:r>
              <a:t>- 5.策略优化/multi_action_policy_evaluation/03_policy_comparisons.csv</a:t>
            </a:r>
          </a:p>
          <a:p>
            <a:r>
              <a:t>- 5.策略优化/multi_action_policy_evaluation/04_policy_decision.txt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- 5.策略优化/cost_sensitivity_analysis/01_cost_sensitivity_policy_values.csv</a:t>
            </a:r>
          </a:p>
          <a:p>
            <a:r>
              <a:t>- 5.策略优化/cost_sensitivity_analysis/03_cost_sensitivity_comparisons.csv</a:t>
            </a:r>
          </a:p>
          <a:p>
            <a:r>
              <a:t>- 5.策略优化/cost_sensitivity_analysis/04_static_break_even_summary.csv</a:t>
            </a:r>
          </a:p>
          <a:p>
            <a:r>
              <a:t>- 5.策略优化/cost_sensitivity_analysis/05_cost_sensitivity_decision.txt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- 2.AB Test/spend_robustness/04_robustness_comparison.csv</a:t>
            </a:r>
          </a:p>
          <a:p>
            <a:r>
              <a:t>- 4.Uplift/crossfitted_uplift_validation/06_model_decision.csv</a:t>
            </a:r>
          </a:p>
          <a:p>
            <a:r>
              <a:t>- 5.策略优化/multi_action_policy_evaluation/04_policy_decision.txt</a:t>
            </a:r>
          </a:p>
          <a:p>
            <a:r>
              <a:t>- 5.策略优化/cost_sensitivity_analysis/05_cost_sensitivity_decision.txt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- 1.实验数据审计/results/00_audit_summary.txt</a:t>
            </a:r>
          </a:p>
          <a:p>
            <a:r>
              <a:t>- 4.Uplift/crossfitted_uplift_validation/07_uplift_decision.txt</a:t>
            </a:r>
          </a:p>
          <a:p>
            <a:r>
              <a:t>- 5.策略优化/multi_action_policy_evaluation/04_policy_decision.txt</a:t>
            </a:r>
          </a:p>
          <a:p>
            <a:r>
              <a:t>- 5.策略优化/cost_sensitivity_analysis/05_cost_sensitivity_decision.txt</a:t>
            </a:r>
          </a:p>
          <a:p>
            <a:r>
              <a:t>[/Sources]</a:t>
            </a:r>
          </a:p>
          <a:p>
            <a:endParaRPr/>
          </a:p>
          <a:p>
            <a:r>
              <a:t>Recommendations on future measurement are derived from limitations explicitly identified in the verified analysis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- 1.实验数据审计/results/00_audit_summary.txt</a:t>
            </a:r>
          </a:p>
          <a:p>
            <a:r>
              <a:t>- 2.AB Test/abn_experiment_analysis/00_research_design.txt</a:t>
            </a:r>
          </a:p>
          <a:p>
            <a:r>
              <a:t>- 2.AB Test/spend_robustness/00_robustness_design.txt</a:t>
            </a:r>
          </a:p>
          <a:p>
            <a:r>
              <a:t>- 3.异质性效应/univariate_hte_analysis/00_hte_design.txt</a:t>
            </a:r>
          </a:p>
          <a:p>
            <a:r>
              <a:t>- 4.Uplift/crossfitted_uplift_validation/00_uplift_design.txt</a:t>
            </a:r>
          </a:p>
          <a:p>
            <a:r>
              <a:t>- 5.策略优化/multi_action_policy_evaluation/00_policy_design.txt</a:t>
            </a:r>
          </a:p>
          <a:p>
            <a:r>
              <a:t>- 5.策略优化/cost_sensitivity_analysis/00_cost_sensitivity_design.txt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- 2.AB Test/abn_experiment_analysis/03_primary_spend_contrasts.csv</a:t>
            </a:r>
          </a:p>
          <a:p>
            <a:r>
              <a:t>- 2.AB Test/spend_robustness/04_robustness_comparison.csv</a:t>
            </a:r>
          </a:p>
          <a:p>
            <a:r>
              <a:t>- 5.策略优化/multi_action_policy_evaluation/02_policy_values.csv</a:t>
            </a:r>
          </a:p>
          <a:p>
            <a:r>
              <a:t>- 5.策略优化/multi_action_policy_evaluation/03_policy_comparisons.csv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101B0-F6EA-BB75-8F0D-16FBB89D9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39DA0D-1B97-6029-6AA5-EE0292E6F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3C650A-42CE-B154-54CA-C834FE89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53651-75A3-18FE-0159-CE926D9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9B9475-8136-6AAF-DB62-2B4E0BD9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46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50072-2E30-75BC-30C0-D8CC1EF5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BC4F9-ECC8-FF2C-CE19-9CBBC2C3C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7F08E9-F94C-C562-2176-C8DFA029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7BF7ED-F5A8-94AD-EF8E-66C6F3A4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C4087-8E02-113F-3CDF-3A802DC2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69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3B335-D037-AC7A-C199-F2A5B1C4C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F03C66-A259-D971-98C4-EB139158D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C03405-F566-9CF1-B6BB-BCC9D256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C808FA-52A4-BB87-59C9-219B7619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D40461-1AA0-0787-4CC6-469E4C57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66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ABD8D-9BDE-EB69-E0BE-855531D1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D887A7-A0C6-CE30-7A05-2972582B8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F335BE-320C-2949-2ED7-DCD44D5FF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E5536-DC92-41CA-FE54-9CE0BE14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79540-F79F-E0F4-0BC4-BD9154E0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FBE7E4-C312-1D71-BF9C-D255A4A8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B9DFA-2BE3-5E46-3874-FEBF11EC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3CDA92-44B0-3E43-D3F0-C9F4244B8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7DC985-D011-C880-2654-8B0C4C27D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844EA3-6160-E7BB-8FCA-2E59B3A6C9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2570CA-80AB-7A60-777C-3883001B0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4A91D2-D392-8D28-6261-BE2F71F8D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C95C09-5ACD-11FD-318F-C52DD3530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64E660-02D7-C006-5B1C-1F903BBD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37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28DC7B-510C-929D-7859-12BC6DD8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6AC578-4FA5-DBC6-D6B8-38360780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4FBFB8-3F11-3382-4A35-83330B813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7395A6-97DC-6F8A-64B1-18AF4312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136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97FDFF-50E7-3DBF-5C52-4BAF21A2F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12E930-A64B-41D2-B1D4-FBBCE3837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C56EB4-DF54-CB11-B4DF-97FEBC7E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11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71EBF-C183-E46F-291A-4930D0DBE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A8E597-E52D-8059-C834-C07877B14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26931E-30F6-0610-9290-B6313513A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D92B00-14F3-5455-E6DA-912C76E1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F7B624-F163-1D8F-AE81-9BE7468A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A32BB4-F923-44FB-CBD8-077844B9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28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B33B0-DA65-6672-64B8-BE5AF624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679E5A-97C1-555D-1D37-0A17A13F8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568560-9C14-BFEB-F2EA-199804C7C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FC8AC-23FE-5553-7C41-DC0B81C2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66D622-4F49-F0D5-129B-243C0209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494638-0F49-229B-C2A2-0AA07E38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80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B73ED-7C56-2141-4027-40E23307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7DBAE1-E334-D6C0-8C52-82845E2B2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4DE8A-86B9-4815-B63C-04B78A13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4F28A-99E5-7540-DC56-78DD48BC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DB321F-C08B-33D7-84C8-556227BB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21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ACF8B2-9DF0-036F-F2AE-B1E59B99F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6697BF-D88F-745F-05F7-82061713C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50AD4-C73F-1A59-3B97-05BC08C88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6A26AD-3D4C-FAC8-BFE2-A594B4E2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2BECED-9B82-F743-EEBD-27FC6DFF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027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41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E87F1A-F71C-2AA7-CAC2-0BA19802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D31122-E56B-3F05-6B8C-65CD4AD01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4BE964-F00A-86E2-31F5-7BF5DFC22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C52B2-2CD8-40C6-A954-35238527B445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5406E4-5A69-9B16-6F4C-BDB33E2B1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140159-97DB-D652-CCA1-C03C8A7E2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E6557-9029-4B38-B612-5D3B8E46E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6D1061F-A23B-40FE-82E6-991B76D9C1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1CE18B-61B2-4EC4-ABE4-E40115A0E2A2}"/>
              </a:ext>
            </a:extLst>
          </p:cNvPr>
          <p:cNvSpPr>
            <a:spLocks noGrp="1"/>
          </p:cNvSpPr>
          <p:nvPr/>
        </p:nvSpPr>
        <p:spPr>
          <a:xfrm>
            <a:off x="742950" y="7810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Hillstorm邮件实验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79A77D-4E19-4CA6-A58C-E86424624E35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6667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412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412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邮件提升消费金额；</a:t>
            </a:r>
          </a:p>
          <a:p>
            <a:pPr algn="l">
              <a:lnSpc>
                <a:spcPct val="96000"/>
              </a:lnSpc>
              <a:buNone/>
              <a:defRPr sz="412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412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个性化投放暂无统计支持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3208D-2DF5-4EEF-945B-F60B7130FFA9}"/>
              </a:ext>
            </a:extLst>
          </p:cNvPr>
          <p:cNvSpPr>
            <a:spLocks noGrp="1"/>
          </p:cNvSpPr>
          <p:nvPr/>
        </p:nvSpPr>
        <p:spPr>
          <a:xfrm>
            <a:off x="762000" y="3305175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三组随机对照实验结果、增益模型验证与投放策略评估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A5C369-842C-443B-90B0-C332511C3A8F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管理层汇报｜64,000 名随机分组客户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0A15FE-6152-4A84-A155-75727FABF8E0}"/>
              </a:ext>
            </a:extLst>
          </p:cNvPr>
          <p:cNvSpPr>
            <a:spLocks noGrp="1"/>
          </p:cNvSpPr>
          <p:nvPr/>
        </p:nvSpPr>
        <p:spPr>
          <a:xfrm>
            <a:off x="762000" y="5867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C340C9A-CEB1-4E4A-B8B3-BE7D96C245F2}"/>
              </a:ext>
            </a:extLst>
          </p:cNvPr>
          <p:cNvSpPr>
            <a:spLocks noGrp="1"/>
          </p:cNvSpPr>
          <p:nvPr/>
        </p:nvSpPr>
        <p:spPr>
          <a:xfrm>
            <a:off x="8020050" y="1323975"/>
            <a:ext cx="742950" cy="3238500"/>
          </a:xfrm>
          <a:prstGeom prst="roundRect">
            <a:avLst>
              <a:gd name="adj" fmla="val 50000"/>
            </a:avLst>
          </a:prstGeom>
          <a:solidFill>
            <a:srgbClr val="E6ECEF"/>
          </a:solidFill>
          <a:ln w="0">
            <a:noFill/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3F602EB-4499-46F5-9DFC-10D3381B27CE}"/>
              </a:ext>
            </a:extLst>
          </p:cNvPr>
          <p:cNvSpPr>
            <a:spLocks noGrp="1"/>
          </p:cNvSpPr>
          <p:nvPr/>
        </p:nvSpPr>
        <p:spPr>
          <a:xfrm>
            <a:off x="8020050" y="2895600"/>
            <a:ext cx="742950" cy="1666875"/>
          </a:xfrm>
          <a:prstGeom prst="roundRect">
            <a:avLst>
              <a:gd name="adj" fmla="val 50000"/>
            </a:avLst>
          </a:prstGeom>
          <a:solidFill>
            <a:srgbClr val="6B7B88"/>
          </a:solidFill>
          <a:ln w="0">
            <a:noFill/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85995D5-8739-406E-A778-DDC17B5D622A}"/>
              </a:ext>
            </a:extLst>
          </p:cNvPr>
          <p:cNvSpPr>
            <a:spLocks noGrp="1"/>
          </p:cNvSpPr>
          <p:nvPr/>
        </p:nvSpPr>
        <p:spPr>
          <a:xfrm>
            <a:off x="9105900" y="800100"/>
            <a:ext cx="742950" cy="3762375"/>
          </a:xfrm>
          <a:prstGeom prst="roundRect">
            <a:avLst>
              <a:gd name="adj" fmla="val 50000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01867F6-56DC-4EA1-95A1-12269DD0B279}"/>
              </a:ext>
            </a:extLst>
          </p:cNvPr>
          <p:cNvSpPr>
            <a:spLocks noGrp="1"/>
          </p:cNvSpPr>
          <p:nvPr/>
        </p:nvSpPr>
        <p:spPr>
          <a:xfrm>
            <a:off x="9105900" y="1257300"/>
            <a:ext cx="742950" cy="33051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E534F80-D4A2-4016-8336-ED0E103418A8}"/>
              </a:ext>
            </a:extLst>
          </p:cNvPr>
          <p:cNvSpPr>
            <a:spLocks noGrp="1"/>
          </p:cNvSpPr>
          <p:nvPr/>
        </p:nvSpPr>
        <p:spPr>
          <a:xfrm>
            <a:off x="10191750" y="1000125"/>
            <a:ext cx="742950" cy="3562350"/>
          </a:xfrm>
          <a:prstGeom prst="roundRect">
            <a:avLst>
              <a:gd name="adj" fmla="val 50000"/>
            </a:avLst>
          </a:prstGeom>
          <a:solidFill>
            <a:srgbClr val="F4F7F8"/>
          </a:solidFill>
          <a:ln w="0">
            <a:noFill/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626D7F7-6CFF-4D4B-8BD4-EA29B5741F00}"/>
              </a:ext>
            </a:extLst>
          </p:cNvPr>
          <p:cNvSpPr>
            <a:spLocks noGrp="1"/>
          </p:cNvSpPr>
          <p:nvPr/>
        </p:nvSpPr>
        <p:spPr>
          <a:xfrm>
            <a:off x="10191750" y="2057400"/>
            <a:ext cx="742950" cy="2505075"/>
          </a:xfrm>
          <a:prstGeom prst="roundRect">
            <a:avLst>
              <a:gd name="adj" fmla="val 50000"/>
            </a:avLst>
          </a:prstGeom>
          <a:solidFill>
            <a:srgbClr val="173A5E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4E602E-A401-46C3-97C8-12E39F6196C6}"/>
              </a:ext>
            </a:extLst>
          </p:cNvPr>
          <p:cNvSpPr>
            <a:spLocks noGrp="1"/>
          </p:cNvSpPr>
          <p:nvPr/>
        </p:nvSpPr>
        <p:spPr>
          <a:xfrm>
            <a:off x="7810500" y="4781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不发邮件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0EDAB5-850F-431C-9015-4DF76441EDF8}"/>
              </a:ext>
            </a:extLst>
          </p:cNvPr>
          <p:cNvSpPr>
            <a:spLocks noGrp="1"/>
          </p:cNvSpPr>
          <p:nvPr/>
        </p:nvSpPr>
        <p:spPr>
          <a:xfrm>
            <a:off x="8905875" y="4781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男装邮件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550775-1E31-4141-A58F-3D90CE5AFCDB}"/>
              </a:ext>
            </a:extLst>
          </p:cNvPr>
          <p:cNvSpPr>
            <a:spLocks noGrp="1"/>
          </p:cNvSpPr>
          <p:nvPr/>
        </p:nvSpPr>
        <p:spPr>
          <a:xfrm>
            <a:off x="9991725" y="4781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女装邮件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811EDB-E30F-4F63-83B3-52F0D55A90A6}"/>
              </a:ext>
            </a:extLst>
          </p:cNvPr>
          <p:cNvSpPr>
            <a:spLocks noGrp="1"/>
          </p:cNvSpPr>
          <p:nvPr/>
        </p:nvSpPr>
        <p:spPr>
          <a:xfrm>
            <a:off x="7810500" y="507682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0.653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6D6149-1F38-4F28-A1A7-CA056DB88C4D}"/>
              </a:ext>
            </a:extLst>
          </p:cNvPr>
          <p:cNvSpPr>
            <a:spLocks noGrp="1"/>
          </p:cNvSpPr>
          <p:nvPr/>
        </p:nvSpPr>
        <p:spPr>
          <a:xfrm>
            <a:off x="8905875" y="507682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1.423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44795A-CC9E-45B4-A4A8-5F69CDC0D102}"/>
              </a:ext>
            </a:extLst>
          </p:cNvPr>
          <p:cNvSpPr>
            <a:spLocks noGrp="1"/>
          </p:cNvSpPr>
          <p:nvPr/>
        </p:nvSpPr>
        <p:spPr>
          <a:xfrm>
            <a:off x="9991725" y="507682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1.077</a:t>
            </a:r>
          </a:p>
        </p:txBody>
      </p:sp>
    </p:spTree>
    <p:extLst>
      <p:ext uri="{BB962C8B-B14F-4D97-AF65-F5344CB8AC3E}">
        <p14:creationId xmlns:p14="http://schemas.microsoft.com/office/powerpoint/2010/main" val="13657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42D5C88E-3DB8-4403-AFC6-ED572BC72BA1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CD62D8-0070-4EB3-9A1C-DB9609F5B755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管理层摘要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97B0D3-99E3-4389-A233-93A83CEF1EF7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邮件提升消费金额，但个性化投放暂无统计支持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591156-7E6E-45A8-A614-4351883CB09B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99F9CF32-5954-45A1-8EFA-8EA50DF53E29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4E4FBF-B8DC-48DE-B9BC-05C1FCEBD60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89AA35-614F-4385-9620-146D45417869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034F25-D259-4A1E-B9E4-9EB4DCE04CD0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45720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7000"/>
              </a:lnSpc>
              <a:buNone/>
              <a:defRPr sz="27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两类邮件均提升消费金额；</a:t>
            </a:r>
          </a:p>
          <a:p>
            <a:pPr algn="l">
              <a:lnSpc>
                <a:spcPct val="97000"/>
              </a:lnSpc>
              <a:buNone/>
              <a:defRPr sz="27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当前证据不支持</a:t>
            </a:r>
          </a:p>
          <a:p>
            <a:pPr algn="l">
              <a:lnSpc>
                <a:spcPct val="97000"/>
              </a:lnSpc>
              <a:buNone/>
              <a:defRPr sz="27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个性化投放。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082B51-7541-4DA6-9169-7668ACAD22DB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343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现阶段优先采用已验证的平均增量方案，并继续收集个性化投放证据。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F7DE7A-832A-4656-88F5-58E6852D6AA8}"/>
              </a:ext>
            </a:extLst>
          </p:cNvPr>
          <p:cNvSpPr>
            <a:spLocks noGrp="1"/>
          </p:cNvSpPr>
          <p:nvPr/>
        </p:nvSpPr>
        <p:spPr>
          <a:xfrm>
            <a:off x="5905500" y="14573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平均效果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387979-F6F9-4C63-8D35-B08C32BF6FCB}"/>
              </a:ext>
            </a:extLst>
          </p:cNvPr>
          <p:cNvSpPr>
            <a:spLocks noGrp="1"/>
          </p:cNvSpPr>
          <p:nvPr/>
        </p:nvSpPr>
        <p:spPr>
          <a:xfrm>
            <a:off x="5905500" y="1704975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708"/>
          </a:bodyPr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+0.770 / +0.424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A3B80C-6BF0-4220-AD6C-85F853452F36}"/>
              </a:ext>
            </a:extLst>
          </p:cNvPr>
          <p:cNvSpPr>
            <a:spLocks noGrp="1"/>
          </p:cNvSpPr>
          <p:nvPr/>
        </p:nvSpPr>
        <p:spPr>
          <a:xfrm>
            <a:off x="8429625" y="1666875"/>
            <a:ext cx="3048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两种邮件均带来稳健的消费金额增量。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197675E0-B19E-4B7B-9AFE-924FEAE595EE}"/>
              </a:ext>
            </a:extLst>
          </p:cNvPr>
          <p:cNvSpPr>
            <a:spLocks noGrp="1"/>
          </p:cNvSpPr>
          <p:nvPr/>
        </p:nvSpPr>
        <p:spPr>
          <a:xfrm>
            <a:off x="5905500" y="2695575"/>
            <a:ext cx="5572125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3AC92-9078-4BA7-8606-66120CBFD70F}"/>
              </a:ext>
            </a:extLst>
          </p:cNvPr>
          <p:cNvSpPr>
            <a:spLocks noGrp="1"/>
          </p:cNvSpPr>
          <p:nvPr/>
        </p:nvSpPr>
        <p:spPr>
          <a:xfrm>
            <a:off x="5905500" y="28384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个性化证据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CBC207-AB96-41E4-9E58-B65279B84D79}"/>
              </a:ext>
            </a:extLst>
          </p:cNvPr>
          <p:cNvSpPr>
            <a:spLocks noGrp="1"/>
          </p:cNvSpPr>
          <p:nvPr/>
        </p:nvSpPr>
        <p:spPr>
          <a:xfrm>
            <a:off x="5905500" y="30861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0 / 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E6883B-CD3E-400F-B14C-192E1F78B73B}"/>
              </a:ext>
            </a:extLst>
          </p:cNvPr>
          <p:cNvSpPr>
            <a:spLocks noGrp="1"/>
          </p:cNvSpPr>
          <p:nvPr/>
        </p:nvSpPr>
        <p:spPr>
          <a:xfrm>
            <a:off x="8239125" y="3048000"/>
            <a:ext cx="323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预设调节变量经霍尔姆校正后均不支持处理效应异质性；双重稳健模型的排序证据不足。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1BF09534-911D-479E-9CEF-982EE21FDA8B}"/>
              </a:ext>
            </a:extLst>
          </p:cNvPr>
          <p:cNvSpPr>
            <a:spLocks noGrp="1"/>
          </p:cNvSpPr>
          <p:nvPr/>
        </p:nvSpPr>
        <p:spPr>
          <a:xfrm>
            <a:off x="5905500" y="4076700"/>
            <a:ext cx="5572125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630AE1-8B06-4C32-98F0-0530B3E49D0D}"/>
              </a:ext>
            </a:extLst>
          </p:cNvPr>
          <p:cNvSpPr>
            <a:spLocks noGrp="1"/>
          </p:cNvSpPr>
          <p:nvPr/>
        </p:nvSpPr>
        <p:spPr>
          <a:xfrm>
            <a:off x="5905500" y="42195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策略比较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6DC764-17C3-4EFE-B1CC-82CEDCDBF703}"/>
              </a:ext>
            </a:extLst>
          </p:cNvPr>
          <p:cNvSpPr>
            <a:spLocks noGrp="1"/>
          </p:cNvSpPr>
          <p:nvPr/>
        </p:nvSpPr>
        <p:spPr>
          <a:xfrm>
            <a:off x="5905500" y="4467225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1.425｜1.346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26DB6E5-052E-422C-879F-153049512BA3}"/>
              </a:ext>
            </a:extLst>
          </p:cNvPr>
          <p:cNvSpPr>
            <a:spLocks noGrp="1"/>
          </p:cNvSpPr>
          <p:nvPr/>
        </p:nvSpPr>
        <p:spPr>
          <a:xfrm>
            <a:off x="8429625" y="4429125"/>
            <a:ext cx="3048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全量男装邮件与个性化策略的加权价值；后者低 0.078。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5D5DF377-A74B-409E-896C-1D3D9A6EA39F}"/>
              </a:ext>
            </a:extLst>
          </p:cNvPr>
          <p:cNvSpPr>
            <a:spLocks noGrp="1"/>
          </p:cNvSpPr>
          <p:nvPr/>
        </p:nvSpPr>
        <p:spPr>
          <a:xfrm>
            <a:off x="5905500" y="5600700"/>
            <a:ext cx="5572125" cy="495300"/>
          </a:xfrm>
          <a:prstGeom prst="roundRect">
            <a:avLst>
              <a:gd name="adj" fmla="val 23077"/>
            </a:avLst>
          </a:prstGeom>
          <a:solidFill>
            <a:srgbClr val="FEF0ED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DD3A27A-8964-4D9A-8750-13E52CA8F1F4}"/>
              </a:ext>
            </a:extLst>
          </p:cNvPr>
          <p:cNvSpPr>
            <a:spLocks noGrp="1"/>
          </p:cNvSpPr>
          <p:nvPr/>
        </p:nvSpPr>
        <p:spPr>
          <a:xfrm>
            <a:off x="6096000" y="5734050"/>
            <a:ext cx="519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17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男装邮件点估计较高，但与女装邮件的差异未通过严格置换检验（p = 0.0811）。</a:t>
            </a:r>
          </a:p>
        </p:txBody>
      </p:sp>
    </p:spTree>
    <p:extLst>
      <p:ext uri="{BB962C8B-B14F-4D97-AF65-F5344CB8AC3E}">
        <p14:creationId xmlns:p14="http://schemas.microsoft.com/office/powerpoint/2010/main" val="42875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7CC61AB0-1626-47E7-950A-F133C12EE89C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1BD222-562D-4E80-86C5-E8D09D4CB06A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实验可信度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87FF0F-248C-4BE3-93B4-E825317E43F5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64,000 人三臂随机实验通过可信度检查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E4BD82-3895-4E1F-979C-42EBBDC1C652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6DE4BED-5001-4091-BFBC-954E82B9E0A6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0B34D7-32BA-4BF0-8C6F-80DCA2E450F2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CFE590-B0EA-4E30-8B1D-BC123994D74A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07882D-0916-4965-AAEF-F02CCA843B14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随机样本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A7970C-DD49-4DCA-B863-5D04CEB047AA}"/>
              </a:ext>
            </a:extLst>
          </p:cNvPr>
          <p:cNvSpPr>
            <a:spLocks noGrp="1"/>
          </p:cNvSpPr>
          <p:nvPr/>
        </p:nvSpPr>
        <p:spPr>
          <a:xfrm>
            <a:off x="666750" y="1704975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64,000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E57959-55CF-43AF-89A6-FE328BF938CB}"/>
              </a:ext>
            </a:extLst>
          </p:cNvPr>
          <p:cNvSpPr>
            <a:spLocks noGrp="1"/>
          </p:cNvSpPr>
          <p:nvPr/>
        </p:nvSpPr>
        <p:spPr>
          <a:xfrm>
            <a:off x="666750" y="218122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83"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三组约为 1:1:1；意向处理分析纳入全部随机客户。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0427F8-4B5B-4424-A37C-35103C982C57}"/>
              </a:ext>
            </a:extLst>
          </p:cNvPr>
          <p:cNvSpPr>
            <a:spLocks noGrp="1"/>
          </p:cNvSpPr>
          <p:nvPr/>
        </p:nvSpPr>
        <p:spPr>
          <a:xfrm>
            <a:off x="3638550" y="1666875"/>
            <a:ext cx="2587481" cy="457200"/>
          </a:xfrm>
          <a:prstGeom prst="rect">
            <a:avLst/>
          </a:prstGeom>
          <a:solidFill>
            <a:srgbClr val="6B7B88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9C3DE1-E36C-4F92-96F5-62D257F76ACC}"/>
              </a:ext>
            </a:extLst>
          </p:cNvPr>
          <p:cNvSpPr>
            <a:spLocks noGrp="1"/>
          </p:cNvSpPr>
          <p:nvPr/>
        </p:nvSpPr>
        <p:spPr>
          <a:xfrm>
            <a:off x="3638550" y="2266950"/>
            <a:ext cx="258748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不发邮件</a:t>
            </a: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21,306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ABAFEE-A5C8-45D4-902C-A1433C56BA99}"/>
              </a:ext>
            </a:extLst>
          </p:cNvPr>
          <p:cNvSpPr>
            <a:spLocks noGrp="1"/>
          </p:cNvSpPr>
          <p:nvPr/>
        </p:nvSpPr>
        <p:spPr>
          <a:xfrm>
            <a:off x="6226031" y="1666875"/>
            <a:ext cx="2587602" cy="4572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ED7C5E-AA7B-453E-9FC3-350ADF223E17}"/>
              </a:ext>
            </a:extLst>
          </p:cNvPr>
          <p:cNvSpPr>
            <a:spLocks noGrp="1"/>
          </p:cNvSpPr>
          <p:nvPr/>
        </p:nvSpPr>
        <p:spPr>
          <a:xfrm>
            <a:off x="6226031" y="2266950"/>
            <a:ext cx="258760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男装邮件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21,307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700D0C-B67B-48B3-AB5D-80A6B9D09C3B}"/>
              </a:ext>
            </a:extLst>
          </p:cNvPr>
          <p:cNvSpPr>
            <a:spLocks noGrp="1"/>
          </p:cNvSpPr>
          <p:nvPr/>
        </p:nvSpPr>
        <p:spPr>
          <a:xfrm>
            <a:off x="8813633" y="1666875"/>
            <a:ext cx="2597317" cy="457200"/>
          </a:xfrm>
          <a:prstGeom prst="rect">
            <a:avLst/>
          </a:prstGeom>
          <a:solidFill>
            <a:srgbClr val="173A5E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0559F2-9C04-4BC4-A08B-A85A0AA93F91}"/>
              </a:ext>
            </a:extLst>
          </p:cNvPr>
          <p:cNvSpPr>
            <a:spLocks noGrp="1"/>
          </p:cNvSpPr>
          <p:nvPr/>
        </p:nvSpPr>
        <p:spPr>
          <a:xfrm>
            <a:off x="8813633" y="2266950"/>
            <a:ext cx="259731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女装邮件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21,387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F65618-E03D-4FEB-8003-91DA8D4C7E1A}"/>
              </a:ext>
            </a:extLst>
          </p:cNvPr>
          <p:cNvSpPr>
            <a:spLocks noGrp="1"/>
          </p:cNvSpPr>
          <p:nvPr/>
        </p:nvSpPr>
        <p:spPr>
          <a:xfrm>
            <a:off x="3638550" y="1371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实际分组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C3508155-B14E-43A7-912C-AB419B9F2014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897458-B1E9-484F-95AE-C4A0F5F6C92B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随机分组比例检验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740060A-B296-437E-A742-9D604BDB5DA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p = 0.9037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59B12F-3B9A-4FAD-96B8-0DE404182044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2428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无样本比例异常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6A0B8603-0450-49E9-8B19-21E9B18EDB11}"/>
              </a:ext>
            </a:extLst>
          </p:cNvPr>
          <p:cNvSpPr>
            <a:spLocks noGrp="1"/>
          </p:cNvSpPr>
          <p:nvPr/>
        </p:nvSpPr>
        <p:spPr>
          <a:xfrm>
            <a:off x="3228975" y="3619500"/>
            <a:ext cx="953" cy="1333500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081774-7FD9-40E8-96EA-3F839E51D9D0}"/>
              </a:ext>
            </a:extLst>
          </p:cNvPr>
          <p:cNvSpPr>
            <a:spLocks noGrp="1"/>
          </p:cNvSpPr>
          <p:nvPr/>
        </p:nvSpPr>
        <p:spPr>
          <a:xfrm>
            <a:off x="3400425" y="358140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数值协变量平衡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4DEE125-2806-464C-8B38-726BFF73324D}"/>
              </a:ext>
            </a:extLst>
          </p:cNvPr>
          <p:cNvSpPr>
            <a:spLocks noGrp="1"/>
          </p:cNvSpPr>
          <p:nvPr/>
        </p:nvSpPr>
        <p:spPr>
          <a:xfrm>
            <a:off x="3400425" y="39433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970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最大标准化均差 = 0.0076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B71252A-35DF-43A7-A34B-5521D7A3B1D2}"/>
              </a:ext>
            </a:extLst>
          </p:cNvPr>
          <p:cNvSpPr>
            <a:spLocks noGrp="1"/>
          </p:cNvSpPr>
          <p:nvPr/>
        </p:nvSpPr>
        <p:spPr>
          <a:xfrm>
            <a:off x="3400425" y="4457700"/>
            <a:ext cx="2428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远低于常用警戒线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C21554FE-4DCD-40B3-AE0A-1189A2E2F262}"/>
              </a:ext>
            </a:extLst>
          </p:cNvPr>
          <p:cNvSpPr>
            <a:spLocks noGrp="1"/>
          </p:cNvSpPr>
          <p:nvPr/>
        </p:nvSpPr>
        <p:spPr>
          <a:xfrm>
            <a:off x="5943600" y="3619500"/>
            <a:ext cx="953" cy="1333500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D349860-AF41-425D-9886-312023894367}"/>
              </a:ext>
            </a:extLst>
          </p:cNvPr>
          <p:cNvSpPr>
            <a:spLocks noGrp="1"/>
          </p:cNvSpPr>
          <p:nvPr/>
        </p:nvSpPr>
        <p:spPr>
          <a:xfrm>
            <a:off x="6115050" y="358140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分类协变量平衡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4B5FE5-B292-47A1-B931-F79D5E2ED877}"/>
              </a:ext>
            </a:extLst>
          </p:cNvPr>
          <p:cNvSpPr>
            <a:spLocks noGrp="1"/>
          </p:cNvSpPr>
          <p:nvPr/>
        </p:nvSpPr>
        <p:spPr>
          <a:xfrm>
            <a:off x="6115050" y="39433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970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最大克拉默系数 = 0.0101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6A8C205-4C5A-43DD-B44F-5EE149BE7490}"/>
              </a:ext>
            </a:extLst>
          </p:cNvPr>
          <p:cNvSpPr>
            <a:spLocks noGrp="1"/>
          </p:cNvSpPr>
          <p:nvPr/>
        </p:nvSpPr>
        <p:spPr>
          <a:xfrm>
            <a:off x="6115050" y="4457700"/>
            <a:ext cx="2428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处理前分布高度一致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CAFC98FA-627D-4B3E-9A2C-E2E71E0A3D4F}"/>
              </a:ext>
            </a:extLst>
          </p:cNvPr>
          <p:cNvSpPr>
            <a:spLocks noGrp="1"/>
          </p:cNvSpPr>
          <p:nvPr/>
        </p:nvSpPr>
        <p:spPr>
          <a:xfrm>
            <a:off x="8658225" y="3619500"/>
            <a:ext cx="953" cy="1333500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6EAE165-F0CF-4CFA-AE1C-772FCEE0B35F}"/>
              </a:ext>
            </a:extLst>
          </p:cNvPr>
          <p:cNvSpPr>
            <a:spLocks noGrp="1"/>
          </p:cNvSpPr>
          <p:nvPr/>
        </p:nvSpPr>
        <p:spPr>
          <a:xfrm>
            <a:off x="8829675" y="358140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数据完整性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F976FA5-0D54-49AD-97DA-EB6F115DB7F9}"/>
              </a:ext>
            </a:extLst>
          </p:cNvPr>
          <p:cNvSpPr>
            <a:spLocks noGrp="1"/>
          </p:cNvSpPr>
          <p:nvPr/>
        </p:nvSpPr>
        <p:spPr>
          <a:xfrm>
            <a:off x="8829675" y="3943350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0 / 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FCCE617-A62C-4B47-B94D-06AF0C7DB107}"/>
              </a:ext>
            </a:extLst>
          </p:cNvPr>
          <p:cNvSpPr>
            <a:spLocks noGrp="1"/>
          </p:cNvSpPr>
          <p:nvPr/>
        </p:nvSpPr>
        <p:spPr>
          <a:xfrm>
            <a:off x="8829675" y="4457700"/>
            <a:ext cx="2428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关键缺失 / 结果逻辑违规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0F023FF1-3E55-447F-B168-80663D3C9742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0801350" cy="685800"/>
          </a:xfrm>
          <a:prstGeom prst="roundRect">
            <a:avLst>
              <a:gd name="adj" fmla="val 16667"/>
            </a:avLst>
          </a:prstGeom>
          <a:solidFill>
            <a:srgbClr val="F4F7F8"/>
          </a:solidFill>
          <a:ln w="9525">
            <a:solidFill>
              <a:srgbClr val="E6ECE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2BE53E5-1575-459A-8471-D07B25CE9554}"/>
              </a:ext>
            </a:extLst>
          </p:cNvPr>
          <p:cNvSpPr>
            <a:spLocks noGrp="1"/>
          </p:cNvSpPr>
          <p:nvPr/>
        </p:nvSpPr>
        <p:spPr>
          <a:xfrm>
            <a:off x="876300" y="54483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重复记录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ED73DA2-A8AE-4973-AC77-C60C7C8E666B}"/>
              </a:ext>
            </a:extLst>
          </p:cNvPr>
          <p:cNvSpPr>
            <a:spLocks noGrp="1"/>
          </p:cNvSpPr>
          <p:nvPr/>
        </p:nvSpPr>
        <p:spPr>
          <a:xfrm>
            <a:off x="1885950" y="54102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缺少客户编号，无法判断 6,562 条完全重复记录是否来自同一客户，因此分析中予以保留。</a:t>
            </a:r>
          </a:p>
        </p:txBody>
      </p:sp>
    </p:spTree>
    <p:extLst>
      <p:ext uri="{BB962C8B-B14F-4D97-AF65-F5344CB8AC3E}">
        <p14:creationId xmlns:p14="http://schemas.microsoft.com/office/powerpoint/2010/main" val="82639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96AF9828-E678-4234-9741-019F1419872F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8F4635-67B9-4352-9803-C8B7507ABCE5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平均处理效应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731577-D62A-4998-A7D9-DBB9F60A4DD0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两种邮件均提升消费金额；男装邮件的点估计最高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9C8FE4-CFF4-46FC-82A7-76F2FB02EC89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FADA94DD-A19F-4934-8164-9819F80441CA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EB51ED-2678-429D-9F3E-1E19E039B59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AF3103-F6A0-42C2-9D2A-4C94E9D1957C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B3DE14-0723-4789-849C-787963EB1643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每名随机客户的消费金额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609600" y="1695450"/>
          <a:ext cx="5905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BB944CEE-D3C4-4071-AF5F-B211F217FDA6}"/>
              </a:ext>
            </a:extLst>
          </p:cNvPr>
          <p:cNvSpPr>
            <a:spLocks noGrp="1"/>
          </p:cNvSpPr>
          <p:nvPr/>
        </p:nvSpPr>
        <p:spPr>
          <a:xfrm>
            <a:off x="7086600" y="1438275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主要对比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A1F7C2-A5DA-401C-9C2B-F41498C1B65D}"/>
              </a:ext>
            </a:extLst>
          </p:cNvPr>
          <p:cNvSpPr>
            <a:spLocks noGrp="1"/>
          </p:cNvSpPr>
          <p:nvPr/>
        </p:nvSpPr>
        <p:spPr>
          <a:xfrm>
            <a:off x="7086600" y="180975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+0.770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852ED2-37CC-4FE9-85DA-2AC8D7416DC0}"/>
              </a:ext>
            </a:extLst>
          </p:cNvPr>
          <p:cNvSpPr>
            <a:spLocks noGrp="1"/>
          </p:cNvSpPr>
          <p:nvPr/>
        </p:nvSpPr>
        <p:spPr>
          <a:xfrm>
            <a:off x="9220200" y="1866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男装邮件 对比 不发邮件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7E23E3-6F72-4E4F-9370-A23135B3B845}"/>
              </a:ext>
            </a:extLst>
          </p:cNvPr>
          <p:cNvSpPr>
            <a:spLocks noGrp="1"/>
          </p:cNvSpPr>
          <p:nvPr/>
        </p:nvSpPr>
        <p:spPr>
          <a:xfrm>
            <a:off x="7086600" y="23050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95%置信区间 [0.485, 1.055]｜霍尔姆校正显著性概率 &lt; 0.001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93B3B67-3E03-46E2-9C74-5E9A208FD5AB}"/>
              </a:ext>
            </a:extLst>
          </p:cNvPr>
          <p:cNvSpPr>
            <a:spLocks noGrp="1"/>
          </p:cNvSpPr>
          <p:nvPr/>
        </p:nvSpPr>
        <p:spPr>
          <a:xfrm>
            <a:off x="7086600" y="2752725"/>
            <a:ext cx="42672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18061B-94E1-4CDD-A1D0-C474A7B753A4}"/>
              </a:ext>
            </a:extLst>
          </p:cNvPr>
          <p:cNvSpPr>
            <a:spLocks noGrp="1"/>
          </p:cNvSpPr>
          <p:nvPr/>
        </p:nvSpPr>
        <p:spPr>
          <a:xfrm>
            <a:off x="7086600" y="301942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+0.424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4C2758-E32C-4865-AAD7-7BA26F5B3732}"/>
              </a:ext>
            </a:extLst>
          </p:cNvPr>
          <p:cNvSpPr>
            <a:spLocks noGrp="1"/>
          </p:cNvSpPr>
          <p:nvPr/>
        </p:nvSpPr>
        <p:spPr>
          <a:xfrm>
            <a:off x="9220200" y="30765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女装邮件 对比 不发邮件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339584-698A-4386-A0D3-E5B4F85FB27D}"/>
              </a:ext>
            </a:extLst>
          </p:cNvPr>
          <p:cNvSpPr>
            <a:spLocks noGrp="1"/>
          </p:cNvSpPr>
          <p:nvPr/>
        </p:nvSpPr>
        <p:spPr>
          <a:xfrm>
            <a:off x="7086600" y="351472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95%置信区间 [0.169, 0.680]｜霍尔姆校正显著性概率 = 0.0023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6005881-3C80-4C1B-8A00-47BDF5A59E57}"/>
              </a:ext>
            </a:extLst>
          </p:cNvPr>
          <p:cNvSpPr>
            <a:spLocks noGrp="1"/>
          </p:cNvSpPr>
          <p:nvPr/>
        </p:nvSpPr>
        <p:spPr>
          <a:xfrm>
            <a:off x="7086600" y="4029075"/>
            <a:ext cx="4267200" cy="800100"/>
          </a:xfrm>
          <a:prstGeom prst="roundRect">
            <a:avLst>
              <a:gd name="adj" fmla="val 14286"/>
            </a:avLst>
          </a:prstGeom>
          <a:solidFill>
            <a:srgbClr val="FEF0ED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078C92-698B-4B22-8CB3-E50608A761F6}"/>
              </a:ext>
            </a:extLst>
          </p:cNvPr>
          <p:cNvSpPr>
            <a:spLocks noGrp="1"/>
          </p:cNvSpPr>
          <p:nvPr/>
        </p:nvSpPr>
        <p:spPr>
          <a:xfrm>
            <a:off x="7258050" y="41910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男装邮件 对比 女装邮件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00C6CE-2B75-4AB8-AC16-7362613A682B}"/>
              </a:ext>
            </a:extLst>
          </p:cNvPr>
          <p:cNvSpPr>
            <a:spLocks noGrp="1"/>
          </p:cNvSpPr>
          <p:nvPr/>
        </p:nvSpPr>
        <p:spPr>
          <a:xfrm>
            <a:off x="7258050" y="4476750"/>
            <a:ext cx="3829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+0.345 点估计；两类邮件差异的稳健性结果见下一页。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23068398-D5E4-4608-8CC8-423C689AC8B8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08585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76EC39-3716-409F-809D-CD36F52EB35F}"/>
              </a:ext>
            </a:extLst>
          </p:cNvPr>
          <p:cNvSpPr>
            <a:spLocks noGrp="1"/>
          </p:cNvSpPr>
          <p:nvPr/>
        </p:nvSpPr>
        <p:spPr>
          <a:xfrm>
            <a:off x="666750" y="5353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次要指标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7C354C-ADDB-4349-A291-C21BB12A185C}"/>
              </a:ext>
            </a:extLst>
          </p:cNvPr>
          <p:cNvSpPr>
            <a:spLocks noGrp="1"/>
          </p:cNvSpPr>
          <p:nvPr/>
        </p:nvSpPr>
        <p:spPr>
          <a:xfrm>
            <a:off x="666750" y="56388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访问率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4DD4185-A88D-4301-AE77-3DA251478FAD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转化率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4E3DFD-5266-48F9-8368-593429DF4501}"/>
              </a:ext>
            </a:extLst>
          </p:cNvPr>
          <p:cNvSpPr>
            <a:spLocks noGrp="1"/>
          </p:cNvSpPr>
          <p:nvPr/>
        </p:nvSpPr>
        <p:spPr>
          <a:xfrm>
            <a:off x="2571750" y="5314950"/>
            <a:ext cx="2428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不发邮件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F6A260-A939-4591-9B36-4CA62D5697E4}"/>
              </a:ext>
            </a:extLst>
          </p:cNvPr>
          <p:cNvSpPr>
            <a:spLocks noGrp="1"/>
          </p:cNvSpPr>
          <p:nvPr/>
        </p:nvSpPr>
        <p:spPr>
          <a:xfrm>
            <a:off x="2571750" y="561975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10.62%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497BC0-D97D-43BF-BCFF-784661364804}"/>
              </a:ext>
            </a:extLst>
          </p:cNvPr>
          <p:cNvSpPr>
            <a:spLocks noGrp="1"/>
          </p:cNvSpPr>
          <p:nvPr/>
        </p:nvSpPr>
        <p:spPr>
          <a:xfrm>
            <a:off x="2571750" y="588645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0.57%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46E2CD-5AFB-4092-BD34-1C44909EA7D4}"/>
              </a:ext>
            </a:extLst>
          </p:cNvPr>
          <p:cNvSpPr>
            <a:spLocks noGrp="1"/>
          </p:cNvSpPr>
          <p:nvPr/>
        </p:nvSpPr>
        <p:spPr>
          <a:xfrm>
            <a:off x="5476875" y="5314950"/>
            <a:ext cx="2428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男装邮件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F856D8-BAD2-4256-9212-45EE28B4442F}"/>
              </a:ext>
            </a:extLst>
          </p:cNvPr>
          <p:cNvSpPr>
            <a:spLocks noGrp="1"/>
          </p:cNvSpPr>
          <p:nvPr/>
        </p:nvSpPr>
        <p:spPr>
          <a:xfrm>
            <a:off x="5476875" y="561975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18.28%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E17728-8516-41E6-9238-628E9BFBF3B8}"/>
              </a:ext>
            </a:extLst>
          </p:cNvPr>
          <p:cNvSpPr>
            <a:spLocks noGrp="1"/>
          </p:cNvSpPr>
          <p:nvPr/>
        </p:nvSpPr>
        <p:spPr>
          <a:xfrm>
            <a:off x="5476875" y="588645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1.25%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3E6BAD2-5785-4BDC-8F07-6A6E79236387}"/>
              </a:ext>
            </a:extLst>
          </p:cNvPr>
          <p:cNvSpPr>
            <a:spLocks noGrp="1"/>
          </p:cNvSpPr>
          <p:nvPr/>
        </p:nvSpPr>
        <p:spPr>
          <a:xfrm>
            <a:off x="8382000" y="5314950"/>
            <a:ext cx="2428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女装邮件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B85A94E-D884-4404-BACF-9F73FAB19C3E}"/>
              </a:ext>
            </a:extLst>
          </p:cNvPr>
          <p:cNvSpPr>
            <a:spLocks noGrp="1"/>
          </p:cNvSpPr>
          <p:nvPr/>
        </p:nvSpPr>
        <p:spPr>
          <a:xfrm>
            <a:off x="8382000" y="561975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15.14%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599B0AC-883D-4E69-A45E-ABF141AEC996}"/>
              </a:ext>
            </a:extLst>
          </p:cNvPr>
          <p:cNvSpPr>
            <a:spLocks noGrp="1"/>
          </p:cNvSpPr>
          <p:nvPr/>
        </p:nvSpPr>
        <p:spPr>
          <a:xfrm>
            <a:off x="8382000" y="5886450"/>
            <a:ext cx="2428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0.88%</a:t>
            </a:r>
          </a:p>
        </p:txBody>
      </p:sp>
    </p:spTree>
    <p:extLst>
      <p:ext uri="{BB962C8B-B14F-4D97-AF65-F5344CB8AC3E}">
        <p14:creationId xmlns:p14="http://schemas.microsoft.com/office/powerpoint/2010/main" val="180687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7CC8FECA-0FE2-4AFB-9460-DF38CA250D21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78046A-F6F4-4D0F-BE93-C057CD15A368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稳健性与不确定性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EBDECD-694F-46C4-AB70-29F06AF5F744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相对不发邮件的增量稳健；两种邮件的优劣仍有不确定性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FE801A-DE02-45F4-8C17-4A088AADC415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3DB36FE9-39BD-4A26-8E35-6A8B197EF8D2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969713-E1F3-41F6-BA6C-ABAB3E151552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38E48B-1875-480A-8DB1-3E8FEBE3DCC4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633664-E81D-4C06-9F56-1F1AB8C3CBBE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Welch 95%置信区间（深蓝）｜Bootstrap 95%置信区间（青绿）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7458212D-581F-4C92-A3AD-D09F2096F0C0}"/>
              </a:ext>
            </a:extLst>
          </p:cNvPr>
          <p:cNvSpPr>
            <a:spLocks noGrp="1"/>
          </p:cNvSpPr>
          <p:nvPr/>
        </p:nvSpPr>
        <p:spPr>
          <a:xfrm>
            <a:off x="2886808" y="1752600"/>
            <a:ext cx="953" cy="3409950"/>
          </a:xfrm>
          <a:prstGeom prst="line">
            <a:avLst/>
          </a:prstGeom>
          <a:noFill/>
          <a:ln w="17145">
            <a:solidFill>
              <a:srgbClr val="EF6A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AA15B8-D4D9-407C-A5A5-C1C48ACC6444}"/>
              </a:ext>
            </a:extLst>
          </p:cNvPr>
          <p:cNvSpPr>
            <a:spLocks noGrp="1"/>
          </p:cNvSpPr>
          <p:nvPr/>
        </p:nvSpPr>
        <p:spPr>
          <a:xfrm>
            <a:off x="2677258" y="52387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0.0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68EFFD42-FB07-4956-BE51-BDA8E0482346}"/>
              </a:ext>
            </a:extLst>
          </p:cNvPr>
          <p:cNvSpPr>
            <a:spLocks noGrp="1"/>
          </p:cNvSpPr>
          <p:nvPr/>
        </p:nvSpPr>
        <p:spPr>
          <a:xfrm>
            <a:off x="4938346" y="1752600"/>
            <a:ext cx="953" cy="3409950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863340-548E-48A8-A16A-3A6CC802BEDB}"/>
              </a:ext>
            </a:extLst>
          </p:cNvPr>
          <p:cNvSpPr>
            <a:spLocks noGrp="1"/>
          </p:cNvSpPr>
          <p:nvPr/>
        </p:nvSpPr>
        <p:spPr>
          <a:xfrm>
            <a:off x="4728796" y="52387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0.5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672F55FA-9043-4B3E-9870-76012D14225C}"/>
              </a:ext>
            </a:extLst>
          </p:cNvPr>
          <p:cNvSpPr>
            <a:spLocks noGrp="1"/>
          </p:cNvSpPr>
          <p:nvPr/>
        </p:nvSpPr>
        <p:spPr>
          <a:xfrm>
            <a:off x="6989885" y="1752600"/>
            <a:ext cx="953" cy="3409950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B85FC9-5831-49B6-86CD-6E512A206350}"/>
              </a:ext>
            </a:extLst>
          </p:cNvPr>
          <p:cNvSpPr>
            <a:spLocks noGrp="1"/>
          </p:cNvSpPr>
          <p:nvPr/>
        </p:nvSpPr>
        <p:spPr>
          <a:xfrm>
            <a:off x="6780335" y="52387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1.0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A0E110-1600-49EC-8BFD-4EBAA6BF6344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676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男装邮件－不发邮件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214C2B3-8060-4C29-94BE-89CBABF590AB}"/>
              </a:ext>
            </a:extLst>
          </p:cNvPr>
          <p:cNvSpPr>
            <a:spLocks noGrp="1"/>
          </p:cNvSpPr>
          <p:nvPr/>
        </p:nvSpPr>
        <p:spPr>
          <a:xfrm>
            <a:off x="4877374" y="2076450"/>
            <a:ext cx="2336189" cy="953"/>
          </a:xfrm>
          <a:prstGeom prst="line">
            <a:avLst/>
          </a:prstGeom>
          <a:noFill/>
          <a:ln w="38100">
            <a:solidFill>
              <a:srgbClr val="173A5E"/>
            </a:solidFill>
            <a:prstDash val="solid"/>
          </a:ln>
        </p:spPr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CD8A83CA-0F23-4D17-A45F-A2E46562424F}"/>
              </a:ext>
            </a:extLst>
          </p:cNvPr>
          <p:cNvSpPr>
            <a:spLocks noGrp="1"/>
          </p:cNvSpPr>
          <p:nvPr/>
        </p:nvSpPr>
        <p:spPr>
          <a:xfrm>
            <a:off x="4877374" y="2009775"/>
            <a:ext cx="953" cy="13335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F9547F99-7B22-48E1-B84C-DC481EBD7015}"/>
              </a:ext>
            </a:extLst>
          </p:cNvPr>
          <p:cNvSpPr>
            <a:spLocks noGrp="1"/>
          </p:cNvSpPr>
          <p:nvPr/>
        </p:nvSpPr>
        <p:spPr>
          <a:xfrm>
            <a:off x="7213564" y="2009775"/>
            <a:ext cx="953" cy="13335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9006B47-48D8-4B95-A8DF-FF969796D917}"/>
              </a:ext>
            </a:extLst>
          </p:cNvPr>
          <p:cNvSpPr>
            <a:spLocks noGrp="1"/>
          </p:cNvSpPr>
          <p:nvPr/>
        </p:nvSpPr>
        <p:spPr>
          <a:xfrm>
            <a:off x="5983555" y="2014538"/>
            <a:ext cx="123825" cy="123825"/>
          </a:xfrm>
          <a:prstGeom prst="ellipse">
            <a:avLst/>
          </a:prstGeom>
          <a:solidFill>
            <a:srgbClr val="00A6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1EF3D85A-C93A-4E6C-9AC9-88D57844D14A}"/>
              </a:ext>
            </a:extLst>
          </p:cNvPr>
          <p:cNvSpPr>
            <a:spLocks noGrp="1"/>
          </p:cNvSpPr>
          <p:nvPr/>
        </p:nvSpPr>
        <p:spPr>
          <a:xfrm>
            <a:off x="4906806" y="2324100"/>
            <a:ext cx="2316462" cy="953"/>
          </a:xfrm>
          <a:prstGeom prst="line">
            <a:avLst/>
          </a:prstGeom>
          <a:noFill/>
          <a:ln w="28575">
            <a:solidFill>
              <a:srgbClr val="2BB8B3"/>
            </a:solidFill>
            <a:prstDash val="solid"/>
          </a:ln>
        </p:spPr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280FA33-6143-4D76-A044-5D56CCE71548}"/>
              </a:ext>
            </a:extLst>
          </p:cNvPr>
          <p:cNvSpPr>
            <a:spLocks noGrp="1"/>
          </p:cNvSpPr>
          <p:nvPr/>
        </p:nvSpPr>
        <p:spPr>
          <a:xfrm>
            <a:off x="6007367" y="2286000"/>
            <a:ext cx="76200" cy="76200"/>
          </a:xfrm>
          <a:prstGeom prst="ellipse">
            <a:avLst/>
          </a:prstGeom>
          <a:solidFill>
            <a:srgbClr val="2BB8B3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132ED01-B542-4AA7-B2CE-D9849549C3EE}"/>
              </a:ext>
            </a:extLst>
          </p:cNvPr>
          <p:cNvSpPr>
            <a:spLocks noGrp="1"/>
          </p:cNvSpPr>
          <p:nvPr/>
        </p:nvSpPr>
        <p:spPr>
          <a:xfrm>
            <a:off x="7915275" y="193357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0.770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7E4F66-8DC2-4366-8FAD-7AF10A9F7067}"/>
              </a:ext>
            </a:extLst>
          </p:cNvPr>
          <p:cNvSpPr>
            <a:spLocks noGrp="1"/>
          </p:cNvSpPr>
          <p:nvPr/>
        </p:nvSpPr>
        <p:spPr>
          <a:xfrm>
            <a:off x="8763000" y="1914525"/>
            <a:ext cx="1095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霍尔姆校正 &lt;0.001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514621-6042-45D1-953E-68AD34D4695A}"/>
              </a:ext>
            </a:extLst>
          </p:cNvPr>
          <p:cNvSpPr>
            <a:spLocks noGrp="1"/>
          </p:cNvSpPr>
          <p:nvPr/>
        </p:nvSpPr>
        <p:spPr>
          <a:xfrm>
            <a:off x="9858375" y="19145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严格置换检验 &lt;0.001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54AEC3-746D-4166-838E-5B6ACD34A429}"/>
              </a:ext>
            </a:extLst>
          </p:cNvPr>
          <p:cNvSpPr>
            <a:spLocks noGrp="1"/>
          </p:cNvSpPr>
          <p:nvPr/>
        </p:nvSpPr>
        <p:spPr>
          <a:xfrm>
            <a:off x="10001250" y="22288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稳健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478873A-22CE-46F7-81AA-1AC812883F98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1676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女装邮件－不发邮件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EDC0A038-0E8A-45F6-B300-1864035255F3}"/>
              </a:ext>
            </a:extLst>
          </p:cNvPr>
          <p:cNvSpPr>
            <a:spLocks noGrp="1"/>
          </p:cNvSpPr>
          <p:nvPr/>
        </p:nvSpPr>
        <p:spPr>
          <a:xfrm>
            <a:off x="3580051" y="3276600"/>
            <a:ext cx="2096307" cy="953"/>
          </a:xfrm>
          <a:prstGeom prst="line">
            <a:avLst/>
          </a:prstGeom>
          <a:noFill/>
          <a:ln w="38100">
            <a:solidFill>
              <a:srgbClr val="173A5E"/>
            </a:solidFill>
            <a:prstDash val="solid"/>
          </a:ln>
        </p:spPr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A8C60F07-8D7B-434A-9135-C76449C7BA41}"/>
              </a:ext>
            </a:extLst>
          </p:cNvPr>
          <p:cNvSpPr>
            <a:spLocks noGrp="1"/>
          </p:cNvSpPr>
          <p:nvPr/>
        </p:nvSpPr>
        <p:spPr>
          <a:xfrm>
            <a:off x="3580051" y="3209925"/>
            <a:ext cx="953" cy="13335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DF23AD58-747D-4F3A-A93C-08E8D9D1F5DC}"/>
              </a:ext>
            </a:extLst>
          </p:cNvPr>
          <p:cNvSpPr>
            <a:spLocks noGrp="1"/>
          </p:cNvSpPr>
          <p:nvPr/>
        </p:nvSpPr>
        <p:spPr>
          <a:xfrm>
            <a:off x="5676358" y="3209925"/>
            <a:ext cx="953" cy="13335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E71CB55C-74E1-4A9F-AE4B-01447C360241}"/>
              </a:ext>
            </a:extLst>
          </p:cNvPr>
          <p:cNvSpPr>
            <a:spLocks noGrp="1"/>
          </p:cNvSpPr>
          <p:nvPr/>
        </p:nvSpPr>
        <p:spPr>
          <a:xfrm>
            <a:off x="4566290" y="3214688"/>
            <a:ext cx="123825" cy="123825"/>
          </a:xfrm>
          <a:prstGeom prst="ellipse">
            <a:avLst/>
          </a:prstGeom>
          <a:solidFill>
            <a:srgbClr val="173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88435591-2252-4D11-8997-62AC5CC8674E}"/>
              </a:ext>
            </a:extLst>
          </p:cNvPr>
          <p:cNvSpPr>
            <a:spLocks noGrp="1"/>
          </p:cNvSpPr>
          <p:nvPr/>
        </p:nvSpPr>
        <p:spPr>
          <a:xfrm>
            <a:off x="3569855" y="3524250"/>
            <a:ext cx="2106749" cy="953"/>
          </a:xfrm>
          <a:prstGeom prst="line">
            <a:avLst/>
          </a:prstGeom>
          <a:noFill/>
          <a:ln w="28575">
            <a:solidFill>
              <a:srgbClr val="2BB8B3"/>
            </a:solidFill>
            <a:prstDash val="solid"/>
          </a:ln>
        </p:spPr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71C84A3-3A1B-4A61-8F3A-90C632C1015B}"/>
              </a:ext>
            </a:extLst>
          </p:cNvPr>
          <p:cNvSpPr>
            <a:spLocks noGrp="1"/>
          </p:cNvSpPr>
          <p:nvPr/>
        </p:nvSpPr>
        <p:spPr>
          <a:xfrm>
            <a:off x="4590103" y="3486150"/>
            <a:ext cx="76200" cy="76200"/>
          </a:xfrm>
          <a:prstGeom prst="ellipse">
            <a:avLst/>
          </a:prstGeom>
          <a:solidFill>
            <a:srgbClr val="2BB8B3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779034F-42EE-44F0-A50D-A501B60360EE}"/>
              </a:ext>
            </a:extLst>
          </p:cNvPr>
          <p:cNvSpPr>
            <a:spLocks noGrp="1"/>
          </p:cNvSpPr>
          <p:nvPr/>
        </p:nvSpPr>
        <p:spPr>
          <a:xfrm>
            <a:off x="7915275" y="313372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0.424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C6FEA4-796B-4AB6-A326-CE599B657114}"/>
              </a:ext>
            </a:extLst>
          </p:cNvPr>
          <p:cNvSpPr>
            <a:spLocks noGrp="1"/>
          </p:cNvSpPr>
          <p:nvPr/>
        </p:nvSpPr>
        <p:spPr>
          <a:xfrm>
            <a:off x="8763000" y="3114675"/>
            <a:ext cx="1095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霍尔姆校正 0.0023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2533E5A-7E8A-42A2-8038-87651950E3AF}"/>
              </a:ext>
            </a:extLst>
          </p:cNvPr>
          <p:cNvSpPr>
            <a:spLocks noGrp="1"/>
          </p:cNvSpPr>
          <p:nvPr/>
        </p:nvSpPr>
        <p:spPr>
          <a:xfrm>
            <a:off x="9858375" y="311467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严格置换检验 0.0037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69694AC-A040-422F-8CAD-B3DE0C151409}"/>
              </a:ext>
            </a:extLst>
          </p:cNvPr>
          <p:cNvSpPr>
            <a:spLocks noGrp="1"/>
          </p:cNvSpPr>
          <p:nvPr/>
        </p:nvSpPr>
        <p:spPr>
          <a:xfrm>
            <a:off x="10001250" y="34290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稳健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4948333-70F4-4D0E-8D46-682DD84E0A00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1676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男装邮件－女装邮件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579624F3-4114-4162-8D24-4E87A8D10B77}"/>
              </a:ext>
            </a:extLst>
          </p:cNvPr>
          <p:cNvSpPr>
            <a:spLocks noGrp="1"/>
          </p:cNvSpPr>
          <p:nvPr/>
        </p:nvSpPr>
        <p:spPr>
          <a:xfrm>
            <a:off x="3020408" y="4476750"/>
            <a:ext cx="2567324" cy="953"/>
          </a:xfrm>
          <a:prstGeom prst="line">
            <a:avLst/>
          </a:prstGeom>
          <a:noFill/>
          <a:ln w="38100">
            <a:solidFill>
              <a:srgbClr val="173A5E"/>
            </a:solidFill>
            <a:prstDash val="solid"/>
          </a:ln>
        </p:spPr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5E2AE178-7A47-4409-9843-18EEC498F95D}"/>
              </a:ext>
            </a:extLst>
          </p:cNvPr>
          <p:cNvSpPr>
            <a:spLocks noGrp="1"/>
          </p:cNvSpPr>
          <p:nvPr/>
        </p:nvSpPr>
        <p:spPr>
          <a:xfrm>
            <a:off x="3020408" y="4410075"/>
            <a:ext cx="953" cy="13335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BB0F862E-93ED-41B7-A5F2-0C3BE5D10204}"/>
              </a:ext>
            </a:extLst>
          </p:cNvPr>
          <p:cNvSpPr>
            <a:spLocks noGrp="1"/>
          </p:cNvSpPr>
          <p:nvPr/>
        </p:nvSpPr>
        <p:spPr>
          <a:xfrm>
            <a:off x="5587732" y="4410075"/>
            <a:ext cx="953" cy="13335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164804B-7FD9-4A0B-8960-2DF99D11780F}"/>
              </a:ext>
            </a:extLst>
          </p:cNvPr>
          <p:cNvSpPr>
            <a:spLocks noGrp="1"/>
          </p:cNvSpPr>
          <p:nvPr/>
        </p:nvSpPr>
        <p:spPr>
          <a:xfrm>
            <a:off x="4242160" y="4414838"/>
            <a:ext cx="123825" cy="123825"/>
          </a:xfrm>
          <a:prstGeom prst="ellipse">
            <a:avLst/>
          </a:prstGeom>
          <a:solidFill>
            <a:srgbClr val="EF6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D088ADC8-AB36-4DDC-A81B-37F065404CFA}"/>
              </a:ext>
            </a:extLst>
          </p:cNvPr>
          <p:cNvSpPr>
            <a:spLocks noGrp="1"/>
          </p:cNvSpPr>
          <p:nvPr/>
        </p:nvSpPr>
        <p:spPr>
          <a:xfrm>
            <a:off x="3052703" y="4724400"/>
            <a:ext cx="2539993" cy="953"/>
          </a:xfrm>
          <a:prstGeom prst="line">
            <a:avLst/>
          </a:prstGeom>
          <a:noFill/>
          <a:ln w="28575">
            <a:solidFill>
              <a:srgbClr val="2BB8B3"/>
            </a:solidFill>
            <a:prstDash val="solid"/>
          </a:ln>
        </p:spPr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E9E4113-8DFD-4137-B975-6FCA16C2E49B}"/>
              </a:ext>
            </a:extLst>
          </p:cNvPr>
          <p:cNvSpPr>
            <a:spLocks noGrp="1"/>
          </p:cNvSpPr>
          <p:nvPr/>
        </p:nvSpPr>
        <p:spPr>
          <a:xfrm>
            <a:off x="4265972" y="4686300"/>
            <a:ext cx="76200" cy="76200"/>
          </a:xfrm>
          <a:prstGeom prst="ellipse">
            <a:avLst/>
          </a:prstGeom>
          <a:solidFill>
            <a:srgbClr val="2BB8B3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59D67C3-6B92-4E87-8B98-86011D69707C}"/>
              </a:ext>
            </a:extLst>
          </p:cNvPr>
          <p:cNvSpPr>
            <a:spLocks noGrp="1"/>
          </p:cNvSpPr>
          <p:nvPr/>
        </p:nvSpPr>
        <p:spPr>
          <a:xfrm>
            <a:off x="7915275" y="433387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0.345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C828038-40F9-40FB-8CA4-23CF02B4099D}"/>
              </a:ext>
            </a:extLst>
          </p:cNvPr>
          <p:cNvSpPr>
            <a:spLocks noGrp="1"/>
          </p:cNvSpPr>
          <p:nvPr/>
        </p:nvSpPr>
        <p:spPr>
          <a:xfrm>
            <a:off x="8763000" y="4314825"/>
            <a:ext cx="1095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霍尔姆校正 0.0305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04D1906-6C20-40FD-AC20-30125E022B83}"/>
              </a:ext>
            </a:extLst>
          </p:cNvPr>
          <p:cNvSpPr>
            <a:spLocks noGrp="1"/>
          </p:cNvSpPr>
          <p:nvPr/>
        </p:nvSpPr>
        <p:spPr>
          <a:xfrm>
            <a:off x="9858375" y="43148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严格置换检验 0.0811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E8382FF-D8EE-47C2-88AA-F67CCD46027E}"/>
              </a:ext>
            </a:extLst>
          </p:cNvPr>
          <p:cNvSpPr>
            <a:spLocks noGrp="1"/>
          </p:cNvSpPr>
          <p:nvPr/>
        </p:nvSpPr>
        <p:spPr>
          <a:xfrm>
            <a:off x="10001250" y="46291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谨慎解读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1719DBC1-E0D8-4783-8167-82C6B6CAEBDB}"/>
              </a:ext>
            </a:extLst>
          </p:cNvPr>
          <p:cNvSpPr>
            <a:spLocks noGrp="1"/>
          </p:cNvSpPr>
          <p:nvPr/>
        </p:nvSpPr>
        <p:spPr>
          <a:xfrm>
            <a:off x="685800" y="5629275"/>
            <a:ext cx="10801350" cy="476250"/>
          </a:xfrm>
          <a:prstGeom prst="roundRect">
            <a:avLst>
              <a:gd name="adj" fmla="val 24000"/>
            </a:avLst>
          </a:prstGeom>
          <a:solidFill>
            <a:srgbClr val="F4F7F8"/>
          </a:soli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487240B-16AD-4AFB-AD71-AD7E9B553A52}"/>
              </a:ext>
            </a:extLst>
          </p:cNvPr>
          <p:cNvSpPr>
            <a:spLocks noGrp="1"/>
          </p:cNvSpPr>
          <p:nvPr/>
        </p:nvSpPr>
        <p:spPr>
          <a:xfrm>
            <a:off x="876300" y="57626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6FD1958-1393-41EC-9FE6-2E7FA664AC45}"/>
              </a:ext>
            </a:extLst>
          </p:cNvPr>
          <p:cNvSpPr>
            <a:spLocks noGrp="1"/>
          </p:cNvSpPr>
          <p:nvPr/>
        </p:nvSpPr>
        <p:spPr>
          <a:xfrm>
            <a:off x="1952625" y="5724525"/>
            <a:ext cx="928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男装邮件的平均效果更高，但两种邮件的相对优劣证据弱于它们各自相对不发邮件的增量证据。</a:t>
            </a:r>
          </a:p>
        </p:txBody>
      </p:sp>
    </p:spTree>
    <p:extLst>
      <p:ext uri="{BB962C8B-B14F-4D97-AF65-F5344CB8AC3E}">
        <p14:creationId xmlns:p14="http://schemas.microsoft.com/office/powerpoint/2010/main" val="1107494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097D015B-A35A-43F5-B3E4-9AEA00579825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74D01E-CCF7-4241-A62A-19B0AA067996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处理效应异质性与增益模型验证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D45B50-D400-486D-B0CF-99491A35EFFA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现有特征未形成稳定的个性化排序信号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9285D1-061E-4984-A47B-5D0A1DD9F086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EC2C88BB-F685-417A-901B-5B1CA3ECF6D1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FBAD44-1818-4A23-92C7-3E73EAB7855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B4D5F3-75FB-41AF-9E45-81C13E8BA36F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F6C220-21E9-461E-A91B-3E1821A3EEE9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预设处理效应异质性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A121CC-5E78-4246-9691-C447C18895B8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2190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40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0 / 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7DF2BE-E80F-49F2-BAC2-EA68823D92D7}"/>
              </a:ext>
            </a:extLst>
          </p:cNvPr>
          <p:cNvSpPr>
            <a:spLocks noGrp="1"/>
          </p:cNvSpPr>
          <p:nvPr/>
        </p:nvSpPr>
        <p:spPr>
          <a:xfrm>
            <a:off x="666750" y="25431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经霍尔姆校正后获支持的调节变量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326063-28A4-4120-A93C-3D1097A76A3E}"/>
              </a:ext>
            </a:extLst>
          </p:cNvPr>
          <p:cNvSpPr>
            <a:spLocks noGrp="1"/>
          </p:cNvSpPr>
          <p:nvPr/>
        </p:nvSpPr>
        <p:spPr>
          <a:xfrm>
            <a:off x="704850" y="3200400"/>
            <a:ext cx="76200" cy="76200"/>
          </a:xfrm>
          <a:prstGeom prst="ellipse">
            <a:avLst/>
          </a:prstGeom>
          <a:solidFill>
            <a:srgbClr val="E6ECEF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9FC992-D6E2-46D5-87C6-5E0783CA2B73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最近购买间隔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4400204-1101-4756-9E6A-799E7F5F3DC6}"/>
              </a:ext>
            </a:extLst>
          </p:cNvPr>
          <p:cNvSpPr>
            <a:spLocks noGrp="1"/>
          </p:cNvSpPr>
          <p:nvPr/>
        </p:nvSpPr>
        <p:spPr>
          <a:xfrm>
            <a:off x="2895600" y="3200400"/>
            <a:ext cx="76200" cy="76200"/>
          </a:xfrm>
          <a:prstGeom prst="ellipse">
            <a:avLst/>
          </a:prstGeom>
          <a:solidFill>
            <a:srgbClr val="E6ECEF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0D4B31-B4F7-484C-8AAB-F9833D3FEFBF}"/>
              </a:ext>
            </a:extLst>
          </p:cNvPr>
          <p:cNvSpPr>
            <a:spLocks noGrp="1"/>
          </p:cNvSpPr>
          <p:nvPr/>
        </p:nvSpPr>
        <p:spPr>
          <a:xfrm>
            <a:off x="3067050" y="314325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历史消费分层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954C66D-8324-4E99-A8E0-BD2A6EF3BDC7}"/>
              </a:ext>
            </a:extLst>
          </p:cNvPr>
          <p:cNvSpPr>
            <a:spLocks noGrp="1"/>
          </p:cNvSpPr>
          <p:nvPr/>
        </p:nvSpPr>
        <p:spPr>
          <a:xfrm>
            <a:off x="704850" y="3695700"/>
            <a:ext cx="76200" cy="76200"/>
          </a:xfrm>
          <a:prstGeom prst="ellipse">
            <a:avLst/>
          </a:prstGeom>
          <a:solidFill>
            <a:srgbClr val="E6ECEF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2FF903-C8DD-4C65-BD57-EE71B640B22E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既往男装购买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5EED8BE-9268-43EA-B53B-779537A6B869}"/>
              </a:ext>
            </a:extLst>
          </p:cNvPr>
          <p:cNvSpPr>
            <a:spLocks noGrp="1"/>
          </p:cNvSpPr>
          <p:nvPr/>
        </p:nvSpPr>
        <p:spPr>
          <a:xfrm>
            <a:off x="2895600" y="3695700"/>
            <a:ext cx="76200" cy="76200"/>
          </a:xfrm>
          <a:prstGeom prst="ellipse">
            <a:avLst/>
          </a:prstGeom>
          <a:solidFill>
            <a:srgbClr val="E6ECEF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3F2682-88A8-447E-B32E-B531E0A7AF51}"/>
              </a:ext>
            </a:extLst>
          </p:cNvPr>
          <p:cNvSpPr>
            <a:spLocks noGrp="1"/>
          </p:cNvSpPr>
          <p:nvPr/>
        </p:nvSpPr>
        <p:spPr>
          <a:xfrm>
            <a:off x="3067050" y="363855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既往女装购买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1EE8FF3-B2AC-42B3-92D6-F6728C34FAE1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76200" cy="76200"/>
          </a:xfrm>
          <a:prstGeom prst="ellipse">
            <a:avLst/>
          </a:prstGeom>
          <a:solidFill>
            <a:srgbClr val="E6ECEF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EF99859-01A2-4807-98C3-70E7FD5EDFB7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新客户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2875498-A7B8-4CC2-86FF-4CB7E2974229}"/>
              </a:ext>
            </a:extLst>
          </p:cNvPr>
          <p:cNvSpPr>
            <a:spLocks noGrp="1"/>
          </p:cNvSpPr>
          <p:nvPr/>
        </p:nvSpPr>
        <p:spPr>
          <a:xfrm>
            <a:off x="2895600" y="4191000"/>
            <a:ext cx="76200" cy="76200"/>
          </a:xfrm>
          <a:prstGeom prst="ellipse">
            <a:avLst/>
          </a:prstGeom>
          <a:solidFill>
            <a:srgbClr val="E6ECEF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AF264F-7A80-422C-878A-4DF4EFA83D30}"/>
              </a:ext>
            </a:extLst>
          </p:cNvPr>
          <p:cNvSpPr>
            <a:spLocks noGrp="1"/>
          </p:cNvSpPr>
          <p:nvPr/>
        </p:nvSpPr>
        <p:spPr>
          <a:xfrm>
            <a:off x="3067050" y="413385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历史渠道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1385575-4F36-4C92-A772-05A5B54FFE48}"/>
              </a:ext>
            </a:extLst>
          </p:cNvPr>
          <p:cNvSpPr>
            <a:spLocks noGrp="1"/>
          </p:cNvSpPr>
          <p:nvPr/>
        </p:nvSpPr>
        <p:spPr>
          <a:xfrm>
            <a:off x="704850" y="4686300"/>
            <a:ext cx="76200" cy="76200"/>
          </a:xfrm>
          <a:prstGeom prst="ellipse">
            <a:avLst/>
          </a:prstGeom>
          <a:solidFill>
            <a:srgbClr val="E6ECEF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9F477AE-BE25-4DE4-A85E-614828656F24}"/>
              </a:ext>
            </a:extLst>
          </p:cNvPr>
          <p:cNvSpPr>
            <a:spLocks noGrp="1"/>
          </p:cNvSpPr>
          <p:nvPr/>
        </p:nvSpPr>
        <p:spPr>
          <a:xfrm>
            <a:off x="876300" y="462915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邮编类型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C160A90-87E8-4794-9BFE-39793A91A899}"/>
              </a:ext>
            </a:extLst>
          </p:cNvPr>
          <p:cNvSpPr>
            <a:spLocks noGrp="1"/>
          </p:cNvSpPr>
          <p:nvPr/>
        </p:nvSpPr>
        <p:spPr>
          <a:xfrm>
            <a:off x="666750" y="5314950"/>
            <a:ext cx="4286250" cy="628650"/>
          </a:xfrm>
          <a:prstGeom prst="roundRect">
            <a:avLst>
              <a:gd name="adj" fmla="val 18182"/>
            </a:avLst>
          </a:prstGeom>
          <a:solidFill>
            <a:srgbClr val="F4F7F8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D49166-27E6-415E-AC8A-58C0EEE8C376}"/>
              </a:ext>
            </a:extLst>
          </p:cNvPr>
          <p:cNvSpPr>
            <a:spLocks noGrp="1"/>
          </p:cNvSpPr>
          <p:nvPr/>
        </p:nvSpPr>
        <p:spPr>
          <a:xfrm>
            <a:off x="857250" y="55054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68AB66-2998-44B4-8361-5BA76F0B089E}"/>
              </a:ext>
            </a:extLst>
          </p:cNvPr>
          <p:cNvSpPr>
            <a:spLocks noGrp="1"/>
          </p:cNvSpPr>
          <p:nvPr/>
        </p:nvSpPr>
        <p:spPr>
          <a:xfrm>
            <a:off x="1524000" y="546735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证据不足不代表客户之间不存在真实差异。</a:t>
            </a:r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61F123A8-839B-4CBC-844C-54130E4F982A}"/>
              </a:ext>
            </a:extLst>
          </p:cNvPr>
          <p:cNvSpPr>
            <a:spLocks noGrp="1"/>
          </p:cNvSpPr>
          <p:nvPr/>
        </p:nvSpPr>
        <p:spPr>
          <a:xfrm>
            <a:off x="5410200" y="1457325"/>
            <a:ext cx="953" cy="4505325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17C51F1-E6F7-442F-9F04-573C1E71C914}"/>
              </a:ext>
            </a:extLst>
          </p:cNvPr>
          <p:cNvSpPr>
            <a:spLocks noGrp="1"/>
          </p:cNvSpPr>
          <p:nvPr/>
        </p:nvSpPr>
        <p:spPr>
          <a:xfrm>
            <a:off x="5810250" y="1438275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五折交叉拟合折外验证｜主模型：双重稳健学习器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54C688-0E09-4404-BFB9-B960E3982D05}"/>
              </a:ext>
            </a:extLst>
          </p:cNvPr>
          <p:cNvSpPr>
            <a:spLocks noGrp="1"/>
          </p:cNvSpPr>
          <p:nvPr/>
        </p:nvSpPr>
        <p:spPr>
          <a:xfrm>
            <a:off x="5810250" y="18097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预测前 30%－后 30%的实际处理效应</a:t>
            </a:r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62F2BE48-A381-46D2-AF7F-8B8AFFF7A74F}"/>
              </a:ext>
            </a:extLst>
          </p:cNvPr>
          <p:cNvSpPr>
            <a:spLocks noGrp="1"/>
          </p:cNvSpPr>
          <p:nvPr/>
        </p:nvSpPr>
        <p:spPr>
          <a:xfrm>
            <a:off x="7231856" y="2333625"/>
            <a:ext cx="953" cy="1819275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FED01FF-0D47-406F-964C-052DCCB6867B}"/>
              </a:ext>
            </a:extLst>
          </p:cNvPr>
          <p:cNvSpPr>
            <a:spLocks noGrp="1"/>
          </p:cNvSpPr>
          <p:nvPr/>
        </p:nvSpPr>
        <p:spPr>
          <a:xfrm>
            <a:off x="7022306" y="42100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-1.0</a:t>
            </a:r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B1CBF3E7-A450-4011-A762-F2A950FC6ECE}"/>
              </a:ext>
            </a:extLst>
          </p:cNvPr>
          <p:cNvSpPr>
            <a:spLocks noGrp="1"/>
          </p:cNvSpPr>
          <p:nvPr/>
        </p:nvSpPr>
        <p:spPr>
          <a:xfrm>
            <a:off x="9065419" y="2333625"/>
            <a:ext cx="953" cy="1819275"/>
          </a:xfrm>
          <a:prstGeom prst="line">
            <a:avLst/>
          </a:prstGeom>
          <a:noFill/>
          <a:ln w="16193">
            <a:solidFill>
              <a:srgbClr val="EF6A5B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48F5ACC-3A1D-4F15-AAEE-426455186235}"/>
              </a:ext>
            </a:extLst>
          </p:cNvPr>
          <p:cNvSpPr>
            <a:spLocks noGrp="1"/>
          </p:cNvSpPr>
          <p:nvPr/>
        </p:nvSpPr>
        <p:spPr>
          <a:xfrm>
            <a:off x="8855869" y="42100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0.0</a:t>
            </a:r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F8D257B3-36E5-4CE3-B935-BCBCE6F7EA91}"/>
              </a:ext>
            </a:extLst>
          </p:cNvPr>
          <p:cNvSpPr>
            <a:spLocks noGrp="1"/>
          </p:cNvSpPr>
          <p:nvPr/>
        </p:nvSpPr>
        <p:spPr>
          <a:xfrm>
            <a:off x="10532269" y="2333625"/>
            <a:ext cx="953" cy="1819275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A441F2A-CF60-45B4-847F-48A9D5A00B70}"/>
              </a:ext>
            </a:extLst>
          </p:cNvPr>
          <p:cNvSpPr>
            <a:spLocks noGrp="1"/>
          </p:cNvSpPr>
          <p:nvPr/>
        </p:nvSpPr>
        <p:spPr>
          <a:xfrm>
            <a:off x="10322719" y="42100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0.8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10C56FB-279B-40E4-843C-4D2246A6DB51}"/>
              </a:ext>
            </a:extLst>
          </p:cNvPr>
          <p:cNvSpPr>
            <a:spLocks noGrp="1"/>
          </p:cNvSpPr>
          <p:nvPr/>
        </p:nvSpPr>
        <p:spPr>
          <a:xfrm>
            <a:off x="5810250" y="2695575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男装邮件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3B31D696-FA69-4DC3-AE02-05B696A9A0B0}"/>
              </a:ext>
            </a:extLst>
          </p:cNvPr>
          <p:cNvSpPr>
            <a:spLocks noGrp="1"/>
          </p:cNvSpPr>
          <p:nvPr/>
        </p:nvSpPr>
        <p:spPr>
          <a:xfrm>
            <a:off x="7265416" y="2838450"/>
            <a:ext cx="2864993" cy="953"/>
          </a:xfrm>
          <a:prstGeom prst="line">
            <a:avLst/>
          </a:prstGeom>
          <a:noFill/>
          <a:ln w="38100">
            <a:solidFill>
              <a:srgbClr val="173A5E"/>
            </a:solidFill>
            <a:prstDash val="solid"/>
          </a:ln>
        </p:spPr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8DAE8EF9-F71E-4D0C-A2CC-094246FC9C6E}"/>
              </a:ext>
            </a:extLst>
          </p:cNvPr>
          <p:cNvSpPr>
            <a:spLocks noGrp="1"/>
          </p:cNvSpPr>
          <p:nvPr/>
        </p:nvSpPr>
        <p:spPr>
          <a:xfrm>
            <a:off x="7265416" y="2762250"/>
            <a:ext cx="953" cy="15240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321FDA22-602E-455E-A989-231CD890E21B}"/>
              </a:ext>
            </a:extLst>
          </p:cNvPr>
          <p:cNvSpPr>
            <a:spLocks noGrp="1"/>
          </p:cNvSpPr>
          <p:nvPr/>
        </p:nvSpPr>
        <p:spPr>
          <a:xfrm>
            <a:off x="10130409" y="2762250"/>
            <a:ext cx="953" cy="15240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51D7944F-EECC-4719-A907-09DA8F7CBD87}"/>
              </a:ext>
            </a:extLst>
          </p:cNvPr>
          <p:cNvSpPr>
            <a:spLocks noGrp="1"/>
          </p:cNvSpPr>
          <p:nvPr/>
        </p:nvSpPr>
        <p:spPr>
          <a:xfrm>
            <a:off x="8615850" y="2771775"/>
            <a:ext cx="133350" cy="133350"/>
          </a:xfrm>
          <a:prstGeom prst="ellipse">
            <a:avLst/>
          </a:prstGeom>
          <a:solidFill>
            <a:srgbClr val="00A6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FD31B9C-36A6-4921-AFC6-26257C3CE4D0}"/>
              </a:ext>
            </a:extLst>
          </p:cNvPr>
          <p:cNvSpPr>
            <a:spLocks noGrp="1"/>
          </p:cNvSpPr>
          <p:nvPr/>
        </p:nvSpPr>
        <p:spPr>
          <a:xfrm>
            <a:off x="7191375" y="30099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-0.209  [-0.982, 0.581]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B5BF841-DB08-4987-9829-2E3A23289A08}"/>
              </a:ext>
            </a:extLst>
          </p:cNvPr>
          <p:cNvSpPr>
            <a:spLocks noGrp="1"/>
          </p:cNvSpPr>
          <p:nvPr/>
        </p:nvSpPr>
        <p:spPr>
          <a:xfrm>
            <a:off x="10191750" y="2466975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062"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超越随机排序的曲线面积 −0.037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749B16D-8D32-49DE-AA60-139A804871B9}"/>
              </a:ext>
            </a:extLst>
          </p:cNvPr>
          <p:cNvSpPr>
            <a:spLocks noGrp="1"/>
          </p:cNvSpPr>
          <p:nvPr/>
        </p:nvSpPr>
        <p:spPr>
          <a:xfrm>
            <a:off x="5810250" y="3571875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女装邮件</a:t>
            </a:r>
          </a:p>
        </p:txBody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38761A11-351C-451D-AEB5-88EC1C2CC906}"/>
              </a:ext>
            </a:extLst>
          </p:cNvPr>
          <p:cNvSpPr>
            <a:spLocks noGrp="1"/>
          </p:cNvSpPr>
          <p:nvPr/>
        </p:nvSpPr>
        <p:spPr>
          <a:xfrm>
            <a:off x="8078487" y="3714750"/>
            <a:ext cx="2408388" cy="953"/>
          </a:xfrm>
          <a:prstGeom prst="line">
            <a:avLst/>
          </a:prstGeom>
          <a:noFill/>
          <a:ln w="38100">
            <a:solidFill>
              <a:srgbClr val="173A5E"/>
            </a:solidFill>
            <a:prstDash val="solid"/>
          </a:ln>
        </p:spPr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A0EDCADC-DDB6-4E38-B804-90AF14961879}"/>
              </a:ext>
            </a:extLst>
          </p:cNvPr>
          <p:cNvSpPr>
            <a:spLocks noGrp="1"/>
          </p:cNvSpPr>
          <p:nvPr/>
        </p:nvSpPr>
        <p:spPr>
          <a:xfrm>
            <a:off x="8078487" y="3638550"/>
            <a:ext cx="953" cy="15240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1BBD872A-137F-49F2-8ECE-C9EFD18496DC}"/>
              </a:ext>
            </a:extLst>
          </p:cNvPr>
          <p:cNvSpPr>
            <a:spLocks noGrp="1"/>
          </p:cNvSpPr>
          <p:nvPr/>
        </p:nvSpPr>
        <p:spPr>
          <a:xfrm>
            <a:off x="10486875" y="3638550"/>
            <a:ext cx="953" cy="152400"/>
          </a:xfrm>
          <a:prstGeom prst="line">
            <a:avLst/>
          </a:prstGeom>
          <a:noFill/>
          <a:ln w="19050">
            <a:solidFill>
              <a:srgbClr val="173A5E"/>
            </a:solidFill>
            <a:prstDash val="solid"/>
          </a:ln>
        </p:spPr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F58AE772-7775-4B90-B5E9-99831E36EB26}"/>
              </a:ext>
            </a:extLst>
          </p:cNvPr>
          <p:cNvSpPr>
            <a:spLocks noGrp="1"/>
          </p:cNvSpPr>
          <p:nvPr/>
        </p:nvSpPr>
        <p:spPr>
          <a:xfrm>
            <a:off x="9233658" y="3648075"/>
            <a:ext cx="133350" cy="133350"/>
          </a:xfrm>
          <a:prstGeom prst="ellipse">
            <a:avLst/>
          </a:prstGeom>
          <a:solidFill>
            <a:srgbClr val="173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3441D9C-507E-4C75-A5C3-06DF4906F202}"/>
              </a:ext>
            </a:extLst>
          </p:cNvPr>
          <p:cNvSpPr>
            <a:spLocks noGrp="1"/>
          </p:cNvSpPr>
          <p:nvPr/>
        </p:nvSpPr>
        <p:spPr>
          <a:xfrm>
            <a:off x="7191375" y="38862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+0.128  [-0.538, 0.775]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2769537-7CDE-42BE-8DF6-81F75B7FA527}"/>
              </a:ext>
            </a:extLst>
          </p:cNvPr>
          <p:cNvSpPr>
            <a:spLocks noGrp="1"/>
          </p:cNvSpPr>
          <p:nvPr/>
        </p:nvSpPr>
        <p:spPr>
          <a:xfrm>
            <a:off x="10191750" y="3343275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062"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超越随机排序的曲线面积 +0.017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B8187AF2-EB78-4B55-AF2B-CB9AE4367FE2}"/>
              </a:ext>
            </a:extLst>
          </p:cNvPr>
          <p:cNvSpPr>
            <a:spLocks noGrp="1"/>
          </p:cNvSpPr>
          <p:nvPr/>
        </p:nvSpPr>
        <p:spPr>
          <a:xfrm>
            <a:off x="5810250" y="4743450"/>
            <a:ext cx="5667375" cy="1200150"/>
          </a:xfrm>
          <a:prstGeom prst="roundRect">
            <a:avLst>
              <a:gd name="adj" fmla="val 9524"/>
            </a:avLst>
          </a:prstGeom>
          <a:solidFill>
            <a:srgbClr val="FEF0ED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B1B537-A8DF-41C9-8ADE-EBC3212BBF40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排序证据不足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F01FDCF-C365-46B6-A5DC-CD0D4B216D2D}"/>
              </a:ext>
            </a:extLst>
          </p:cNvPr>
          <p:cNvSpPr>
            <a:spLocks noGrp="1"/>
          </p:cNvSpPr>
          <p:nvPr/>
        </p:nvSpPr>
        <p:spPr>
          <a:xfrm>
            <a:off x="6000750" y="5343525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两组前后 30% 的效应区间均跨 0，Holm 校正 p = 1.0；现有特征不足以支持稳定、可泛化的个性化排序。</a:t>
            </a:r>
          </a:p>
        </p:txBody>
      </p:sp>
    </p:spTree>
    <p:extLst>
      <p:ext uri="{BB962C8B-B14F-4D97-AF65-F5344CB8AC3E}">
        <p14:creationId xmlns:p14="http://schemas.microsoft.com/office/powerpoint/2010/main" val="919333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BEA42FA6-F5C2-418A-90BC-904F56305F5F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17319C-0ADE-42AD-8EB1-B9F99F197F2B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多行动策略价值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CD376E-3B2E-4611-8C7B-63DB1811B9CB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全量男装邮件的策略价值最高；个性化策略未实现增益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A261C-A260-4C4A-AD1A-2552D408B736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A14970F2-1E04-4EF5-92AE-8085491397A6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03F6BA-DA47-4E70-9897-73414B938D4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CF926E-2042-478A-94EA-142656957330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28CD7C-BCA7-48E2-A1D1-6ACBB7A8DFF1}"/>
              </a:ext>
            </a:extLst>
          </p:cNvPr>
          <p:cNvSpPr>
            <a:spLocks noGrp="1"/>
          </p:cNvSpPr>
          <p:nvPr/>
        </p:nvSpPr>
        <p:spPr>
          <a:xfrm>
            <a:off x="666750" y="1419225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增广逆概率加权预期人均消费金额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="609600" y="1733550"/>
          <a:ext cx="6096000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ED23B31F-7677-45FD-9CC1-8566CEB7B91E}"/>
              </a:ext>
            </a:extLst>
          </p:cNvPr>
          <p:cNvSpPr>
            <a:spLocks noGrp="1"/>
          </p:cNvSpPr>
          <p:nvPr/>
        </p:nvSpPr>
        <p:spPr>
          <a:xfrm>
            <a:off x="7219950" y="14382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核心对比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0B30A2-C496-43BC-AA6A-567C572FDB95}"/>
              </a:ext>
            </a:extLst>
          </p:cNvPr>
          <p:cNvSpPr>
            <a:spLocks noGrp="1"/>
          </p:cNvSpPr>
          <p:nvPr/>
        </p:nvSpPr>
        <p:spPr>
          <a:xfrm>
            <a:off x="7219950" y="180975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−0.078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5DACB6-D55A-45EF-98BD-20A89FD3611A}"/>
              </a:ext>
            </a:extLst>
          </p:cNvPr>
          <p:cNvSpPr>
            <a:spLocks noGrp="1"/>
          </p:cNvSpPr>
          <p:nvPr/>
        </p:nvSpPr>
        <p:spPr>
          <a:xfrm>
            <a:off x="7219950" y="2428875"/>
            <a:ext cx="404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个性化双重稳健策略 对比 全量男装邮件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0DEC84-F4E8-4473-B22B-578D722C1EF1}"/>
              </a:ext>
            </a:extLst>
          </p:cNvPr>
          <p:cNvSpPr>
            <a:spLocks noGrp="1"/>
          </p:cNvSpPr>
          <p:nvPr/>
        </p:nvSpPr>
        <p:spPr>
          <a:xfrm>
            <a:off x="7219950" y="2876550"/>
            <a:ext cx="404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95%置信区间 [−0.204, 0.047]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B2B5F3-C4C0-48A3-A6B6-EF836130E7DB}"/>
              </a:ext>
            </a:extLst>
          </p:cNvPr>
          <p:cNvSpPr>
            <a:spLocks noGrp="1"/>
          </p:cNvSpPr>
          <p:nvPr/>
        </p:nvSpPr>
        <p:spPr>
          <a:xfrm>
            <a:off x="7219950" y="3219450"/>
            <a:ext cx="404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霍尔姆校正显著性概率 = 0.2239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184ABEA-FD79-4C58-97D0-E4CE42D6F296}"/>
              </a:ext>
            </a:extLst>
          </p:cNvPr>
          <p:cNvSpPr>
            <a:spLocks noGrp="1"/>
          </p:cNvSpPr>
          <p:nvPr/>
        </p:nvSpPr>
        <p:spPr>
          <a:xfrm>
            <a:off x="7219950" y="3743325"/>
            <a:ext cx="4095750" cy="1066800"/>
          </a:xfrm>
          <a:prstGeom prst="roundRect">
            <a:avLst>
              <a:gd name="adj" fmla="val 10714"/>
            </a:avLst>
          </a:prstGeom>
          <a:solidFill>
            <a:srgbClr val="FEF0ED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3DA0AF-82FF-49B4-B7B8-AFA1B97D135F}"/>
              </a:ext>
            </a:extLst>
          </p:cNvPr>
          <p:cNvSpPr>
            <a:spLocks noGrp="1"/>
          </p:cNvSpPr>
          <p:nvPr/>
        </p:nvSpPr>
        <p:spPr>
          <a:xfrm>
            <a:off x="7410450" y="39433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个性化价值未获支持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FE5709-10A0-4E10-8024-28E0A4AD9E1A}"/>
              </a:ext>
            </a:extLst>
          </p:cNvPr>
          <p:cNvSpPr>
            <a:spLocks noGrp="1"/>
          </p:cNvSpPr>
          <p:nvPr/>
        </p:nvSpPr>
        <p:spPr>
          <a:xfrm>
            <a:off x="7410450" y="4314825"/>
            <a:ext cx="3638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962"/>
          </a:bodyPr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点估计较低，且配对 Bootstrap 区间跨 0，不满足部署条件。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A0A05F-A653-48EF-B85A-F49433015DF6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假设邮件成本为 0 时的个性化分配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5C5C16-F336-49D3-B2DE-800084449B5C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62396" cy="266700"/>
          </a:xfrm>
          <a:prstGeom prst="rect">
            <a:avLst/>
          </a:prstGeom>
          <a:solidFill>
            <a:srgbClr val="6B7B8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8D7E00-CE55-4F5B-89AC-0064255501B3}"/>
              </a:ext>
            </a:extLst>
          </p:cNvPr>
          <p:cNvSpPr>
            <a:spLocks noGrp="1"/>
          </p:cNvSpPr>
          <p:nvPr/>
        </p:nvSpPr>
        <p:spPr>
          <a:xfrm>
            <a:off x="748196" y="5600700"/>
            <a:ext cx="9119994" cy="2667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8B03AD-1024-425E-9D3D-CC546D8E85D5}"/>
              </a:ext>
            </a:extLst>
          </p:cNvPr>
          <p:cNvSpPr>
            <a:spLocks noGrp="1"/>
          </p:cNvSpPr>
          <p:nvPr/>
        </p:nvSpPr>
        <p:spPr>
          <a:xfrm>
            <a:off x="9868190" y="5600700"/>
            <a:ext cx="1466560" cy="266700"/>
          </a:xfrm>
          <a:prstGeom prst="rect">
            <a:avLst/>
          </a:prstGeom>
          <a:solidFill>
            <a:srgbClr val="173A5E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8C5BA8-E19A-4F1A-9C01-AD9CCE1FBF57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不发邮件 0.6%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0ECC78-9E30-4457-AD3B-63D676659511}"/>
              </a:ext>
            </a:extLst>
          </p:cNvPr>
          <p:cNvSpPr>
            <a:spLocks noGrp="1"/>
          </p:cNvSpPr>
          <p:nvPr/>
        </p:nvSpPr>
        <p:spPr>
          <a:xfrm>
            <a:off x="4810125" y="59150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男装邮件 85.6%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8C9A6C-A36E-4B4E-AC0D-F2C10CDD5123}"/>
              </a:ext>
            </a:extLst>
          </p:cNvPr>
          <p:cNvSpPr>
            <a:spLocks noGrp="1"/>
          </p:cNvSpPr>
          <p:nvPr/>
        </p:nvSpPr>
        <p:spPr>
          <a:xfrm>
            <a:off x="9715500" y="59150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女装邮件 13.8%</a:t>
            </a:r>
          </a:p>
        </p:txBody>
      </p:sp>
    </p:spTree>
    <p:extLst>
      <p:ext uri="{BB962C8B-B14F-4D97-AF65-F5344CB8AC3E}">
        <p14:creationId xmlns:p14="http://schemas.microsoft.com/office/powerpoint/2010/main" val="1459836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8FADC30D-84DE-46AE-A756-1E0A48061423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4AFEF7-0A64-4B52-B533-61812AC89C5D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成本敏感性｜基于消费金额的情景分析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2A3DD8-4B31-41D5-9BD7-06803C4EAB47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低成本时全量男装邮件最优；成本为 1.00 时不发邮件最优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731A94-AC8C-4243-841F-C53C255C8697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A0A854DF-92BC-48C8-9512-3F491201F8AF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EB14E1-E42C-4DBE-8E0E-ADEDF271FA8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0BCE79-8082-4DE5-86EA-AC4940BE30EC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1B6934-8A5C-4A63-9DED-A8D8E4CC17BA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增广逆概率加权净消费价值 = 预期消费金额－假设的边际邮件成本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523875" y="1733550"/>
          <a:ext cx="781050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2047530C-787B-450B-A63F-4EDDF5AFA898}"/>
              </a:ext>
            </a:extLst>
          </p:cNvPr>
          <p:cNvSpPr>
            <a:spLocks noGrp="1"/>
          </p:cNvSpPr>
          <p:nvPr/>
        </p:nvSpPr>
        <p:spPr>
          <a:xfrm>
            <a:off x="8801100" y="1438275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情景结论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53EC6C-77B1-45AA-ADE9-C0EF4CF20E7C}"/>
              </a:ext>
            </a:extLst>
          </p:cNvPr>
          <p:cNvSpPr>
            <a:spLocks noGrp="1"/>
          </p:cNvSpPr>
          <p:nvPr/>
        </p:nvSpPr>
        <p:spPr>
          <a:xfrm>
            <a:off x="8801100" y="18288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0.00–0.50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3569A-231F-4503-B0C7-88526078E73C}"/>
              </a:ext>
            </a:extLst>
          </p:cNvPr>
          <p:cNvSpPr>
            <a:spLocks noGrp="1"/>
          </p:cNvSpPr>
          <p:nvPr/>
        </p:nvSpPr>
        <p:spPr>
          <a:xfrm>
            <a:off x="8801100" y="22479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全量男装邮件 = 最佳静态策略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0CB3B08B-A73C-4883-8079-4E35C3B0C30D}"/>
              </a:ext>
            </a:extLst>
          </p:cNvPr>
          <p:cNvSpPr>
            <a:spLocks noGrp="1"/>
          </p:cNvSpPr>
          <p:nvPr/>
        </p:nvSpPr>
        <p:spPr>
          <a:xfrm>
            <a:off x="8801100" y="2743200"/>
            <a:ext cx="25908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7D39E3-BC75-459E-89CC-8E01E7CBAC67}"/>
              </a:ext>
            </a:extLst>
          </p:cNvPr>
          <p:cNvSpPr>
            <a:spLocks noGrp="1"/>
          </p:cNvSpPr>
          <p:nvPr/>
        </p:nvSpPr>
        <p:spPr>
          <a:xfrm>
            <a:off x="8801100" y="30099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1.00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6BC0EFB-32F9-485C-9ED0-6E5D95CEC239}"/>
              </a:ext>
            </a:extLst>
          </p:cNvPr>
          <p:cNvSpPr>
            <a:spLocks noGrp="1"/>
          </p:cNvSpPr>
          <p:nvPr/>
        </p:nvSpPr>
        <p:spPr>
          <a:xfrm>
            <a:off x="8801100" y="34290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不发邮件 = 最佳静态策略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69986E1C-9330-49CF-9D60-8C0B82FA1105}"/>
              </a:ext>
            </a:extLst>
          </p:cNvPr>
          <p:cNvSpPr>
            <a:spLocks noGrp="1"/>
          </p:cNvSpPr>
          <p:nvPr/>
        </p:nvSpPr>
        <p:spPr>
          <a:xfrm>
            <a:off x="8801100" y="3914775"/>
            <a:ext cx="25908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B21900-31CE-4C31-9F13-B544B1C9CB0B}"/>
              </a:ext>
            </a:extLst>
          </p:cNvPr>
          <p:cNvSpPr>
            <a:spLocks noGrp="1"/>
          </p:cNvSpPr>
          <p:nvPr/>
        </p:nvSpPr>
        <p:spPr>
          <a:xfrm>
            <a:off x="8801100" y="41719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消费差额临界成本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34FA31-2779-4D0C-BC85-F6A19FEE5352}"/>
              </a:ext>
            </a:extLst>
          </p:cNvPr>
          <p:cNvSpPr>
            <a:spLocks noGrp="1"/>
          </p:cNvSpPr>
          <p:nvPr/>
        </p:nvSpPr>
        <p:spPr>
          <a:xfrm>
            <a:off x="8801100" y="45053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男装邮件 0.768｜女装邮件 0.419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B9C4054-CD56-4E4F-9515-E595E1B2D680}"/>
              </a:ext>
            </a:extLst>
          </p:cNvPr>
          <p:cNvSpPr>
            <a:spLocks noGrp="1"/>
          </p:cNvSpPr>
          <p:nvPr/>
        </p:nvSpPr>
        <p:spPr>
          <a:xfrm>
            <a:off x="8705850" y="5038725"/>
            <a:ext cx="2781300" cy="990600"/>
          </a:xfrm>
          <a:prstGeom prst="roundRect">
            <a:avLst>
              <a:gd name="adj" fmla="val 11538"/>
            </a:avLst>
          </a:prstGeom>
          <a:solidFill>
            <a:srgbClr val="FEF0ED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E0300E-18E2-4E17-8928-95B6B7F2F207}"/>
              </a:ext>
            </a:extLst>
          </p:cNvPr>
          <p:cNvSpPr>
            <a:spLocks noGrp="1"/>
          </p:cNvSpPr>
          <p:nvPr/>
        </p:nvSpPr>
        <p:spPr>
          <a:xfrm>
            <a:off x="8896350" y="5219700"/>
            <a:ext cx="1055370" cy="226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成本情景说明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B5F888-E14B-41F6-9444-AB831E4AF884}"/>
              </a:ext>
            </a:extLst>
          </p:cNvPr>
          <p:cNvSpPr>
            <a:spLocks noGrp="1"/>
          </p:cNvSpPr>
          <p:nvPr/>
        </p:nvSpPr>
        <p:spPr>
          <a:xfrm>
            <a:off x="8896350" y="55054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360"/>
          </a:bodyPr>
          <a:lstStyle/>
          <a:p>
            <a:pPr algn="l">
              <a:lnSpc>
                <a:spcPct val="106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未包含毛利率、真实触达成本、退订/疲劳与实施成本。个性化在所有成本点均未显著优于最佳静态策略。</a:t>
            </a:r>
          </a:p>
        </p:txBody>
      </p:sp>
    </p:spTree>
    <p:extLst>
      <p:ext uri="{BB962C8B-B14F-4D97-AF65-F5344CB8AC3E}">
        <p14:creationId xmlns:p14="http://schemas.microsoft.com/office/powerpoint/2010/main" val="1562478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E23ABAD2-5045-40CB-8FE8-8EDED666366B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EAD5EA-E72A-4D15-92BF-E8371C5649E8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管理建议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2E63DD-CA50-4A2A-B0C7-0D4BFABB62BC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先执行已验证的平均增量方案，暂不部署个性化策略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263DD9-6004-4FB0-BE3C-A357E8536EF3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579FD0C7-4AF3-4B7C-BF92-EFEC0AF8AD0F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04A761-E52E-446C-A5E5-4707B778498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EA9E13-CB1F-4EFC-AC8B-8A792E903F76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14A86A-2FAD-414A-8155-ABA5E652937A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投放建议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9AB350-C6E5-4611-A9A6-032A0BDC0A4D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低边际成本情景下，将男装邮件作为默认方案并保留对照组。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16CFED-48B5-4738-9630-53BD0915C7C8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334A0D9-E56F-458B-813D-9DFEFC235892}"/>
              </a:ext>
            </a:extLst>
          </p:cNvPr>
          <p:cNvSpPr>
            <a:spLocks noGrp="1"/>
          </p:cNvSpPr>
          <p:nvPr/>
        </p:nvSpPr>
        <p:spPr>
          <a:xfrm>
            <a:off x="1352550" y="2876550"/>
            <a:ext cx="953" cy="66675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F30EBA-5E5C-4D2C-B718-F0E0107FEA9D}"/>
              </a:ext>
            </a:extLst>
          </p:cNvPr>
          <p:cNvSpPr>
            <a:spLocks noGrp="1"/>
          </p:cNvSpPr>
          <p:nvPr/>
        </p:nvSpPr>
        <p:spPr>
          <a:xfrm>
            <a:off x="1676400" y="28575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优先方案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5C524-2EBF-4C27-9E0B-2A4F802782A4}"/>
              </a:ext>
            </a:extLst>
          </p:cNvPr>
          <p:cNvSpPr>
            <a:spLocks noGrp="1"/>
          </p:cNvSpPr>
          <p:nvPr/>
        </p:nvSpPr>
        <p:spPr>
          <a:xfrm>
            <a:off x="3619500" y="2838450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3000"/>
              </a:lnSpc>
              <a:buNone/>
              <a:def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优先采用男装邮件相对不发邮件已得到统计支持的平均消费增量，并持续监测。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C438C2-5485-45B7-B321-ACBBFF470F82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3A5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74D1A101-9BE0-4470-8879-B933EDCA0680}"/>
              </a:ext>
            </a:extLst>
          </p:cNvPr>
          <p:cNvSpPr>
            <a:spLocks noGrp="1"/>
          </p:cNvSpPr>
          <p:nvPr/>
        </p:nvSpPr>
        <p:spPr>
          <a:xfrm>
            <a:off x="1352550" y="3848100"/>
            <a:ext cx="953" cy="666750"/>
          </a:xfrm>
          <a:prstGeom prst="line">
            <a:avLst/>
          </a:prstGeom>
          <a:noFill/>
          <a:ln w="38100">
            <a:solidFill>
              <a:srgbClr val="173A5E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FE94A9-5E19-4E43-9047-DAFE1265D3B4}"/>
              </a:ext>
            </a:extLst>
          </p:cNvPr>
          <p:cNvSpPr>
            <a:spLocks noGrp="1"/>
          </p:cNvSpPr>
          <p:nvPr/>
        </p:nvSpPr>
        <p:spPr>
          <a:xfrm>
            <a:off x="1676400" y="38290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比较结论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A3E250-8300-4806-A2E1-56F076689705}"/>
              </a:ext>
            </a:extLst>
          </p:cNvPr>
          <p:cNvSpPr>
            <a:spLocks noGrp="1"/>
          </p:cNvSpPr>
          <p:nvPr/>
        </p:nvSpPr>
        <p:spPr>
          <a:xfrm>
            <a:off x="3619500" y="3810000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3000"/>
              </a:lnSpc>
              <a:buNone/>
              <a:def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男装邮件的点估计较高，但不能据此认定其优于女装邮件；如需选择创意，应继续随机比较。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93C447-C65A-4458-8DF2-5BA32F3BE04F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A5837876-83B0-4165-9845-F6558BC7D542}"/>
              </a:ext>
            </a:extLst>
          </p:cNvPr>
          <p:cNvSpPr>
            <a:spLocks noGrp="1"/>
          </p:cNvSpPr>
          <p:nvPr/>
        </p:nvSpPr>
        <p:spPr>
          <a:xfrm>
            <a:off x="1352550" y="4819650"/>
            <a:ext cx="953" cy="666750"/>
          </a:xfrm>
          <a:prstGeom prst="line">
            <a:avLst/>
          </a:prstGeom>
          <a:noFill/>
          <a:ln w="38100">
            <a:solidFill>
              <a:srgbClr val="EF6A5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3FA111-5126-4A15-8C05-6EAE8DBBBAF0}"/>
              </a:ext>
            </a:extLst>
          </p:cNvPr>
          <p:cNvSpPr>
            <a:spLocks noGrp="1"/>
          </p:cNvSpPr>
          <p:nvPr/>
        </p:nvSpPr>
        <p:spPr>
          <a:xfrm>
            <a:off x="1676400" y="48006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个性化策略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9BE2340-84F0-4DFF-9390-DE4493A17C07}"/>
              </a:ext>
            </a:extLst>
          </p:cNvPr>
          <p:cNvSpPr>
            <a:spLocks noGrp="1"/>
          </p:cNvSpPr>
          <p:nvPr/>
        </p:nvSpPr>
        <p:spPr>
          <a:xfrm>
            <a:off x="3619500" y="4781550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3000"/>
              </a:lnSpc>
              <a:buNone/>
              <a:def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折外排序和策略价值均未达到预设门槛，暂不部署客户级个性化投放。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09EECB4C-F550-4FAF-8C71-F1BA6ABE630F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839450" cy="323850"/>
          </a:xfrm>
          <a:prstGeom prst="roundRect">
            <a:avLst>
              <a:gd name="adj" fmla="val 35294"/>
            </a:avLst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8A433C-30CD-4165-9DD8-CC73BCB125DB}"/>
              </a:ext>
            </a:extLst>
          </p:cNvPr>
          <p:cNvSpPr>
            <a:spLocks noGrp="1"/>
          </p:cNvSpPr>
          <p:nvPr/>
        </p:nvSpPr>
        <p:spPr>
          <a:xfrm>
            <a:off x="876300" y="5838825"/>
            <a:ext cx="10429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平均处理效应、异质性和策略价值需要分别验证</a:t>
            </a:r>
          </a:p>
        </p:txBody>
      </p:sp>
    </p:spTree>
    <p:extLst>
      <p:ext uri="{BB962C8B-B14F-4D97-AF65-F5344CB8AC3E}">
        <p14:creationId xmlns:p14="http://schemas.microsoft.com/office/powerpoint/2010/main" val="36015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18D036E5-C01F-41D2-A757-19E87D62A761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2B9503-0D94-4214-BCE2-11420CAB3EE9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局限与下一轮实验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F066A3-5BF7-45C4-BA6D-E698F8193E31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下一轮实验应把消费金额证据升级为可执行的利润证据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A2355F-5F63-4117-A026-407EAE1D809B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239ABD1E-D66A-4AE5-AA7B-E87AE0327ED7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0E30C7-36AE-4453-95D3-4CACB45A57A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468891-195A-4851-A19C-861DA1929820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3FA1D8-B70F-42CA-9AD2-0B445F224093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现有数据限制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CEAFCF7-728C-4C11-A793-BD74BAFA6FC3}"/>
              </a:ext>
            </a:extLst>
          </p:cNvPr>
          <p:cNvSpPr>
            <a:spLocks noGrp="1"/>
          </p:cNvSpPr>
          <p:nvPr/>
        </p:nvSpPr>
        <p:spPr>
          <a:xfrm>
            <a:off x="695325" y="1943100"/>
            <a:ext cx="76200" cy="76200"/>
          </a:xfrm>
          <a:prstGeom prst="ellipse">
            <a:avLst/>
          </a:prstGeom>
          <a:solidFill>
            <a:srgbClr val="EF6A5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999FC2-0EDC-439A-A06C-20056AD237BA}"/>
              </a:ext>
            </a:extLst>
          </p:cNvPr>
          <p:cNvSpPr>
            <a:spLocks noGrp="1"/>
          </p:cNvSpPr>
          <p:nvPr/>
        </p:nvSpPr>
        <p:spPr>
          <a:xfrm>
            <a:off x="895350" y="1866900"/>
            <a:ext cx="453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缺少客户编号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E94AFC-B079-4112-959D-5FDB65A500F7}"/>
              </a:ext>
            </a:extLst>
          </p:cNvPr>
          <p:cNvSpPr>
            <a:spLocks noGrp="1"/>
          </p:cNvSpPr>
          <p:nvPr/>
        </p:nvSpPr>
        <p:spPr>
          <a:xfrm>
            <a:off x="895350" y="2124075"/>
            <a:ext cx="4533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缺少客户编号，无法判断完全重复记录是否来自同一客户。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CAFFDD8-6CC3-4AE0-B00A-82CF03D4ACBC}"/>
              </a:ext>
            </a:extLst>
          </p:cNvPr>
          <p:cNvSpPr>
            <a:spLocks noGrp="1"/>
          </p:cNvSpPr>
          <p:nvPr/>
        </p:nvSpPr>
        <p:spPr>
          <a:xfrm>
            <a:off x="695325" y="2819400"/>
            <a:ext cx="76200" cy="76200"/>
          </a:xfrm>
          <a:prstGeom prst="ellipse">
            <a:avLst/>
          </a:prstGeom>
          <a:solidFill>
            <a:srgbClr val="EF6A5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391D56-50E3-40CD-A124-DF58300E731A}"/>
              </a:ext>
            </a:extLst>
          </p:cNvPr>
          <p:cNvSpPr>
            <a:spLocks noGrp="1"/>
          </p:cNvSpPr>
          <p:nvPr/>
        </p:nvSpPr>
        <p:spPr>
          <a:xfrm>
            <a:off x="895350" y="2743200"/>
            <a:ext cx="453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仅观察短期消费金额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806DF5-5E8F-4AD2-AAED-FFD0336C818B}"/>
              </a:ext>
            </a:extLst>
          </p:cNvPr>
          <p:cNvSpPr>
            <a:spLocks noGrp="1"/>
          </p:cNvSpPr>
          <p:nvPr/>
        </p:nvSpPr>
        <p:spPr>
          <a:xfrm>
            <a:off x="895350" y="3000375"/>
            <a:ext cx="4533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没有毛利、触达成本、退订、疲劳或长期重复购买。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26E267A-83FD-4929-8FD7-D7CCE76DDD89}"/>
              </a:ext>
            </a:extLst>
          </p:cNvPr>
          <p:cNvSpPr>
            <a:spLocks noGrp="1"/>
          </p:cNvSpPr>
          <p:nvPr/>
        </p:nvSpPr>
        <p:spPr>
          <a:xfrm>
            <a:off x="695325" y="3695700"/>
            <a:ext cx="76200" cy="76200"/>
          </a:xfrm>
          <a:prstGeom prst="ellipse">
            <a:avLst/>
          </a:prstGeom>
          <a:solidFill>
            <a:srgbClr val="EF6A5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5EDDEA-4BB1-4A27-A3A0-B6364C378E8F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453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处理前特征有限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24ED09-BBF0-4ECA-8326-7185D13681DA}"/>
              </a:ext>
            </a:extLst>
          </p:cNvPr>
          <p:cNvSpPr>
            <a:spLocks noGrp="1"/>
          </p:cNvSpPr>
          <p:nvPr/>
        </p:nvSpPr>
        <p:spPr>
          <a:xfrm>
            <a:off x="895350" y="3876675"/>
            <a:ext cx="4533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当前特征不足以证明可泛化的个性化信号。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4953315-3CA9-43C1-8FA1-FEB824BE0113}"/>
              </a:ext>
            </a:extLst>
          </p:cNvPr>
          <p:cNvSpPr>
            <a:spLocks noGrp="1"/>
          </p:cNvSpPr>
          <p:nvPr/>
        </p:nvSpPr>
        <p:spPr>
          <a:xfrm>
            <a:off x="695325" y="4572000"/>
            <a:ext cx="76200" cy="76200"/>
          </a:xfrm>
          <a:prstGeom prst="ellipse">
            <a:avLst/>
          </a:prstGeom>
          <a:solidFill>
            <a:srgbClr val="EF6A5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200340-5474-49B6-B3A1-816DB4904015}"/>
              </a:ext>
            </a:extLst>
          </p:cNvPr>
          <p:cNvSpPr>
            <a:spLocks noGrp="1"/>
          </p:cNvSpPr>
          <p:nvPr/>
        </p:nvSpPr>
        <p:spPr>
          <a:xfrm>
            <a:off x="895350" y="4495800"/>
            <a:ext cx="453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成本参数为假设值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C30FF6-1D83-47B5-BADC-E4F29AE11E41}"/>
              </a:ext>
            </a:extLst>
          </p:cNvPr>
          <p:cNvSpPr>
            <a:spLocks noGrp="1"/>
          </p:cNvSpPr>
          <p:nvPr/>
        </p:nvSpPr>
        <p:spPr>
          <a:xfrm>
            <a:off x="895350" y="4752975"/>
            <a:ext cx="4533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成本网格只从消费金额中扣除假设邮件成本。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6F3A488D-21BE-4575-82C7-73A3474233C8}"/>
              </a:ext>
            </a:extLst>
          </p:cNvPr>
          <p:cNvSpPr>
            <a:spLocks noGrp="1"/>
          </p:cNvSpPr>
          <p:nvPr/>
        </p:nvSpPr>
        <p:spPr>
          <a:xfrm>
            <a:off x="5867400" y="1447800"/>
            <a:ext cx="953" cy="4505325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3E69888-084A-421A-B99B-2A2C753ACD53}"/>
              </a:ext>
            </a:extLst>
          </p:cNvPr>
          <p:cNvSpPr>
            <a:spLocks noGrp="1"/>
          </p:cNvSpPr>
          <p:nvPr/>
        </p:nvSpPr>
        <p:spPr>
          <a:xfrm>
            <a:off x="6286500" y="1438275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下一轮实验设计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B0C587B-7174-4F18-99AF-B1BB08AAC433}"/>
              </a:ext>
            </a:extLst>
          </p:cNvPr>
          <p:cNvSpPr>
            <a:spLocks noGrp="1"/>
          </p:cNvSpPr>
          <p:nvPr/>
        </p:nvSpPr>
        <p:spPr>
          <a:xfrm>
            <a:off x="6296025" y="1866900"/>
            <a:ext cx="266700" cy="266700"/>
          </a:xfrm>
          <a:prstGeom prst="ellipse">
            <a:avLst/>
          </a:prstGeom>
          <a:solidFill>
            <a:srgbClr val="E8F7F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4C671A3-6A41-4CEE-9C3B-AE49C1340FC8}"/>
              </a:ext>
            </a:extLst>
          </p:cNvPr>
          <p:cNvSpPr>
            <a:spLocks noGrp="1"/>
          </p:cNvSpPr>
          <p:nvPr/>
        </p:nvSpPr>
        <p:spPr>
          <a:xfrm>
            <a:off x="6305550" y="1876425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5D2C922-A492-467E-AACB-9AA23F3ED30C}"/>
              </a:ext>
            </a:extLst>
          </p:cNvPr>
          <p:cNvSpPr>
            <a:spLocks noGrp="1"/>
          </p:cNvSpPr>
          <p:nvPr/>
        </p:nvSpPr>
        <p:spPr>
          <a:xfrm>
            <a:off x="6762750" y="18669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完善测量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5EA1E8-F981-4429-8DB2-B6EFE13571E1}"/>
              </a:ext>
            </a:extLst>
          </p:cNvPr>
          <p:cNvSpPr>
            <a:spLocks noGrp="1"/>
          </p:cNvSpPr>
          <p:nvPr/>
        </p:nvSpPr>
        <p:spPr>
          <a:xfrm>
            <a:off x="6762750" y="2162175"/>
            <a:ext cx="4524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客户编号、毛利、实际发送成本、退订／投诉、长期购买与更丰富的处理前行为。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B778F60-3FEC-4A7B-B020-D3090CC14047}"/>
              </a:ext>
            </a:extLst>
          </p:cNvPr>
          <p:cNvSpPr>
            <a:spLocks noGrp="1"/>
          </p:cNvSpPr>
          <p:nvPr/>
        </p:nvSpPr>
        <p:spPr>
          <a:xfrm>
            <a:off x="6296025" y="2828925"/>
            <a:ext cx="266700" cy="266700"/>
          </a:xfrm>
          <a:prstGeom prst="ellipse">
            <a:avLst/>
          </a:prstGeom>
          <a:solidFill>
            <a:srgbClr val="E8F7F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E06AB22-1331-40F0-A216-33C5C67300CC}"/>
              </a:ext>
            </a:extLst>
          </p:cNvPr>
          <p:cNvSpPr>
            <a:spLocks noGrp="1"/>
          </p:cNvSpPr>
          <p:nvPr/>
        </p:nvSpPr>
        <p:spPr>
          <a:xfrm>
            <a:off x="6305550" y="28384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AB16D4E-8962-4A5D-9EA1-55519FDC9AEC}"/>
              </a:ext>
            </a:extLst>
          </p:cNvPr>
          <p:cNvSpPr>
            <a:spLocks noGrp="1"/>
          </p:cNvSpPr>
          <p:nvPr/>
        </p:nvSpPr>
        <p:spPr>
          <a:xfrm>
            <a:off x="6762750" y="28289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预先登记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B359B08-3317-4E20-8D6D-E1B1442AB0F6}"/>
              </a:ext>
            </a:extLst>
          </p:cNvPr>
          <p:cNvSpPr>
            <a:spLocks noGrp="1"/>
          </p:cNvSpPr>
          <p:nvPr/>
        </p:nvSpPr>
        <p:spPr>
          <a:xfrm>
            <a:off x="6762750" y="3124200"/>
            <a:ext cx="4524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锁定增量贡献／净价值主指标、创意对比与成本决策门槛。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83F31A7E-E88D-4B2B-9776-FBAD048A57B8}"/>
              </a:ext>
            </a:extLst>
          </p:cNvPr>
          <p:cNvSpPr>
            <a:spLocks noGrp="1"/>
          </p:cNvSpPr>
          <p:nvPr/>
        </p:nvSpPr>
        <p:spPr>
          <a:xfrm>
            <a:off x="6296025" y="3790950"/>
            <a:ext cx="266700" cy="266700"/>
          </a:xfrm>
          <a:prstGeom prst="ellipse">
            <a:avLst/>
          </a:prstGeom>
          <a:solidFill>
            <a:srgbClr val="E8F7F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5D2271C-7D3E-4953-8037-89D5F03ABAAE}"/>
              </a:ext>
            </a:extLst>
          </p:cNvPr>
          <p:cNvSpPr>
            <a:spLocks noGrp="1"/>
          </p:cNvSpPr>
          <p:nvPr/>
        </p:nvSpPr>
        <p:spPr>
          <a:xfrm>
            <a:off x="6305550" y="3800475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B00045-A4C9-4372-B547-E17B902D6E2C}"/>
              </a:ext>
            </a:extLst>
          </p:cNvPr>
          <p:cNvSpPr>
            <a:spLocks noGrp="1"/>
          </p:cNvSpPr>
          <p:nvPr/>
        </p:nvSpPr>
        <p:spPr>
          <a:xfrm>
            <a:off x="6762750" y="37909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保持随机化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0491BF6-8A07-4EF7-8A44-358CBDB503EB}"/>
              </a:ext>
            </a:extLst>
          </p:cNvPr>
          <p:cNvSpPr>
            <a:spLocks noGrp="1"/>
          </p:cNvSpPr>
          <p:nvPr/>
        </p:nvSpPr>
        <p:spPr>
          <a:xfrm>
            <a:off x="6762750" y="4086225"/>
            <a:ext cx="4524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保留不发邮件对照组；对男装邮件和女装邮件创意继续进行多臂比较。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E635FCC-C41B-4C25-8E59-7C96E52B3A10}"/>
              </a:ext>
            </a:extLst>
          </p:cNvPr>
          <p:cNvSpPr>
            <a:spLocks noGrp="1"/>
          </p:cNvSpPr>
          <p:nvPr/>
        </p:nvSpPr>
        <p:spPr>
          <a:xfrm>
            <a:off x="6296025" y="4752975"/>
            <a:ext cx="266700" cy="266700"/>
          </a:xfrm>
          <a:prstGeom prst="ellipse">
            <a:avLst/>
          </a:prstGeom>
          <a:solidFill>
            <a:srgbClr val="E8F7F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392E7D7-FAEA-4012-AB24-C77D2216A06D}"/>
              </a:ext>
            </a:extLst>
          </p:cNvPr>
          <p:cNvSpPr>
            <a:spLocks noGrp="1"/>
          </p:cNvSpPr>
          <p:nvPr/>
        </p:nvSpPr>
        <p:spPr>
          <a:xfrm>
            <a:off x="6305550" y="4762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B74280-94C4-499B-BC29-73105222FE3E}"/>
              </a:ext>
            </a:extLst>
          </p:cNvPr>
          <p:cNvSpPr>
            <a:spLocks noGrp="1"/>
          </p:cNvSpPr>
          <p:nvPr/>
        </p:nvSpPr>
        <p:spPr>
          <a:xfrm>
            <a:off x="6762750" y="47529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设置个性化门槛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466391A-9CB9-4617-BF2F-946107724F16}"/>
              </a:ext>
            </a:extLst>
          </p:cNvPr>
          <p:cNvSpPr>
            <a:spLocks noGrp="1"/>
          </p:cNvSpPr>
          <p:nvPr/>
        </p:nvSpPr>
        <p:spPr>
          <a:xfrm>
            <a:off x="6762750" y="5048250"/>
            <a:ext cx="4524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同时通过五折折外排序验证与样本外策略价值检验后，方可部署。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070AD578-33CB-4F93-BDFD-1574C28E762E}"/>
              </a:ext>
            </a:extLst>
          </p:cNvPr>
          <p:cNvSpPr>
            <a:spLocks noGrp="1"/>
          </p:cNvSpPr>
          <p:nvPr/>
        </p:nvSpPr>
        <p:spPr>
          <a:xfrm>
            <a:off x="6286500" y="5734050"/>
            <a:ext cx="5048250" cy="361950"/>
          </a:xfrm>
          <a:prstGeom prst="roundRect">
            <a:avLst>
              <a:gd name="adj" fmla="val 31579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595C5C-FD19-4F97-AD08-F41D921EEFA9}"/>
              </a:ext>
            </a:extLst>
          </p:cNvPr>
          <p:cNvSpPr>
            <a:spLocks noGrp="1"/>
          </p:cNvSpPr>
          <p:nvPr/>
        </p:nvSpPr>
        <p:spPr>
          <a:xfrm>
            <a:off x="6477000" y="5791200"/>
            <a:ext cx="466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目标：验证扣除真实成本后的可持续增量利润。</a:t>
            </a:r>
          </a:p>
        </p:txBody>
      </p:sp>
    </p:spTree>
    <p:extLst>
      <p:ext uri="{BB962C8B-B14F-4D97-AF65-F5344CB8AC3E}">
        <p14:creationId xmlns:p14="http://schemas.microsoft.com/office/powerpoint/2010/main" val="165403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477C2C06-4999-4B79-985E-2FD8824CB348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877977-C08C-498A-BBC7-598278008718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方法附录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2E0672-DC8A-4F6E-9F94-660ECC7D82BE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方法附录：分析方法与判定依据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ADF227-B852-47BE-B4D7-53ECD058B8AA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09E0982-0698-4DD9-944C-4C1F96AF9DB3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C57546-7FC8-41A7-A4F6-0EDD3644A0F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FBEE3-8ACA-4080-ABB0-7CC3FA18E264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C1F742-D9DA-4CF3-A167-48D948028801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905000" cy="28575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95250" tIns="38100" rIns="7620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B173CB-81F0-4A2A-BC3C-04693362A1F5}"/>
              </a:ext>
            </a:extLst>
          </p:cNvPr>
          <p:cNvSpPr>
            <a:spLocks noGrp="1"/>
          </p:cNvSpPr>
          <p:nvPr/>
        </p:nvSpPr>
        <p:spPr>
          <a:xfrm>
            <a:off x="2714625" y="1495425"/>
            <a:ext cx="3143250" cy="28575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95250" tIns="38100" rIns="7620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2976B0-E94E-4DFD-9AED-E08512FEEAE8}"/>
              </a:ext>
            </a:extLst>
          </p:cNvPr>
          <p:cNvSpPr>
            <a:spLocks noGrp="1"/>
          </p:cNvSpPr>
          <p:nvPr/>
        </p:nvSpPr>
        <p:spPr>
          <a:xfrm>
            <a:off x="6000750" y="1495425"/>
            <a:ext cx="2667000" cy="28575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95250" tIns="38100" rIns="7620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验证与多重比较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9EBDD3-E2A3-47BB-8933-C2C9CD7890BC}"/>
              </a:ext>
            </a:extLst>
          </p:cNvPr>
          <p:cNvSpPr>
            <a:spLocks noGrp="1"/>
          </p:cNvSpPr>
          <p:nvPr/>
        </p:nvSpPr>
        <p:spPr>
          <a:xfrm>
            <a:off x="8810625" y="1495425"/>
            <a:ext cx="2714625" cy="28575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95250" tIns="38100" rIns="7620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C876FA-32F5-4227-B5B4-B90BFC606488}"/>
              </a:ext>
            </a:extLst>
          </p:cNvPr>
          <p:cNvSpPr>
            <a:spLocks noGrp="1"/>
          </p:cNvSpPr>
          <p:nvPr/>
        </p:nvSpPr>
        <p:spPr>
          <a:xfrm>
            <a:off x="666750" y="1819275"/>
            <a:ext cx="10858500" cy="742950"/>
          </a:xfrm>
          <a:prstGeom prst="rect">
            <a:avLst/>
          </a:prstGeom>
          <a:solidFill>
            <a:srgbClr val="F4F7F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C04D66-E27D-4E2B-93AD-107CE90E430E}"/>
              </a:ext>
            </a:extLst>
          </p:cNvPr>
          <p:cNvSpPr>
            <a:spLocks noGrp="1"/>
          </p:cNvSpPr>
          <p:nvPr/>
        </p:nvSpPr>
        <p:spPr>
          <a:xfrm>
            <a:off x="762000" y="1914525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实验可信度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BB815B-F4C5-43D9-8C10-E2C964F3F4AC}"/>
              </a:ext>
            </a:extLst>
          </p:cNvPr>
          <p:cNvSpPr>
            <a:spLocks noGrp="1"/>
          </p:cNvSpPr>
          <p:nvPr/>
        </p:nvSpPr>
        <p:spPr>
          <a:xfrm>
            <a:off x="2809875" y="191452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样本比例异常检验；协变量平衡；缺失与结果逻辑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036B52-AC15-4F92-B7CA-81EB03D6293B}"/>
              </a:ext>
            </a:extLst>
          </p:cNvPr>
          <p:cNvSpPr>
            <a:spLocks noGrp="1"/>
          </p:cNvSpPr>
          <p:nvPr/>
        </p:nvSpPr>
        <p:spPr>
          <a:xfrm>
            <a:off x="6096000" y="191452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卡方检验；两两标准化均差；克拉默系数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2212A7-0F51-4FE6-9C0D-87C97F146696}"/>
              </a:ext>
            </a:extLst>
          </p:cNvPr>
          <p:cNvSpPr>
            <a:spLocks noGrp="1"/>
          </p:cNvSpPr>
          <p:nvPr/>
        </p:nvSpPr>
        <p:spPr>
          <a:xfrm>
            <a:off x="8905875" y="1914525"/>
            <a:ext cx="252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通过｜样本量 = 64,000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B93A63E-3FED-462D-B329-11238EDBD1FF}"/>
              </a:ext>
            </a:extLst>
          </p:cNvPr>
          <p:cNvSpPr>
            <a:spLocks noGrp="1"/>
          </p:cNvSpPr>
          <p:nvPr/>
        </p:nvSpPr>
        <p:spPr>
          <a:xfrm>
            <a:off x="666750" y="2562225"/>
            <a:ext cx="108585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83F69F-79DE-4420-87AD-A9598012DB14}"/>
              </a:ext>
            </a:extLst>
          </p:cNvPr>
          <p:cNvSpPr>
            <a:spLocks noGrp="1"/>
          </p:cNvSpPr>
          <p:nvPr/>
        </p:nvSpPr>
        <p:spPr>
          <a:xfrm>
            <a:off x="666750" y="2638425"/>
            <a:ext cx="10858500" cy="742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672CE03-7ACA-49BE-8D79-0647DB26CA65}"/>
              </a:ext>
            </a:extLst>
          </p:cNvPr>
          <p:cNvSpPr>
            <a:spLocks noGrp="1"/>
          </p:cNvSpPr>
          <p:nvPr/>
        </p:nvSpPr>
        <p:spPr>
          <a:xfrm>
            <a:off x="762000" y="2733675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平均效应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FB6E2D-DDEB-4CC2-8C08-1DC40A807338}"/>
              </a:ext>
            </a:extLst>
          </p:cNvPr>
          <p:cNvSpPr>
            <a:spLocks noGrp="1"/>
          </p:cNvSpPr>
          <p:nvPr/>
        </p:nvSpPr>
        <p:spPr>
          <a:xfrm>
            <a:off x="2809875" y="273367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消费金额的意向处理韦尔奇对比；次要指标的比例检验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90B19A-89D3-420E-A9EB-6DA39BBF89A0}"/>
              </a:ext>
            </a:extLst>
          </p:cNvPr>
          <p:cNvSpPr>
            <a:spLocks noGrp="1"/>
          </p:cNvSpPr>
          <p:nvPr/>
        </p:nvSpPr>
        <p:spPr>
          <a:xfrm>
            <a:off x="6096000" y="27336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对预设对比进行霍尔姆校正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E3A692C-2087-4C3A-ACAD-35B555BA1F85}"/>
              </a:ext>
            </a:extLst>
          </p:cNvPr>
          <p:cNvSpPr>
            <a:spLocks noGrp="1"/>
          </p:cNvSpPr>
          <p:nvPr/>
        </p:nvSpPr>
        <p:spPr>
          <a:xfrm>
            <a:off x="8905875" y="2733675"/>
            <a:ext cx="252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三项预设实验对比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80CEB1F3-B4E6-4CBD-9149-8E0B3AC183CC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108585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30564F8-9058-45BD-8D4B-CF7AC0600F9B}"/>
              </a:ext>
            </a:extLst>
          </p:cNvPr>
          <p:cNvSpPr>
            <a:spLocks noGrp="1"/>
          </p:cNvSpPr>
          <p:nvPr/>
        </p:nvSpPr>
        <p:spPr>
          <a:xfrm>
            <a:off x="666750" y="3457575"/>
            <a:ext cx="10858500" cy="742950"/>
          </a:xfrm>
          <a:prstGeom prst="rect">
            <a:avLst/>
          </a:prstGeom>
          <a:solidFill>
            <a:srgbClr val="F4F7F8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C91C11B-8A41-4AC7-B385-3A1FC8FDB882}"/>
              </a:ext>
            </a:extLst>
          </p:cNvPr>
          <p:cNvSpPr>
            <a:spLocks noGrp="1"/>
          </p:cNvSpPr>
          <p:nvPr/>
        </p:nvSpPr>
        <p:spPr>
          <a:xfrm>
            <a:off x="762000" y="3552825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稳健性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1F7E32-DD1A-448F-9E88-3128533C0E68}"/>
              </a:ext>
            </a:extLst>
          </p:cNvPr>
          <p:cNvSpPr>
            <a:spLocks noGrp="1"/>
          </p:cNvSpPr>
          <p:nvPr/>
        </p:nvSpPr>
        <p:spPr>
          <a:xfrm>
            <a:off x="2809875" y="355282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10,000 次自助法与置换重采样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66E684-2763-4A86-894B-7072BE97B19B}"/>
              </a:ext>
            </a:extLst>
          </p:cNvPr>
          <p:cNvSpPr>
            <a:spLocks noGrp="1"/>
          </p:cNvSpPr>
          <p:nvPr/>
        </p:nvSpPr>
        <p:spPr>
          <a:xfrm>
            <a:off x="6096000" y="355282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置换检验的霍尔姆校正与严格最大统计量检验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42EF4D-57B9-4393-BF3B-D4D3F2E47DE4}"/>
              </a:ext>
            </a:extLst>
          </p:cNvPr>
          <p:cNvSpPr>
            <a:spLocks noGrp="1"/>
          </p:cNvSpPr>
          <p:nvPr/>
        </p:nvSpPr>
        <p:spPr>
          <a:xfrm>
            <a:off x="8905875" y="3552825"/>
            <a:ext cx="252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两项稳健；一项谨慎解读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2C69BDB7-EE43-4953-B038-2F0150DE6DAA}"/>
              </a:ext>
            </a:extLst>
          </p:cNvPr>
          <p:cNvSpPr>
            <a:spLocks noGrp="1"/>
          </p:cNvSpPr>
          <p:nvPr/>
        </p:nvSpPr>
        <p:spPr>
          <a:xfrm>
            <a:off x="666750" y="4200525"/>
            <a:ext cx="108585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DC511A8-E17A-4C5D-88E1-2D29D526BABF}"/>
              </a:ext>
            </a:extLst>
          </p:cNvPr>
          <p:cNvSpPr>
            <a:spLocks noGrp="1"/>
          </p:cNvSpPr>
          <p:nvPr/>
        </p:nvSpPr>
        <p:spPr>
          <a:xfrm>
            <a:off x="666750" y="4276725"/>
            <a:ext cx="10858500" cy="742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E16B16-BD3D-41FC-91DE-8FDE828E39DA}"/>
              </a:ext>
            </a:extLst>
          </p:cNvPr>
          <p:cNvSpPr>
            <a:spLocks noGrp="1"/>
          </p:cNvSpPr>
          <p:nvPr/>
        </p:nvSpPr>
        <p:spPr>
          <a:xfrm>
            <a:off x="762000" y="4371975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处理效应异质性／增益模型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9730886-03A3-4D2B-AD1D-71C159A31705}"/>
              </a:ext>
            </a:extLst>
          </p:cNvPr>
          <p:cNvSpPr>
            <a:spLocks noGrp="1"/>
          </p:cNvSpPr>
          <p:nvPr/>
        </p:nvSpPr>
        <p:spPr>
          <a:xfrm>
            <a:off x="2809875" y="437197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七个预设调节变量；五折交叉拟合的双模型与双重稳健学习器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721F07C-B0AA-4C17-A084-E4A6B5EAEF1C}"/>
              </a:ext>
            </a:extLst>
          </p:cNvPr>
          <p:cNvSpPr>
            <a:spLocks noGrp="1"/>
          </p:cNvSpPr>
          <p:nvPr/>
        </p:nvSpPr>
        <p:spPr>
          <a:xfrm>
            <a:off x="6096000" y="43719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霍尔姆校正；前 30%－后 30%；2,000 次自助法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A528F1D-D1DC-4CB4-87E2-D048AB8D0E7D}"/>
              </a:ext>
            </a:extLst>
          </p:cNvPr>
          <p:cNvSpPr>
            <a:spLocks noGrp="1"/>
          </p:cNvSpPr>
          <p:nvPr/>
        </p:nvSpPr>
        <p:spPr>
          <a:xfrm>
            <a:off x="8905875" y="4371975"/>
            <a:ext cx="252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排序证据不足</a:t>
            </a:r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1A687F41-56FA-4611-8664-031D9A25AF10}"/>
              </a:ext>
            </a:extLst>
          </p:cNvPr>
          <p:cNvSpPr>
            <a:spLocks noGrp="1"/>
          </p:cNvSpPr>
          <p:nvPr/>
        </p:nvSpPr>
        <p:spPr>
          <a:xfrm>
            <a:off x="666750" y="5019675"/>
            <a:ext cx="108585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43A7847-E38A-4814-B00A-036856F18725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858500" cy="742950"/>
          </a:xfrm>
          <a:prstGeom prst="rect">
            <a:avLst/>
          </a:prstGeom>
          <a:solidFill>
            <a:srgbClr val="F4F7F8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BE162B0-CF7E-419B-BF5A-71C0CC2C62EC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策略／成本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8D0109F-CF35-4408-86C7-7931AE9CAD3B}"/>
              </a:ext>
            </a:extLst>
          </p:cNvPr>
          <p:cNvSpPr>
            <a:spLocks noGrp="1"/>
          </p:cNvSpPr>
          <p:nvPr/>
        </p:nvSpPr>
        <p:spPr>
          <a:xfrm>
            <a:off x="2809875" y="519112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增广逆概率加权的静态与多行动价值；固定策略自助法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E60C52-6938-41E0-9A48-13323914DD12}"/>
              </a:ext>
            </a:extLst>
          </p:cNvPr>
          <p:cNvSpPr>
            <a:spLocks noGrp="1"/>
          </p:cNvSpPr>
          <p:nvPr/>
        </p:nvSpPr>
        <p:spPr>
          <a:xfrm>
            <a:off x="6096000" y="519112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配对比较；成本网格 0－1.00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7F08123-4E3B-4CC3-BFCF-31E1281D3070}"/>
              </a:ext>
            </a:extLst>
          </p:cNvPr>
          <p:cNvSpPr>
            <a:spLocks noGrp="1"/>
          </p:cNvSpPr>
          <p:nvPr/>
        </p:nvSpPr>
        <p:spPr>
          <a:xfrm>
            <a:off x="8905875" y="5191125"/>
            <a:ext cx="252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低成本时全量男装邮件最优</a:t>
            </a:r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85125B51-8A88-48F4-B0AD-51F372B5F9FE}"/>
              </a:ext>
            </a:extLst>
          </p:cNvPr>
          <p:cNvSpPr>
            <a:spLocks noGrp="1"/>
          </p:cNvSpPr>
          <p:nvPr/>
        </p:nvSpPr>
        <p:spPr>
          <a:xfrm>
            <a:off x="666750" y="5838825"/>
            <a:ext cx="108585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949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AC7F80F7-1DE3-4861-9175-2D8EB5E2A1C7}"/>
              </a:ext>
            </a:extLst>
          </p:cNvPr>
          <p:cNvSpPr>
            <a:spLocks noGrp="1"/>
          </p:cNvSpPr>
          <p:nvPr/>
        </p:nvSpPr>
        <p:spPr>
          <a:xfrm>
            <a:off x="647700" y="371475"/>
            <a:ext cx="495300" cy="571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0A2FC6-8790-49EC-897C-1CF0C647A6D9}"/>
              </a:ext>
            </a:extLst>
          </p:cNvPr>
          <p:cNvSpPr>
            <a:spLocks noGrp="1"/>
          </p:cNvSpPr>
          <p:nvPr/>
        </p:nvSpPr>
        <p:spPr>
          <a:xfrm>
            <a:off x="647700" y="495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关键数字表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DF0C02-0B83-4835-94A9-778EB9437980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关键数字附录：主要估计与置信区间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7CA372-86D5-4D6D-A47B-0E72791BC566}"/>
              </a:ext>
            </a:extLst>
          </p:cNvPr>
          <p:cNvSpPr>
            <a:spLocks noGrp="1"/>
          </p:cNvSpPr>
          <p:nvPr/>
        </p:nvSpPr>
        <p:spPr>
          <a:xfrm>
            <a:off x="11125200" y="4953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51BCB5A1-CF63-41C0-BB79-594D4B0B7E09}"/>
              </a:ext>
            </a:extLst>
          </p:cNvPr>
          <p:cNvSpPr>
            <a:spLocks noGrp="1"/>
          </p:cNvSpPr>
          <p:nvPr/>
        </p:nvSpPr>
        <p:spPr>
          <a:xfrm>
            <a:off x="647700" y="6276975"/>
            <a:ext cx="10896600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46C384-D2B8-4C58-AB8B-F11D4AC7485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来源：Hillstorm 邮件实验分析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7EAE65-E960-437C-892B-0C5C688B8DF2}"/>
              </a:ext>
            </a:extLst>
          </p:cNvPr>
          <p:cNvSpPr>
            <a:spLocks noGrp="1"/>
          </p:cNvSpPr>
          <p:nvPr/>
        </p:nvSpPr>
        <p:spPr>
          <a:xfrm>
            <a:off x="7886700" y="6381750"/>
            <a:ext cx="3657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B7B88"/>
                </a:solidFill>
                <a:latin typeface="微软雅黑"/>
                <a:ea typeface="微软雅黑"/>
                <a:cs typeface="微软雅黑"/>
              </a:rPr>
              <a:t>指标：每名随机客户的消费金额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E4157F-73CD-4B2E-BE16-456A3182B8F4}"/>
              </a:ext>
            </a:extLst>
          </p:cNvPr>
          <p:cNvSpPr>
            <a:spLocks noGrp="1"/>
          </p:cNvSpPr>
          <p:nvPr/>
        </p:nvSpPr>
        <p:spPr>
          <a:xfrm>
            <a:off x="666750" y="1438275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随机实验的消费金额对比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0F75E5-B456-4F03-8826-87741C7B9230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2381250" cy="3048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7620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700A88-475C-4254-A9D3-4647F89B2EDD}"/>
              </a:ext>
            </a:extLst>
          </p:cNvPr>
          <p:cNvSpPr>
            <a:spLocks noGrp="1"/>
          </p:cNvSpPr>
          <p:nvPr/>
        </p:nvSpPr>
        <p:spPr>
          <a:xfrm>
            <a:off x="3143250" y="1762125"/>
            <a:ext cx="1285875" cy="3048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7620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8CE44B-45AC-47C0-8B12-2BEC386C9FB7}"/>
              </a:ext>
            </a:extLst>
          </p:cNvPr>
          <p:cNvSpPr>
            <a:spLocks noGrp="1"/>
          </p:cNvSpPr>
          <p:nvPr/>
        </p:nvSpPr>
        <p:spPr>
          <a:xfrm>
            <a:off x="4524375" y="1762125"/>
            <a:ext cx="1952625" cy="3048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7620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韦尔奇 95%置信区间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E3D85F-B7F0-45D9-9D2C-2F9C0F14A216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1381125" cy="3048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7620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严格置换检验 p 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2B886E-2525-42C9-A89C-A8B18FB8F017}"/>
              </a:ext>
            </a:extLst>
          </p:cNvPr>
          <p:cNvSpPr>
            <a:spLocks noGrp="1"/>
          </p:cNvSpPr>
          <p:nvPr/>
        </p:nvSpPr>
        <p:spPr>
          <a:xfrm>
            <a:off x="742950" y="2105025"/>
            <a:ext cx="22669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男装邮件－不发邮件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4D78F1-5846-4DE2-A460-4C08622D1118}"/>
              </a:ext>
            </a:extLst>
          </p:cNvPr>
          <p:cNvSpPr>
            <a:spLocks noGrp="1"/>
          </p:cNvSpPr>
          <p:nvPr/>
        </p:nvSpPr>
        <p:spPr>
          <a:xfrm>
            <a:off x="3219450" y="2105025"/>
            <a:ext cx="11715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+0.769827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FE5194-D1D0-428D-B8AE-3368EAD9CEE9}"/>
              </a:ext>
            </a:extLst>
          </p:cNvPr>
          <p:cNvSpPr>
            <a:spLocks noGrp="1"/>
          </p:cNvSpPr>
          <p:nvPr/>
        </p:nvSpPr>
        <p:spPr>
          <a:xfrm>
            <a:off x="4600575" y="2105025"/>
            <a:ext cx="18383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[0.485140, 1.054515]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01C37F-7F78-4FB7-ABC0-92A4A101BDC7}"/>
              </a:ext>
            </a:extLst>
          </p:cNvPr>
          <p:cNvSpPr>
            <a:spLocks noGrp="1"/>
          </p:cNvSpPr>
          <p:nvPr/>
        </p:nvSpPr>
        <p:spPr>
          <a:xfrm>
            <a:off x="6648450" y="2105025"/>
            <a:ext cx="12668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&lt;0.001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DD1A0A23-0352-448E-846D-839C2E7BC89F}"/>
              </a:ext>
            </a:extLst>
          </p:cNvPr>
          <p:cNvSpPr>
            <a:spLocks noGrp="1"/>
          </p:cNvSpPr>
          <p:nvPr/>
        </p:nvSpPr>
        <p:spPr>
          <a:xfrm>
            <a:off x="666750" y="2581275"/>
            <a:ext cx="7286625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D3AFD0-8B32-4156-BD4D-69B97B63AAA5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22669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女装邮件－不发邮件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9219972-22C8-445A-B5D5-BD3DA56D0214}"/>
              </a:ext>
            </a:extLst>
          </p:cNvPr>
          <p:cNvSpPr>
            <a:spLocks noGrp="1"/>
          </p:cNvSpPr>
          <p:nvPr/>
        </p:nvSpPr>
        <p:spPr>
          <a:xfrm>
            <a:off x="3219450" y="2647950"/>
            <a:ext cx="11715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+0.424412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21C867-549B-47A8-8D8D-13599F17A0B3}"/>
              </a:ext>
            </a:extLst>
          </p:cNvPr>
          <p:cNvSpPr>
            <a:spLocks noGrp="1"/>
          </p:cNvSpPr>
          <p:nvPr/>
        </p:nvSpPr>
        <p:spPr>
          <a:xfrm>
            <a:off x="4600575" y="2647950"/>
            <a:ext cx="18383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[0.168957, 0.679868]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1DFD64-8649-4FB8-9157-0F2C707CBC85}"/>
              </a:ext>
            </a:extLst>
          </p:cNvPr>
          <p:cNvSpPr>
            <a:spLocks noGrp="1"/>
          </p:cNvSpPr>
          <p:nvPr/>
        </p:nvSpPr>
        <p:spPr>
          <a:xfrm>
            <a:off x="6648450" y="2647950"/>
            <a:ext cx="12668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0.0037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234FCF1C-9321-4789-A145-2E370FA425E6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7286625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EE1558-FD5F-4FF7-A73F-CACC9A66A6DF}"/>
              </a:ext>
            </a:extLst>
          </p:cNvPr>
          <p:cNvSpPr>
            <a:spLocks noGrp="1"/>
          </p:cNvSpPr>
          <p:nvPr/>
        </p:nvSpPr>
        <p:spPr>
          <a:xfrm>
            <a:off x="742950" y="3190875"/>
            <a:ext cx="22669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男装邮件－女装邮件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AA4E90-2111-46FC-B892-2A178A578AA1}"/>
              </a:ext>
            </a:extLst>
          </p:cNvPr>
          <p:cNvSpPr>
            <a:spLocks noGrp="1"/>
          </p:cNvSpPr>
          <p:nvPr/>
        </p:nvSpPr>
        <p:spPr>
          <a:xfrm>
            <a:off x="3219450" y="3190875"/>
            <a:ext cx="11715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+0.345415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2343951-6997-413E-AC3F-1D76B3181F3F}"/>
              </a:ext>
            </a:extLst>
          </p:cNvPr>
          <p:cNvSpPr>
            <a:spLocks noGrp="1"/>
          </p:cNvSpPr>
          <p:nvPr/>
        </p:nvSpPr>
        <p:spPr>
          <a:xfrm>
            <a:off x="4600575" y="3190875"/>
            <a:ext cx="18383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[0.032561, 0.658268]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FAE818-582D-47C0-AB21-62D762925FFA}"/>
              </a:ext>
            </a:extLst>
          </p:cNvPr>
          <p:cNvSpPr>
            <a:spLocks noGrp="1"/>
          </p:cNvSpPr>
          <p:nvPr/>
        </p:nvSpPr>
        <p:spPr>
          <a:xfrm>
            <a:off x="6648450" y="3190875"/>
            <a:ext cx="12668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0.0811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59C79B08-8DD7-41FC-8A95-8A369DFE61C1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7286625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2F37AF6-44F0-4137-BE69-708B738A3536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A6A6"/>
                </a:solidFill>
                <a:latin typeface="微软雅黑"/>
                <a:ea typeface="微软雅黑"/>
                <a:cs typeface="微软雅黑"/>
              </a:rPr>
              <a:t>策略价值与对比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DF97C8A-8F25-4605-80B1-440ED8334862}"/>
              </a:ext>
            </a:extLst>
          </p:cNvPr>
          <p:cNvSpPr>
            <a:spLocks noGrp="1"/>
          </p:cNvSpPr>
          <p:nvPr/>
        </p:nvSpPr>
        <p:spPr>
          <a:xfrm>
            <a:off x="666750" y="4419600"/>
            <a:ext cx="2190750" cy="3048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7620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3E375AC-64DB-4C3C-8622-4B1A5E506D1C}"/>
              </a:ext>
            </a:extLst>
          </p:cNvPr>
          <p:cNvSpPr>
            <a:spLocks noGrp="1"/>
          </p:cNvSpPr>
          <p:nvPr/>
        </p:nvSpPr>
        <p:spPr>
          <a:xfrm>
            <a:off x="2952750" y="4419600"/>
            <a:ext cx="1428750" cy="3048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7620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增广逆概率加权价值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B023295-A1D4-43D0-972B-819ED81A0131}"/>
              </a:ext>
            </a:extLst>
          </p:cNvPr>
          <p:cNvSpPr>
            <a:spLocks noGrp="1"/>
          </p:cNvSpPr>
          <p:nvPr/>
        </p:nvSpPr>
        <p:spPr>
          <a:xfrm>
            <a:off x="4476750" y="4419600"/>
            <a:ext cx="2000250" cy="3048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7620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自助法 95%置信区间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AEFA6DB-5A83-4C75-A3DA-BAA8FBDB3CAD}"/>
              </a:ext>
            </a:extLst>
          </p:cNvPr>
          <p:cNvSpPr>
            <a:spLocks noGrp="1"/>
          </p:cNvSpPr>
          <p:nvPr/>
        </p:nvSpPr>
        <p:spPr>
          <a:xfrm>
            <a:off x="6572250" y="4419600"/>
            <a:ext cx="1381125" cy="3048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 wrap="square" lIns="7620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相对最佳静态策略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7A7FB0B-DC60-48E4-A844-BBB7F8CE7401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2076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全量不发邮件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C9505FA-2303-4599-A256-B1C037CDA690}"/>
              </a:ext>
            </a:extLst>
          </p:cNvPr>
          <p:cNvSpPr>
            <a:spLocks noGrp="1"/>
          </p:cNvSpPr>
          <p:nvPr/>
        </p:nvSpPr>
        <p:spPr>
          <a:xfrm>
            <a:off x="3028950" y="4762500"/>
            <a:ext cx="1314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0.657062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C2AA7E-B5D6-46F4-A3C4-B6CC4550CB00}"/>
              </a:ext>
            </a:extLst>
          </p:cNvPr>
          <p:cNvSpPr>
            <a:spLocks noGrp="1"/>
          </p:cNvSpPr>
          <p:nvPr/>
        </p:nvSpPr>
        <p:spPr>
          <a:xfrm>
            <a:off x="4552950" y="4762500"/>
            <a:ext cx="1885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[0.509077, 0.814866]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152D611-622C-4352-B396-D3A6F60D4CB9}"/>
              </a:ext>
            </a:extLst>
          </p:cNvPr>
          <p:cNvSpPr>
            <a:spLocks noGrp="1"/>
          </p:cNvSpPr>
          <p:nvPr/>
        </p:nvSpPr>
        <p:spPr>
          <a:xfrm>
            <a:off x="6648450" y="4762500"/>
            <a:ext cx="12668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−0.767766</a:t>
            </a:r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587CA3CA-1184-49F3-BAA0-DB4037479C57}"/>
              </a:ext>
            </a:extLst>
          </p:cNvPr>
          <p:cNvSpPr>
            <a:spLocks noGrp="1"/>
          </p:cNvSpPr>
          <p:nvPr/>
        </p:nvSpPr>
        <p:spPr>
          <a:xfrm>
            <a:off x="666750" y="5067300"/>
            <a:ext cx="7286625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13863F7-6300-48AD-BDB0-9AF86A839C66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2076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全量男装邮件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4F0ECF-8636-4435-904C-306898E49255}"/>
              </a:ext>
            </a:extLst>
          </p:cNvPr>
          <p:cNvSpPr>
            <a:spLocks noGrp="1"/>
          </p:cNvSpPr>
          <p:nvPr/>
        </p:nvSpPr>
        <p:spPr>
          <a:xfrm>
            <a:off x="3028950" y="5105400"/>
            <a:ext cx="1314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1.424828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6267F02-266B-4F9A-979C-F71F0E326122}"/>
              </a:ext>
            </a:extLst>
          </p:cNvPr>
          <p:cNvSpPr>
            <a:spLocks noGrp="1"/>
          </p:cNvSpPr>
          <p:nvPr/>
        </p:nvSpPr>
        <p:spPr>
          <a:xfrm>
            <a:off x="4552950" y="5105400"/>
            <a:ext cx="1885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[1.209821, 1.667769]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480E737-4A50-4CD8-959E-1F6CE8786760}"/>
              </a:ext>
            </a:extLst>
          </p:cNvPr>
          <p:cNvSpPr>
            <a:spLocks noGrp="1"/>
          </p:cNvSpPr>
          <p:nvPr/>
        </p:nvSpPr>
        <p:spPr>
          <a:xfrm>
            <a:off x="6648450" y="5105400"/>
            <a:ext cx="12668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59368631-3DD2-4086-81F6-4D59F4EA7DB4}"/>
              </a:ext>
            </a:extLst>
          </p:cNvPr>
          <p:cNvSpPr>
            <a:spLocks noGrp="1"/>
          </p:cNvSpPr>
          <p:nvPr/>
        </p:nvSpPr>
        <p:spPr>
          <a:xfrm>
            <a:off x="666750" y="5410200"/>
            <a:ext cx="7286625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9623D0F-0049-465B-8EA3-F897017E6E18}"/>
              </a:ext>
            </a:extLst>
          </p:cNvPr>
          <p:cNvSpPr>
            <a:spLocks noGrp="1"/>
          </p:cNvSpPr>
          <p:nvPr/>
        </p:nvSpPr>
        <p:spPr>
          <a:xfrm>
            <a:off x="742950" y="5448300"/>
            <a:ext cx="2076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全量女装邮件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283765A-6D8D-47F8-9D9F-192BB8239EA3}"/>
              </a:ext>
            </a:extLst>
          </p:cNvPr>
          <p:cNvSpPr>
            <a:spLocks noGrp="1"/>
          </p:cNvSpPr>
          <p:nvPr/>
        </p:nvSpPr>
        <p:spPr>
          <a:xfrm>
            <a:off x="3028950" y="5448300"/>
            <a:ext cx="1314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1.075808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09C475D-EB9F-4491-B225-514387C06DF2}"/>
              </a:ext>
            </a:extLst>
          </p:cNvPr>
          <p:cNvSpPr>
            <a:spLocks noGrp="1"/>
          </p:cNvSpPr>
          <p:nvPr/>
        </p:nvSpPr>
        <p:spPr>
          <a:xfrm>
            <a:off x="4552950" y="5448300"/>
            <a:ext cx="1885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[0.881352, 1.284452]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5D3C136-EF40-49CE-84B3-A1B66A341663}"/>
              </a:ext>
            </a:extLst>
          </p:cNvPr>
          <p:cNvSpPr>
            <a:spLocks noGrp="1"/>
          </p:cNvSpPr>
          <p:nvPr/>
        </p:nvSpPr>
        <p:spPr>
          <a:xfrm>
            <a:off x="6648450" y="5448300"/>
            <a:ext cx="12668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−0.349020</a:t>
            </a:r>
          </a:p>
        </p:txBody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48D8DA5C-10EE-4983-A827-C3B8B58DF7E4}"/>
              </a:ext>
            </a:extLst>
          </p:cNvPr>
          <p:cNvSpPr>
            <a:spLocks noGrp="1"/>
          </p:cNvSpPr>
          <p:nvPr/>
        </p:nvSpPr>
        <p:spPr>
          <a:xfrm>
            <a:off x="666750" y="5753100"/>
            <a:ext cx="7286625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933AEC5-3707-4504-8872-0D2409C6E9AA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2076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个性化双重稳健策略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9D6AEE3-A01D-49A2-8DB3-059A5A572CCF}"/>
              </a:ext>
            </a:extLst>
          </p:cNvPr>
          <p:cNvSpPr>
            <a:spLocks noGrp="1"/>
          </p:cNvSpPr>
          <p:nvPr/>
        </p:nvSpPr>
        <p:spPr>
          <a:xfrm>
            <a:off x="3028950" y="5791200"/>
            <a:ext cx="1314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1.346358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741980A-35B8-486A-8FBE-DDE486F6C528}"/>
              </a:ext>
            </a:extLst>
          </p:cNvPr>
          <p:cNvSpPr>
            <a:spLocks noGrp="1"/>
          </p:cNvSpPr>
          <p:nvPr/>
        </p:nvSpPr>
        <p:spPr>
          <a:xfrm>
            <a:off x="4552950" y="5791200"/>
            <a:ext cx="1885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[1.124719, 1.585042]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63D6558-B31F-451D-9631-1FF0CE40EA58}"/>
              </a:ext>
            </a:extLst>
          </p:cNvPr>
          <p:cNvSpPr>
            <a:spLocks noGrp="1"/>
          </p:cNvSpPr>
          <p:nvPr/>
        </p:nvSpPr>
        <p:spPr>
          <a:xfrm>
            <a:off x="6648450" y="5791200"/>
            <a:ext cx="12668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−0.078470</a:t>
            </a:r>
          </a:p>
        </p:txBody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26D15C72-1CED-49A7-8F06-A8626A277D4D}"/>
              </a:ext>
            </a:extLst>
          </p:cNvPr>
          <p:cNvSpPr>
            <a:spLocks noGrp="1"/>
          </p:cNvSpPr>
          <p:nvPr/>
        </p:nvSpPr>
        <p:spPr>
          <a:xfrm>
            <a:off x="666750" y="6096000"/>
            <a:ext cx="7286625" cy="953"/>
          </a:xfrm>
          <a:prstGeom prst="line">
            <a:avLst/>
          </a:prstGeom>
          <a:noFill/>
          <a:ln w="9525">
            <a:solidFill>
              <a:srgbClr val="E6ECEF"/>
            </a:solidFill>
            <a:prstDash val="solid"/>
          </a:ln>
        </p:spPr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6AA312AE-5928-4919-9253-BA237B43D7B4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3067050" cy="4238625"/>
          </a:xfrm>
          <a:prstGeom prst="roundRect">
            <a:avLst>
              <a:gd name="adj" fmla="val 3727"/>
            </a:avLst>
          </a:prstGeom>
          <a:solidFill>
            <a:srgbClr val="F4F7F8"/>
          </a:solidFill>
          <a:ln w="0"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2717373-4110-4D8B-8657-01CE3FCDA64A}"/>
              </a:ext>
            </a:extLst>
          </p:cNvPr>
          <p:cNvSpPr>
            <a:spLocks noGrp="1"/>
          </p:cNvSpPr>
          <p:nvPr/>
        </p:nvSpPr>
        <p:spPr>
          <a:xfrm>
            <a:off x="8667750" y="18478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结论口径</a:t>
            </a: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F44D0CD2-DB84-4979-A5FD-76C7A260E2A0}"/>
              </a:ext>
            </a:extLst>
          </p:cNvPr>
          <p:cNvSpPr>
            <a:spLocks noGrp="1"/>
          </p:cNvSpPr>
          <p:nvPr/>
        </p:nvSpPr>
        <p:spPr>
          <a:xfrm>
            <a:off x="8696325" y="2457450"/>
            <a:ext cx="76200" cy="7620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4E79452-ED2D-4F98-8576-BF254E890BC2}"/>
              </a:ext>
            </a:extLst>
          </p:cNvPr>
          <p:cNvSpPr>
            <a:spLocks noGrp="1"/>
          </p:cNvSpPr>
          <p:nvPr/>
        </p:nvSpPr>
        <p:spPr>
          <a:xfrm>
            <a:off x="8896350" y="238125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消费金额是主要指标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9D5C7CB-5542-4BD1-8DF4-795E79FCCA9F}"/>
              </a:ext>
            </a:extLst>
          </p:cNvPr>
          <p:cNvSpPr>
            <a:spLocks noGrp="1"/>
          </p:cNvSpPr>
          <p:nvPr/>
        </p:nvSpPr>
        <p:spPr>
          <a:xfrm>
            <a:off x="8896350" y="2638425"/>
            <a:ext cx="2343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所有数值均为意向处理口径下的每名随机客户结果。</a:t>
            </a: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AEEFCCFE-6902-4B24-8720-673A660C0D1D}"/>
              </a:ext>
            </a:extLst>
          </p:cNvPr>
          <p:cNvSpPr>
            <a:spLocks noGrp="1"/>
          </p:cNvSpPr>
          <p:nvPr/>
        </p:nvSpPr>
        <p:spPr>
          <a:xfrm>
            <a:off x="8696325" y="3352800"/>
            <a:ext cx="76200" cy="76200"/>
          </a:xfrm>
          <a:prstGeom prst="ellipse">
            <a:avLst/>
          </a:prstGeom>
          <a:solidFill>
            <a:srgbClr val="EF6A5B"/>
          </a:solidFill>
          <a:ln w="0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4574236-B641-4832-8E1E-466558C64C3D}"/>
              </a:ext>
            </a:extLst>
          </p:cNvPr>
          <p:cNvSpPr>
            <a:spLocks noGrp="1"/>
          </p:cNvSpPr>
          <p:nvPr/>
        </p:nvSpPr>
        <p:spPr>
          <a:xfrm>
            <a:off x="8896350" y="327660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严格稳健性检验不可忽略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7AF39D8-FAC1-4428-9C6C-8EC12FDD9138}"/>
              </a:ext>
            </a:extLst>
          </p:cNvPr>
          <p:cNvSpPr>
            <a:spLocks noGrp="1"/>
          </p:cNvSpPr>
          <p:nvPr/>
        </p:nvSpPr>
        <p:spPr>
          <a:xfrm>
            <a:off x="8896350" y="3533775"/>
            <a:ext cx="23431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男装邮件与女装邮件的差异未通过严格置换检验（p = 0.0811）。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5C5DCD71-BE5C-4B77-9CA9-63112365DA02}"/>
              </a:ext>
            </a:extLst>
          </p:cNvPr>
          <p:cNvSpPr>
            <a:spLocks noGrp="1"/>
          </p:cNvSpPr>
          <p:nvPr/>
        </p:nvSpPr>
        <p:spPr>
          <a:xfrm>
            <a:off x="8696325" y="4371975"/>
            <a:ext cx="76200" cy="76200"/>
          </a:xfrm>
          <a:prstGeom prst="ellipse">
            <a:avLst/>
          </a:prstGeom>
          <a:solidFill>
            <a:srgbClr val="173A5E"/>
          </a:solidFill>
          <a:ln w="0"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745A6F1-5B95-41A0-94CF-332721732616}"/>
              </a:ext>
            </a:extLst>
          </p:cNvPr>
          <p:cNvSpPr>
            <a:spLocks noGrp="1"/>
          </p:cNvSpPr>
          <p:nvPr/>
        </p:nvSpPr>
        <p:spPr>
          <a:xfrm>
            <a:off x="8896350" y="429577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22E"/>
                </a:solidFill>
                <a:latin typeface="微软雅黑"/>
                <a:ea typeface="微软雅黑"/>
                <a:cs typeface="微软雅黑"/>
              </a:rPr>
              <a:t>策略价值口径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1A8920B-1678-4149-8E43-10B9D0B9B366}"/>
              </a:ext>
            </a:extLst>
          </p:cNvPr>
          <p:cNvSpPr>
            <a:spLocks noGrp="1"/>
          </p:cNvSpPr>
          <p:nvPr/>
        </p:nvSpPr>
        <p:spPr>
          <a:xfrm>
            <a:off x="8896350" y="4552950"/>
            <a:ext cx="2343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9"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314252"/>
                </a:solidFill>
                <a:latin typeface="微软雅黑"/>
                <a:ea typeface="微软雅黑"/>
                <a:cs typeface="微软雅黑"/>
              </a:rPr>
              <a:t>AIPW 估计每名随机客户的预期消费金额；成本参数为假设值，不代表利润。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D0ADB3D-563E-4AEA-A3AB-95266AD57E21}"/>
              </a:ext>
            </a:extLst>
          </p:cNvPr>
          <p:cNvSpPr>
            <a:spLocks noGrp="1"/>
          </p:cNvSpPr>
          <p:nvPr/>
        </p:nvSpPr>
        <p:spPr>
          <a:xfrm>
            <a:off x="8667750" y="53149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个性化策略相对全量男装邮件：</a:t>
            </a:r>
          </a:p>
          <a:p>
            <a:pPr algn="l">
              <a:lnSpc>
                <a:spcPct val="105000"/>
              </a:lnSpc>
              <a:buNone/>
              <a:def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F6A5B"/>
                </a:solidFill>
                <a:latin typeface="微软雅黑"/>
                <a:ea typeface="微软雅黑"/>
                <a:cs typeface="微软雅黑"/>
              </a:rPr>
              <a:t>AIPW 差异 −0.078470，95% CI [−0.204182, 0.047177]，p = 0.2239</a:t>
            </a:r>
          </a:p>
        </p:txBody>
      </p:sp>
    </p:spTree>
    <p:extLst>
      <p:ext uri="{BB962C8B-B14F-4D97-AF65-F5344CB8AC3E}">
        <p14:creationId xmlns:p14="http://schemas.microsoft.com/office/powerpoint/2010/main" val="360909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1806</Words>
  <Application>Microsoft Office PowerPoint</Application>
  <PresentationFormat>自定义</PresentationFormat>
  <Paragraphs>380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Keqing Hu</dc:creator>
  <cp:lastModifiedBy>Keqing Hu</cp:lastModifiedBy>
  <cp:revision>1</cp:revision>
  <dcterms:created xsi:type="dcterms:W3CDTF">2026-09-02T13:46:13Z</dcterms:created>
  <dcterms:modified xsi:type="dcterms:W3CDTF">2026-09-02T13:46:13Z</dcterms:modified>
</cp:coreProperties>
</file>